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4"/>
  </p:sldMasterIdLst>
  <p:notesMasterIdLst>
    <p:notesMasterId r:id="rId31"/>
  </p:notesMasterIdLst>
  <p:sldIdLst>
    <p:sldId id="256" r:id="rId5"/>
    <p:sldId id="270" r:id="rId6"/>
    <p:sldId id="258" r:id="rId7"/>
    <p:sldId id="260" r:id="rId8"/>
    <p:sldId id="262" r:id="rId9"/>
    <p:sldId id="288" r:id="rId10"/>
    <p:sldId id="286" r:id="rId11"/>
    <p:sldId id="261" r:id="rId12"/>
    <p:sldId id="272" r:id="rId13"/>
    <p:sldId id="271" r:id="rId14"/>
    <p:sldId id="274" r:id="rId15"/>
    <p:sldId id="275" r:id="rId16"/>
    <p:sldId id="277" r:id="rId17"/>
    <p:sldId id="276" r:id="rId18"/>
    <p:sldId id="278" r:id="rId19"/>
    <p:sldId id="279" r:id="rId20"/>
    <p:sldId id="264" r:id="rId21"/>
    <p:sldId id="280" r:id="rId22"/>
    <p:sldId id="283" r:id="rId23"/>
    <p:sldId id="284" r:id="rId24"/>
    <p:sldId id="285" r:id="rId25"/>
    <p:sldId id="281" r:id="rId26"/>
    <p:sldId id="282" r:id="rId27"/>
    <p:sldId id="287" r:id="rId28"/>
    <p:sldId id="273" r:id="rId29"/>
    <p:sldId id="26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BFED6D-A3E2-45D0-863D-A3DEA35011D6}" v="70" dt="2021-07-01T19:20:54.8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0" d="100"/>
          <a:sy n="110" d="100"/>
        </p:scale>
        <p:origin x="55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hylynn Barranco" userId="d9a8f0f9-e492-4ec3-ac92-a8c599b82282" providerId="ADAL" clId="{B4BFED6D-A3E2-45D0-863D-A3DEA35011D6}"/>
    <pc:docChg chg="undo custSel addSld delSld modSld sldOrd modMainMaster">
      <pc:chgData name="Kathylynn Barranco" userId="d9a8f0f9-e492-4ec3-ac92-a8c599b82282" providerId="ADAL" clId="{B4BFED6D-A3E2-45D0-863D-A3DEA35011D6}" dt="2021-07-01T19:21:42.921" v="2771" actId="20577"/>
      <pc:docMkLst>
        <pc:docMk/>
      </pc:docMkLst>
      <pc:sldChg chg="addSp modSp mod">
        <pc:chgData name="Kathylynn Barranco" userId="d9a8f0f9-e492-4ec3-ac92-a8c599b82282" providerId="ADAL" clId="{B4BFED6D-A3E2-45D0-863D-A3DEA35011D6}" dt="2021-07-01T19:21:27.488" v="2765" actId="20577"/>
        <pc:sldMkLst>
          <pc:docMk/>
          <pc:sldMk cId="3611797034" sldId="258"/>
        </pc:sldMkLst>
        <pc:spChg chg="add mod">
          <ac:chgData name="Kathylynn Barranco" userId="d9a8f0f9-e492-4ec3-ac92-a8c599b82282" providerId="ADAL" clId="{B4BFED6D-A3E2-45D0-863D-A3DEA35011D6}" dt="2021-07-01T19:21:27.488" v="2765" actId="20577"/>
          <ac:spMkLst>
            <pc:docMk/>
            <pc:sldMk cId="3611797034" sldId="258"/>
            <ac:spMk id="6" creationId="{3133B618-71D8-4547-9D96-8708362BA7CD}"/>
          </ac:spMkLst>
        </pc:spChg>
      </pc:sldChg>
      <pc:sldChg chg="addSp delSp modSp mod">
        <pc:chgData name="Kathylynn Barranco" userId="d9a8f0f9-e492-4ec3-ac92-a8c599b82282" providerId="ADAL" clId="{B4BFED6D-A3E2-45D0-863D-A3DEA35011D6}" dt="2021-07-01T19:21:21.805" v="2764" actId="20577"/>
        <pc:sldMkLst>
          <pc:docMk/>
          <pc:sldMk cId="1731396962" sldId="260"/>
        </pc:sldMkLst>
        <pc:spChg chg="mod">
          <ac:chgData name="Kathylynn Barranco" userId="d9a8f0f9-e492-4ec3-ac92-a8c599b82282" providerId="ADAL" clId="{B4BFED6D-A3E2-45D0-863D-A3DEA35011D6}" dt="2021-07-01T16:12:44.892" v="545" actId="20577"/>
          <ac:spMkLst>
            <pc:docMk/>
            <pc:sldMk cId="1731396962" sldId="260"/>
            <ac:spMk id="3" creationId="{19C4E844-DD81-4C4F-B6FC-4B718D39BA84}"/>
          </ac:spMkLst>
        </pc:spChg>
        <pc:spChg chg="del">
          <ac:chgData name="Kathylynn Barranco" userId="d9a8f0f9-e492-4ec3-ac92-a8c599b82282" providerId="ADAL" clId="{B4BFED6D-A3E2-45D0-863D-A3DEA35011D6}" dt="2021-07-01T16:10:38.378" v="494" actId="478"/>
          <ac:spMkLst>
            <pc:docMk/>
            <pc:sldMk cId="1731396962" sldId="260"/>
            <ac:spMk id="4" creationId="{239565BC-B1B0-4D75-8918-1CE52071A3B5}"/>
          </ac:spMkLst>
        </pc:spChg>
        <pc:spChg chg="add mod">
          <ac:chgData name="Kathylynn Barranco" userId="d9a8f0f9-e492-4ec3-ac92-a8c599b82282" providerId="ADAL" clId="{B4BFED6D-A3E2-45D0-863D-A3DEA35011D6}" dt="2021-07-01T19:21:21.805" v="2764" actId="20577"/>
          <ac:spMkLst>
            <pc:docMk/>
            <pc:sldMk cId="1731396962" sldId="260"/>
            <ac:spMk id="5" creationId="{A67097CC-B4F9-44C8-BA19-107895F83A25}"/>
          </ac:spMkLst>
        </pc:spChg>
      </pc:sldChg>
      <pc:sldChg chg="addSp modSp mod">
        <pc:chgData name="Kathylynn Barranco" userId="d9a8f0f9-e492-4ec3-ac92-a8c599b82282" providerId="ADAL" clId="{B4BFED6D-A3E2-45D0-863D-A3DEA35011D6}" dt="2021-07-01T19:20:57.711" v="2762" actId="20577"/>
        <pc:sldMkLst>
          <pc:docMk/>
          <pc:sldMk cId="1208950594" sldId="261"/>
        </pc:sldMkLst>
        <pc:spChg chg="mod">
          <ac:chgData name="Kathylynn Barranco" userId="d9a8f0f9-e492-4ec3-ac92-a8c599b82282" providerId="ADAL" clId="{B4BFED6D-A3E2-45D0-863D-A3DEA35011D6}" dt="2021-07-01T16:52:25.733" v="740" actId="1076"/>
          <ac:spMkLst>
            <pc:docMk/>
            <pc:sldMk cId="1208950594" sldId="261"/>
            <ac:spMk id="2" creationId="{3B3AF8E4-BA43-4AE8-B839-61DB4EFB230C}"/>
          </ac:spMkLst>
        </pc:spChg>
        <pc:spChg chg="mod">
          <ac:chgData name="Kathylynn Barranco" userId="d9a8f0f9-e492-4ec3-ac92-a8c599b82282" providerId="ADAL" clId="{B4BFED6D-A3E2-45D0-863D-A3DEA35011D6}" dt="2021-07-01T15:55:32.740" v="71" actId="20577"/>
          <ac:spMkLst>
            <pc:docMk/>
            <pc:sldMk cId="1208950594" sldId="261"/>
            <ac:spMk id="3" creationId="{6B1AC144-FC50-4378-AD5D-3713110D3A11}"/>
          </ac:spMkLst>
        </pc:spChg>
        <pc:spChg chg="add mod">
          <ac:chgData name="Kathylynn Barranco" userId="d9a8f0f9-e492-4ec3-ac92-a8c599b82282" providerId="ADAL" clId="{B4BFED6D-A3E2-45D0-863D-A3DEA35011D6}" dt="2021-07-01T19:20:57.711" v="2762" actId="20577"/>
          <ac:spMkLst>
            <pc:docMk/>
            <pc:sldMk cId="1208950594" sldId="261"/>
            <ac:spMk id="33" creationId="{1E60DA30-06F4-4171-9AF6-B8767459D8B6}"/>
          </ac:spMkLst>
        </pc:spChg>
      </pc:sldChg>
      <pc:sldChg chg="addSp delSp modSp mod ord">
        <pc:chgData name="Kathylynn Barranco" userId="d9a8f0f9-e492-4ec3-ac92-a8c599b82282" providerId="ADAL" clId="{B4BFED6D-A3E2-45D0-863D-A3DEA35011D6}" dt="2021-07-01T19:21:08.967" v="2763" actId="20577"/>
        <pc:sldMkLst>
          <pc:docMk/>
          <pc:sldMk cId="3286979708" sldId="262"/>
        </pc:sldMkLst>
        <pc:spChg chg="del">
          <ac:chgData name="Kathylynn Barranco" userId="d9a8f0f9-e492-4ec3-ac92-a8c599b82282" providerId="ADAL" clId="{B4BFED6D-A3E2-45D0-863D-A3DEA35011D6}" dt="2021-07-01T18:55:50.816" v="2323" actId="478"/>
          <ac:spMkLst>
            <pc:docMk/>
            <pc:sldMk cId="3286979708" sldId="262"/>
            <ac:spMk id="2" creationId="{B19F84AE-BA39-428F-8A3A-0ABAF8A58DB3}"/>
          </ac:spMkLst>
        </pc:spChg>
        <pc:spChg chg="del mod">
          <ac:chgData name="Kathylynn Barranco" userId="d9a8f0f9-e492-4ec3-ac92-a8c599b82282" providerId="ADAL" clId="{B4BFED6D-A3E2-45D0-863D-A3DEA35011D6}" dt="2021-07-01T19:15:42.737" v="2716" actId="478"/>
          <ac:spMkLst>
            <pc:docMk/>
            <pc:sldMk cId="3286979708" sldId="262"/>
            <ac:spMk id="4" creationId="{0F1296F2-C4CA-49D1-A8E2-225C1E20C38B}"/>
          </ac:spMkLst>
        </pc:spChg>
        <pc:spChg chg="add del mod">
          <ac:chgData name="Kathylynn Barranco" userId="d9a8f0f9-e492-4ec3-ac92-a8c599b82282" providerId="ADAL" clId="{B4BFED6D-A3E2-45D0-863D-A3DEA35011D6}" dt="2021-07-01T18:55:53.080" v="2324" actId="478"/>
          <ac:spMkLst>
            <pc:docMk/>
            <pc:sldMk cId="3286979708" sldId="262"/>
            <ac:spMk id="6" creationId="{FD8A1A27-A52E-46F1-A6DF-F42CF96BC28F}"/>
          </ac:spMkLst>
        </pc:spChg>
        <pc:spChg chg="add mod">
          <ac:chgData name="Kathylynn Barranco" userId="d9a8f0f9-e492-4ec3-ac92-a8c599b82282" providerId="ADAL" clId="{B4BFED6D-A3E2-45D0-863D-A3DEA35011D6}" dt="2021-07-01T19:14:48.969" v="2709" actId="1076"/>
          <ac:spMkLst>
            <pc:docMk/>
            <pc:sldMk cId="3286979708" sldId="262"/>
            <ac:spMk id="7" creationId="{55833392-E4D0-4076-A7A3-009FB3E48D2D}"/>
          </ac:spMkLst>
        </pc:spChg>
        <pc:spChg chg="add mod">
          <ac:chgData name="Kathylynn Barranco" userId="d9a8f0f9-e492-4ec3-ac92-a8c599b82282" providerId="ADAL" clId="{B4BFED6D-A3E2-45D0-863D-A3DEA35011D6}" dt="2021-07-01T19:21:08.967" v="2763" actId="20577"/>
          <ac:spMkLst>
            <pc:docMk/>
            <pc:sldMk cId="3286979708" sldId="262"/>
            <ac:spMk id="8" creationId="{395C9422-4709-4C0D-BEFB-DED8496FB16D}"/>
          </ac:spMkLst>
        </pc:spChg>
      </pc:sldChg>
      <pc:sldChg chg="del">
        <pc:chgData name="Kathylynn Barranco" userId="d9a8f0f9-e492-4ec3-ac92-a8c599b82282" providerId="ADAL" clId="{B4BFED6D-A3E2-45D0-863D-A3DEA35011D6}" dt="2021-07-01T16:52:50.674" v="741" actId="2696"/>
        <pc:sldMkLst>
          <pc:docMk/>
          <pc:sldMk cId="1573256869" sldId="263"/>
        </pc:sldMkLst>
      </pc:sldChg>
      <pc:sldChg chg="addSp delSp modSp mod">
        <pc:chgData name="Kathylynn Barranco" userId="d9a8f0f9-e492-4ec3-ac92-a8c599b82282" providerId="ADAL" clId="{B4BFED6D-A3E2-45D0-863D-A3DEA35011D6}" dt="2021-07-01T19:12:52.575" v="2676" actId="478"/>
        <pc:sldMkLst>
          <pc:docMk/>
          <pc:sldMk cId="3131578924" sldId="264"/>
        </pc:sldMkLst>
        <pc:spChg chg="del">
          <ac:chgData name="Kathylynn Barranco" userId="d9a8f0f9-e492-4ec3-ac92-a8c599b82282" providerId="ADAL" clId="{B4BFED6D-A3E2-45D0-863D-A3DEA35011D6}" dt="2021-07-01T17:50:26.525" v="1436" actId="478"/>
          <ac:spMkLst>
            <pc:docMk/>
            <pc:sldMk cId="3131578924" sldId="264"/>
            <ac:spMk id="2" creationId="{D13C930A-43F6-4C86-BD9A-9744C7B22242}"/>
          </ac:spMkLst>
        </pc:spChg>
        <pc:spChg chg="mod">
          <ac:chgData name="Kathylynn Barranco" userId="d9a8f0f9-e492-4ec3-ac92-a8c599b82282" providerId="ADAL" clId="{B4BFED6D-A3E2-45D0-863D-A3DEA35011D6}" dt="2021-07-01T19:10:37.101" v="2654" actId="1076"/>
          <ac:spMkLst>
            <pc:docMk/>
            <pc:sldMk cId="3131578924" sldId="264"/>
            <ac:spMk id="3" creationId="{D0EBD097-8973-4E21-82BE-BD8C0CC05899}"/>
          </ac:spMkLst>
        </pc:spChg>
        <pc:spChg chg="del mod">
          <ac:chgData name="Kathylynn Barranco" userId="d9a8f0f9-e492-4ec3-ac92-a8c599b82282" providerId="ADAL" clId="{B4BFED6D-A3E2-45D0-863D-A3DEA35011D6}" dt="2021-07-01T19:12:52.575" v="2676" actId="478"/>
          <ac:spMkLst>
            <pc:docMk/>
            <pc:sldMk cId="3131578924" sldId="264"/>
            <ac:spMk id="4" creationId="{B8273652-CE5C-433E-BBAC-9DA1B9A6030B}"/>
          </ac:spMkLst>
        </pc:spChg>
        <pc:spChg chg="add del mod">
          <ac:chgData name="Kathylynn Barranco" userId="d9a8f0f9-e492-4ec3-ac92-a8c599b82282" providerId="ADAL" clId="{B4BFED6D-A3E2-45D0-863D-A3DEA35011D6}" dt="2021-07-01T17:50:28.390" v="1437" actId="478"/>
          <ac:spMkLst>
            <pc:docMk/>
            <pc:sldMk cId="3131578924" sldId="264"/>
            <ac:spMk id="6" creationId="{638EFF41-5619-4C98-8FC6-5403D911C3D2}"/>
          </ac:spMkLst>
        </pc:spChg>
        <pc:spChg chg="add mod">
          <ac:chgData name="Kathylynn Barranco" userId="d9a8f0f9-e492-4ec3-ac92-a8c599b82282" providerId="ADAL" clId="{B4BFED6D-A3E2-45D0-863D-A3DEA35011D6}" dt="2021-07-01T19:10:36.480" v="2653" actId="1076"/>
          <ac:spMkLst>
            <pc:docMk/>
            <pc:sldMk cId="3131578924" sldId="264"/>
            <ac:spMk id="7" creationId="{BDCA5C0E-B50F-4400-9A95-04D8A8ADCF0A}"/>
          </ac:spMkLst>
        </pc:spChg>
      </pc:sldChg>
      <pc:sldChg chg="del">
        <pc:chgData name="Kathylynn Barranco" userId="d9a8f0f9-e492-4ec3-ac92-a8c599b82282" providerId="ADAL" clId="{B4BFED6D-A3E2-45D0-863D-A3DEA35011D6}" dt="2021-07-01T17:01:02.826" v="860" actId="2696"/>
        <pc:sldMkLst>
          <pc:docMk/>
          <pc:sldMk cId="299229884" sldId="265"/>
        </pc:sldMkLst>
      </pc:sldChg>
      <pc:sldChg chg="del">
        <pc:chgData name="Kathylynn Barranco" userId="d9a8f0f9-e492-4ec3-ac92-a8c599b82282" providerId="ADAL" clId="{B4BFED6D-A3E2-45D0-863D-A3DEA35011D6}" dt="2021-07-01T18:55:02.109" v="2314" actId="2696"/>
        <pc:sldMkLst>
          <pc:docMk/>
          <pc:sldMk cId="3013111862" sldId="266"/>
        </pc:sldMkLst>
      </pc:sldChg>
      <pc:sldChg chg="addSp delSp modSp del mod">
        <pc:chgData name="Kathylynn Barranco" userId="d9a8f0f9-e492-4ec3-ac92-a8c599b82282" providerId="ADAL" clId="{B4BFED6D-A3E2-45D0-863D-A3DEA35011D6}" dt="2021-07-01T18:52:47.518" v="2202" actId="47"/>
        <pc:sldMkLst>
          <pc:docMk/>
          <pc:sldMk cId="2824495958" sldId="267"/>
        </pc:sldMkLst>
        <pc:spChg chg="del">
          <ac:chgData name="Kathylynn Barranco" userId="d9a8f0f9-e492-4ec3-ac92-a8c599b82282" providerId="ADAL" clId="{B4BFED6D-A3E2-45D0-863D-A3DEA35011D6}" dt="2021-07-01T18:51:55.559" v="2194" actId="478"/>
          <ac:spMkLst>
            <pc:docMk/>
            <pc:sldMk cId="2824495958" sldId="267"/>
            <ac:spMk id="2" creationId="{7A9F9C22-0749-417A-8EAA-7B924C644980}"/>
          </ac:spMkLst>
        </pc:spChg>
        <pc:spChg chg="add del mod">
          <ac:chgData name="Kathylynn Barranco" userId="d9a8f0f9-e492-4ec3-ac92-a8c599b82282" providerId="ADAL" clId="{B4BFED6D-A3E2-45D0-863D-A3DEA35011D6}" dt="2021-07-01T18:51:58.229" v="2195" actId="478"/>
          <ac:spMkLst>
            <pc:docMk/>
            <pc:sldMk cId="2824495958" sldId="267"/>
            <ac:spMk id="6" creationId="{0180414F-7C1B-4AA2-82FB-CC87D8600820}"/>
          </ac:spMkLst>
        </pc:spChg>
      </pc:sldChg>
      <pc:sldChg chg="addSp delSp modSp del mod ord">
        <pc:chgData name="Kathylynn Barranco" userId="d9a8f0f9-e492-4ec3-ac92-a8c599b82282" providerId="ADAL" clId="{B4BFED6D-A3E2-45D0-863D-A3DEA35011D6}" dt="2021-07-01T19:15:21.232" v="2712" actId="2696"/>
        <pc:sldMkLst>
          <pc:docMk/>
          <pc:sldMk cId="2606151770" sldId="268"/>
        </pc:sldMkLst>
        <pc:spChg chg="del">
          <ac:chgData name="Kathylynn Barranco" userId="d9a8f0f9-e492-4ec3-ac92-a8c599b82282" providerId="ADAL" clId="{B4BFED6D-A3E2-45D0-863D-A3DEA35011D6}" dt="2021-07-01T18:52:11.700" v="2197" actId="478"/>
          <ac:spMkLst>
            <pc:docMk/>
            <pc:sldMk cId="2606151770" sldId="268"/>
            <ac:spMk id="2" creationId="{CC844343-C2B1-4AEB-B48D-6DC5610BC902}"/>
          </ac:spMkLst>
        </pc:spChg>
        <pc:spChg chg="mod">
          <ac:chgData name="Kathylynn Barranco" userId="d9a8f0f9-e492-4ec3-ac92-a8c599b82282" providerId="ADAL" clId="{B4BFED6D-A3E2-45D0-863D-A3DEA35011D6}" dt="2021-07-01T18:54:08.089" v="2281" actId="20577"/>
          <ac:spMkLst>
            <pc:docMk/>
            <pc:sldMk cId="2606151770" sldId="268"/>
            <ac:spMk id="3" creationId="{B10A050C-C10F-4EF8-94BA-CD0ACC58E4A9}"/>
          </ac:spMkLst>
        </pc:spChg>
        <pc:spChg chg="del">
          <ac:chgData name="Kathylynn Barranco" userId="d9a8f0f9-e492-4ec3-ac92-a8c599b82282" providerId="ADAL" clId="{B4BFED6D-A3E2-45D0-863D-A3DEA35011D6}" dt="2021-07-01T18:52:39.898" v="2201" actId="478"/>
          <ac:spMkLst>
            <pc:docMk/>
            <pc:sldMk cId="2606151770" sldId="268"/>
            <ac:spMk id="4" creationId="{38A023D6-F5F3-40ED-9EA8-64568675F046}"/>
          </ac:spMkLst>
        </pc:spChg>
        <pc:spChg chg="add del mod">
          <ac:chgData name="Kathylynn Barranco" userId="d9a8f0f9-e492-4ec3-ac92-a8c599b82282" providerId="ADAL" clId="{B4BFED6D-A3E2-45D0-863D-A3DEA35011D6}" dt="2021-07-01T18:52:13.672" v="2198" actId="478"/>
          <ac:spMkLst>
            <pc:docMk/>
            <pc:sldMk cId="2606151770" sldId="268"/>
            <ac:spMk id="7" creationId="{C573C14A-24B2-40EB-88A6-D862F60908FC}"/>
          </ac:spMkLst>
        </pc:spChg>
        <pc:spChg chg="add mod">
          <ac:chgData name="Kathylynn Barranco" userId="d9a8f0f9-e492-4ec3-ac92-a8c599b82282" providerId="ADAL" clId="{B4BFED6D-A3E2-45D0-863D-A3DEA35011D6}" dt="2021-07-01T19:14:38.888" v="2706" actId="1076"/>
          <ac:spMkLst>
            <pc:docMk/>
            <pc:sldMk cId="2606151770" sldId="268"/>
            <ac:spMk id="8" creationId="{CE563904-4E96-4D35-8FFC-27D5B6EC879D}"/>
          </ac:spMkLst>
        </pc:spChg>
        <pc:picChg chg="add del mod">
          <ac:chgData name="Kathylynn Barranco" userId="d9a8f0f9-e492-4ec3-ac92-a8c599b82282" providerId="ADAL" clId="{B4BFED6D-A3E2-45D0-863D-A3DEA35011D6}" dt="2021-07-01T18:54:14.792" v="2282" actId="478"/>
          <ac:picMkLst>
            <pc:docMk/>
            <pc:sldMk cId="2606151770" sldId="268"/>
            <ac:picMk id="5" creationId="{CADD3FB0-9CDB-4A97-A577-2634A9CB0E6F}"/>
          </ac:picMkLst>
        </pc:picChg>
      </pc:sldChg>
      <pc:sldChg chg="modSp mod">
        <pc:chgData name="Kathylynn Barranco" userId="d9a8f0f9-e492-4ec3-ac92-a8c599b82282" providerId="ADAL" clId="{B4BFED6D-A3E2-45D0-863D-A3DEA35011D6}" dt="2021-07-01T19:12:15.895" v="2672" actId="207"/>
        <pc:sldMkLst>
          <pc:docMk/>
          <pc:sldMk cId="3789470023" sldId="269"/>
        </pc:sldMkLst>
        <pc:picChg chg="mod">
          <ac:chgData name="Kathylynn Barranco" userId="d9a8f0f9-e492-4ec3-ac92-a8c599b82282" providerId="ADAL" clId="{B4BFED6D-A3E2-45D0-863D-A3DEA35011D6}" dt="2021-07-01T19:12:15.895" v="2672" actId="207"/>
          <ac:picMkLst>
            <pc:docMk/>
            <pc:sldMk cId="3789470023" sldId="269"/>
            <ac:picMk id="8" creationId="{5421D405-E025-4C8B-8785-79FC15D26C23}"/>
          </ac:picMkLst>
        </pc:picChg>
      </pc:sldChg>
      <pc:sldChg chg="addSp delSp modSp mod">
        <pc:chgData name="Kathylynn Barranco" userId="d9a8f0f9-e492-4ec3-ac92-a8c599b82282" providerId="ADAL" clId="{B4BFED6D-A3E2-45D0-863D-A3DEA35011D6}" dt="2021-07-01T19:21:42.921" v="2771" actId="20577"/>
        <pc:sldMkLst>
          <pc:docMk/>
          <pc:sldMk cId="941511306" sldId="270"/>
        </pc:sldMkLst>
        <pc:spChg chg="mod">
          <ac:chgData name="Kathylynn Barranco" userId="d9a8f0f9-e492-4ec3-ac92-a8c599b82282" providerId="ADAL" clId="{B4BFED6D-A3E2-45D0-863D-A3DEA35011D6}" dt="2021-07-01T19:13:45.474" v="2682" actId="1076"/>
          <ac:spMkLst>
            <pc:docMk/>
            <pc:sldMk cId="941511306" sldId="270"/>
            <ac:spMk id="2" creationId="{E677C2BE-8E53-4096-87BF-E52D2658EA38}"/>
          </ac:spMkLst>
        </pc:spChg>
        <pc:spChg chg="del mod">
          <ac:chgData name="Kathylynn Barranco" userId="d9a8f0f9-e492-4ec3-ac92-a8c599b82282" providerId="ADAL" clId="{B4BFED6D-A3E2-45D0-863D-A3DEA35011D6}" dt="2021-07-01T19:13:36.823" v="2680" actId="478"/>
          <ac:spMkLst>
            <pc:docMk/>
            <pc:sldMk cId="941511306" sldId="270"/>
            <ac:spMk id="5" creationId="{62BF0568-7E5E-4278-9000-0287C6E7FA2F}"/>
          </ac:spMkLst>
        </pc:spChg>
        <pc:spChg chg="add mod">
          <ac:chgData name="Kathylynn Barranco" userId="d9a8f0f9-e492-4ec3-ac92-a8c599b82282" providerId="ADAL" clId="{B4BFED6D-A3E2-45D0-863D-A3DEA35011D6}" dt="2021-07-01T19:21:42.921" v="2771" actId="20577"/>
          <ac:spMkLst>
            <pc:docMk/>
            <pc:sldMk cId="941511306" sldId="270"/>
            <ac:spMk id="6" creationId="{3A6C49DB-D408-4A96-B1BB-5DFD0FF0DC80}"/>
          </ac:spMkLst>
        </pc:spChg>
      </pc:sldChg>
      <pc:sldChg chg="addSp delSp modSp mod ord">
        <pc:chgData name="Kathylynn Barranco" userId="d9a8f0f9-e492-4ec3-ac92-a8c599b82282" providerId="ADAL" clId="{B4BFED6D-A3E2-45D0-863D-A3DEA35011D6}" dt="2021-07-01T17:40:57.436" v="1299" actId="20577"/>
        <pc:sldMkLst>
          <pc:docMk/>
          <pc:sldMk cId="2039261957" sldId="271"/>
        </pc:sldMkLst>
        <pc:spChg chg="del mod">
          <ac:chgData name="Kathylynn Barranco" userId="d9a8f0f9-e492-4ec3-ac92-a8c599b82282" providerId="ADAL" clId="{B4BFED6D-A3E2-45D0-863D-A3DEA35011D6}" dt="2021-07-01T17:03:59.748" v="894" actId="478"/>
          <ac:spMkLst>
            <pc:docMk/>
            <pc:sldMk cId="2039261957" sldId="271"/>
            <ac:spMk id="2" creationId="{9DEC7125-F00F-477F-95EE-E4D35C7F355F}"/>
          </ac:spMkLst>
        </pc:spChg>
        <pc:spChg chg="add del mod">
          <ac:chgData name="Kathylynn Barranco" userId="d9a8f0f9-e492-4ec3-ac92-a8c599b82282" providerId="ADAL" clId="{B4BFED6D-A3E2-45D0-863D-A3DEA35011D6}" dt="2021-07-01T16:56:13.545" v="831" actId="478"/>
          <ac:spMkLst>
            <pc:docMk/>
            <pc:sldMk cId="2039261957" sldId="271"/>
            <ac:spMk id="3" creationId="{B8154298-B2CA-4BE4-AE00-717344A0820B}"/>
          </ac:spMkLst>
        </pc:spChg>
        <pc:spChg chg="del mod">
          <ac:chgData name="Kathylynn Barranco" userId="d9a8f0f9-e492-4ec3-ac92-a8c599b82282" providerId="ADAL" clId="{B4BFED6D-A3E2-45D0-863D-A3DEA35011D6}" dt="2021-07-01T16:56:35.130" v="836" actId="478"/>
          <ac:spMkLst>
            <pc:docMk/>
            <pc:sldMk cId="2039261957" sldId="271"/>
            <ac:spMk id="4" creationId="{4EF2F62D-A99B-4E06-BD55-5F9B481D66A0}"/>
          </ac:spMkLst>
        </pc:spChg>
        <pc:spChg chg="add del mod">
          <ac:chgData name="Kathylynn Barranco" userId="d9a8f0f9-e492-4ec3-ac92-a8c599b82282" providerId="ADAL" clId="{B4BFED6D-A3E2-45D0-863D-A3DEA35011D6}" dt="2021-07-01T17:04:02.085" v="895" actId="478"/>
          <ac:spMkLst>
            <pc:docMk/>
            <pc:sldMk cId="2039261957" sldId="271"/>
            <ac:spMk id="9" creationId="{873C3216-5BA7-4E72-914A-436A0605811E}"/>
          </ac:spMkLst>
        </pc:spChg>
        <pc:spChg chg="add mod">
          <ac:chgData name="Kathylynn Barranco" userId="d9a8f0f9-e492-4ec3-ac92-a8c599b82282" providerId="ADAL" clId="{B4BFED6D-A3E2-45D0-863D-A3DEA35011D6}" dt="2021-07-01T17:40:57.436" v="1299" actId="20577"/>
          <ac:spMkLst>
            <pc:docMk/>
            <pc:sldMk cId="2039261957" sldId="271"/>
            <ac:spMk id="10" creationId="{DD44F11D-F4F9-4386-9787-E8FEAA974AD0}"/>
          </ac:spMkLst>
        </pc:spChg>
        <pc:graphicFrameChg chg="add mod modGraphic">
          <ac:chgData name="Kathylynn Barranco" userId="d9a8f0f9-e492-4ec3-ac92-a8c599b82282" providerId="ADAL" clId="{B4BFED6D-A3E2-45D0-863D-A3DEA35011D6}" dt="2021-07-01T17:40:01.658" v="1267" actId="113"/>
          <ac:graphicFrameMkLst>
            <pc:docMk/>
            <pc:sldMk cId="2039261957" sldId="271"/>
            <ac:graphicFrameMk id="6" creationId="{A6965000-F265-4D09-AD05-83D79168C127}"/>
          </ac:graphicFrameMkLst>
        </pc:graphicFrameChg>
        <pc:picChg chg="add del mod">
          <ac:chgData name="Kathylynn Barranco" userId="d9a8f0f9-e492-4ec3-ac92-a8c599b82282" providerId="ADAL" clId="{B4BFED6D-A3E2-45D0-863D-A3DEA35011D6}" dt="2021-07-01T16:56:11.040" v="830"/>
          <ac:picMkLst>
            <pc:docMk/>
            <pc:sldMk cId="2039261957" sldId="271"/>
            <ac:picMk id="5" creationId="{EE48B50E-9A03-445E-BE73-3566184DEC4F}"/>
          </ac:picMkLst>
        </pc:picChg>
        <pc:picChg chg="add del mod">
          <ac:chgData name="Kathylynn Barranco" userId="d9a8f0f9-e492-4ec3-ac92-a8c599b82282" providerId="ADAL" clId="{B4BFED6D-A3E2-45D0-863D-A3DEA35011D6}" dt="2021-07-01T17:36:09.953" v="1236" actId="478"/>
          <ac:picMkLst>
            <pc:docMk/>
            <pc:sldMk cId="2039261957" sldId="271"/>
            <ac:picMk id="7" creationId="{BE43D126-E933-4288-AF4B-C63DC83CBE0D}"/>
          </ac:picMkLst>
        </pc:picChg>
      </pc:sldChg>
      <pc:sldChg chg="addSp delSp modSp new mod">
        <pc:chgData name="Kathylynn Barranco" userId="d9a8f0f9-e492-4ec3-ac92-a8c599b82282" providerId="ADAL" clId="{B4BFED6D-A3E2-45D0-863D-A3DEA35011D6}" dt="2021-07-01T16:51:51.120" v="724"/>
        <pc:sldMkLst>
          <pc:docMk/>
          <pc:sldMk cId="636696431" sldId="272"/>
        </pc:sldMkLst>
        <pc:spChg chg="mod">
          <ac:chgData name="Kathylynn Barranco" userId="d9a8f0f9-e492-4ec3-ac92-a8c599b82282" providerId="ADAL" clId="{B4BFED6D-A3E2-45D0-863D-A3DEA35011D6}" dt="2021-07-01T16:48:21.382" v="699" actId="207"/>
          <ac:spMkLst>
            <pc:docMk/>
            <pc:sldMk cId="636696431" sldId="272"/>
            <ac:spMk id="2" creationId="{D151E80E-6EDD-4DAD-8A80-7EA48EBD3468}"/>
          </ac:spMkLst>
        </pc:spChg>
        <pc:spChg chg="del">
          <ac:chgData name="Kathylynn Barranco" userId="d9a8f0f9-e492-4ec3-ac92-a8c599b82282" providerId="ADAL" clId="{B4BFED6D-A3E2-45D0-863D-A3DEA35011D6}" dt="2021-07-01T16:14:47.337" v="547" actId="478"/>
          <ac:spMkLst>
            <pc:docMk/>
            <pc:sldMk cId="636696431" sldId="272"/>
            <ac:spMk id="3" creationId="{A646E719-0D94-4CD8-AE4F-EE1C450B7A11}"/>
          </ac:spMkLst>
        </pc:spChg>
        <pc:graphicFrameChg chg="add del mod modGraphic">
          <ac:chgData name="Kathylynn Barranco" userId="d9a8f0f9-e492-4ec3-ac92-a8c599b82282" providerId="ADAL" clId="{B4BFED6D-A3E2-45D0-863D-A3DEA35011D6}" dt="2021-07-01T16:18:31.067" v="632" actId="478"/>
          <ac:graphicFrameMkLst>
            <pc:docMk/>
            <pc:sldMk cId="636696431" sldId="272"/>
            <ac:graphicFrameMk id="5" creationId="{E0BD7AFA-4A12-43F2-A991-899FEA6022F8}"/>
          </ac:graphicFrameMkLst>
        </pc:graphicFrameChg>
        <pc:graphicFrameChg chg="add mod modGraphic">
          <ac:chgData name="Kathylynn Barranco" userId="d9a8f0f9-e492-4ec3-ac92-a8c599b82282" providerId="ADAL" clId="{B4BFED6D-A3E2-45D0-863D-A3DEA35011D6}" dt="2021-07-01T16:51:51.120" v="724"/>
          <ac:graphicFrameMkLst>
            <pc:docMk/>
            <pc:sldMk cId="636696431" sldId="272"/>
            <ac:graphicFrameMk id="6" creationId="{390AC114-306C-4A0F-813D-24D856B6798B}"/>
          </ac:graphicFrameMkLst>
        </pc:graphicFrameChg>
      </pc:sldChg>
      <pc:sldChg chg="modSp add mod ord">
        <pc:chgData name="Kathylynn Barranco" userId="d9a8f0f9-e492-4ec3-ac92-a8c599b82282" providerId="ADAL" clId="{B4BFED6D-A3E2-45D0-863D-A3DEA35011D6}" dt="2021-07-01T19:12:23.453" v="2673" actId="1076"/>
        <pc:sldMkLst>
          <pc:docMk/>
          <pc:sldMk cId="281953408" sldId="273"/>
        </pc:sldMkLst>
        <pc:spChg chg="mod">
          <ac:chgData name="Kathylynn Barranco" userId="d9a8f0f9-e492-4ec3-ac92-a8c599b82282" providerId="ADAL" clId="{B4BFED6D-A3E2-45D0-863D-A3DEA35011D6}" dt="2021-07-01T19:12:23.453" v="2673" actId="1076"/>
          <ac:spMkLst>
            <pc:docMk/>
            <pc:sldMk cId="281953408" sldId="273"/>
            <ac:spMk id="2" creationId="{9DEC7125-F00F-477F-95EE-E4D35C7F355F}"/>
          </ac:spMkLst>
        </pc:spChg>
        <pc:spChg chg="mod">
          <ac:chgData name="Kathylynn Barranco" userId="d9a8f0f9-e492-4ec3-ac92-a8c599b82282" providerId="ADAL" clId="{B4BFED6D-A3E2-45D0-863D-A3DEA35011D6}" dt="2021-07-01T18:56:56.731" v="2369" actId="1076"/>
          <ac:spMkLst>
            <pc:docMk/>
            <pc:sldMk cId="281953408" sldId="273"/>
            <ac:spMk id="3" creationId="{B8154298-B2CA-4BE4-AE00-717344A0820B}"/>
          </ac:spMkLst>
        </pc:spChg>
      </pc:sldChg>
      <pc:sldChg chg="modSp add mod">
        <pc:chgData name="Kathylynn Barranco" userId="d9a8f0f9-e492-4ec3-ac92-a8c599b82282" providerId="ADAL" clId="{B4BFED6D-A3E2-45D0-863D-A3DEA35011D6}" dt="2021-07-01T17:42:51.275" v="1314" actId="113"/>
        <pc:sldMkLst>
          <pc:docMk/>
          <pc:sldMk cId="3653598657" sldId="274"/>
        </pc:sldMkLst>
        <pc:spChg chg="mod">
          <ac:chgData name="Kathylynn Barranco" userId="d9a8f0f9-e492-4ec3-ac92-a8c599b82282" providerId="ADAL" clId="{B4BFED6D-A3E2-45D0-863D-A3DEA35011D6}" dt="2021-07-01T17:42:51.275" v="1314" actId="113"/>
          <ac:spMkLst>
            <pc:docMk/>
            <pc:sldMk cId="3653598657" sldId="274"/>
            <ac:spMk id="2" creationId="{9DEC7125-F00F-477F-95EE-E4D35C7F355F}"/>
          </ac:spMkLst>
        </pc:spChg>
        <pc:graphicFrameChg chg="mod modGraphic">
          <ac:chgData name="Kathylynn Barranco" userId="d9a8f0f9-e492-4ec3-ac92-a8c599b82282" providerId="ADAL" clId="{B4BFED6D-A3E2-45D0-863D-A3DEA35011D6}" dt="2021-07-01T17:36:27.923" v="1238" actId="1076"/>
          <ac:graphicFrameMkLst>
            <pc:docMk/>
            <pc:sldMk cId="3653598657" sldId="274"/>
            <ac:graphicFrameMk id="6" creationId="{A6965000-F265-4D09-AD05-83D79168C127}"/>
          </ac:graphicFrameMkLst>
        </pc:graphicFrameChg>
      </pc:sldChg>
      <pc:sldChg chg="addSp delSp modSp add mod">
        <pc:chgData name="Kathylynn Barranco" userId="d9a8f0f9-e492-4ec3-ac92-a8c599b82282" providerId="ADAL" clId="{B4BFED6D-A3E2-45D0-863D-A3DEA35011D6}" dt="2021-07-01T17:43:11.165" v="1331" actId="20577"/>
        <pc:sldMkLst>
          <pc:docMk/>
          <pc:sldMk cId="3592901850" sldId="275"/>
        </pc:sldMkLst>
        <pc:spChg chg="mod">
          <ac:chgData name="Kathylynn Barranco" userId="d9a8f0f9-e492-4ec3-ac92-a8c599b82282" providerId="ADAL" clId="{B4BFED6D-A3E2-45D0-863D-A3DEA35011D6}" dt="2021-07-01T17:43:11.165" v="1331" actId="20577"/>
          <ac:spMkLst>
            <pc:docMk/>
            <pc:sldMk cId="3592901850" sldId="275"/>
            <ac:spMk id="2" creationId="{9DEC7125-F00F-477F-95EE-E4D35C7F355F}"/>
          </ac:spMkLst>
        </pc:spChg>
        <pc:spChg chg="add del">
          <ac:chgData name="Kathylynn Barranco" userId="d9a8f0f9-e492-4ec3-ac92-a8c599b82282" providerId="ADAL" clId="{B4BFED6D-A3E2-45D0-863D-A3DEA35011D6}" dt="2021-07-01T17:07:57.825" v="977" actId="22"/>
          <ac:spMkLst>
            <pc:docMk/>
            <pc:sldMk cId="3592901850" sldId="275"/>
            <ac:spMk id="5" creationId="{607ED304-6C30-4017-AFA8-998BCC995935}"/>
          </ac:spMkLst>
        </pc:spChg>
        <pc:graphicFrameChg chg="add del mod modGraphic">
          <ac:chgData name="Kathylynn Barranco" userId="d9a8f0f9-e492-4ec3-ac92-a8c599b82282" providerId="ADAL" clId="{B4BFED6D-A3E2-45D0-863D-A3DEA35011D6}" dt="2021-07-01T17:32:56.779" v="1206" actId="14100"/>
          <ac:graphicFrameMkLst>
            <pc:docMk/>
            <pc:sldMk cId="3592901850" sldId="275"/>
            <ac:graphicFrameMk id="4" creationId="{AED9DAAD-648F-43C0-B9B9-F00EB366BA3F}"/>
          </ac:graphicFrameMkLst>
        </pc:graphicFrameChg>
        <pc:graphicFrameChg chg="del">
          <ac:chgData name="Kathylynn Barranco" userId="d9a8f0f9-e492-4ec3-ac92-a8c599b82282" providerId="ADAL" clId="{B4BFED6D-A3E2-45D0-863D-A3DEA35011D6}" dt="2021-07-01T17:08:06.524" v="978" actId="478"/>
          <ac:graphicFrameMkLst>
            <pc:docMk/>
            <pc:sldMk cId="3592901850" sldId="275"/>
            <ac:graphicFrameMk id="6" creationId="{A6965000-F265-4D09-AD05-83D79168C127}"/>
          </ac:graphicFrameMkLst>
        </pc:graphicFrameChg>
      </pc:sldChg>
      <pc:sldChg chg="modSp add mod">
        <pc:chgData name="Kathylynn Barranco" userId="d9a8f0f9-e492-4ec3-ac92-a8c599b82282" providerId="ADAL" clId="{B4BFED6D-A3E2-45D0-863D-A3DEA35011D6}" dt="2021-07-01T17:41:58.681" v="1308" actId="14100"/>
        <pc:sldMkLst>
          <pc:docMk/>
          <pc:sldMk cId="1406222713" sldId="276"/>
        </pc:sldMkLst>
        <pc:spChg chg="mod">
          <ac:chgData name="Kathylynn Barranco" userId="d9a8f0f9-e492-4ec3-ac92-a8c599b82282" providerId="ADAL" clId="{B4BFED6D-A3E2-45D0-863D-A3DEA35011D6}" dt="2021-07-01T17:41:45.308" v="1305" actId="1076"/>
          <ac:spMkLst>
            <pc:docMk/>
            <pc:sldMk cId="1406222713" sldId="276"/>
            <ac:spMk id="2" creationId="{9DEC7125-F00F-477F-95EE-E4D35C7F355F}"/>
          </ac:spMkLst>
        </pc:spChg>
        <pc:graphicFrameChg chg="mod modGraphic">
          <ac:chgData name="Kathylynn Barranco" userId="d9a8f0f9-e492-4ec3-ac92-a8c599b82282" providerId="ADAL" clId="{B4BFED6D-A3E2-45D0-863D-A3DEA35011D6}" dt="2021-07-01T17:41:58.681" v="1308" actId="14100"/>
          <ac:graphicFrameMkLst>
            <pc:docMk/>
            <pc:sldMk cId="1406222713" sldId="276"/>
            <ac:graphicFrameMk id="4" creationId="{AED9DAAD-648F-43C0-B9B9-F00EB366BA3F}"/>
          </ac:graphicFrameMkLst>
        </pc:graphicFrameChg>
      </pc:sldChg>
      <pc:sldChg chg="modSp add mod">
        <pc:chgData name="Kathylynn Barranco" userId="d9a8f0f9-e492-4ec3-ac92-a8c599b82282" providerId="ADAL" clId="{B4BFED6D-A3E2-45D0-863D-A3DEA35011D6}" dt="2021-07-01T17:42:23.820" v="1312" actId="14100"/>
        <pc:sldMkLst>
          <pc:docMk/>
          <pc:sldMk cId="4031132141" sldId="277"/>
        </pc:sldMkLst>
        <pc:spChg chg="mod">
          <ac:chgData name="Kathylynn Barranco" userId="d9a8f0f9-e492-4ec3-ac92-a8c599b82282" providerId="ADAL" clId="{B4BFED6D-A3E2-45D0-863D-A3DEA35011D6}" dt="2021-07-01T17:41:27.775" v="1303" actId="113"/>
          <ac:spMkLst>
            <pc:docMk/>
            <pc:sldMk cId="4031132141" sldId="277"/>
            <ac:spMk id="2" creationId="{9DEC7125-F00F-477F-95EE-E4D35C7F355F}"/>
          </ac:spMkLst>
        </pc:spChg>
        <pc:graphicFrameChg chg="mod modGraphic">
          <ac:chgData name="Kathylynn Barranco" userId="d9a8f0f9-e492-4ec3-ac92-a8c599b82282" providerId="ADAL" clId="{B4BFED6D-A3E2-45D0-863D-A3DEA35011D6}" dt="2021-07-01T17:42:23.820" v="1312" actId="14100"/>
          <ac:graphicFrameMkLst>
            <pc:docMk/>
            <pc:sldMk cId="4031132141" sldId="277"/>
            <ac:graphicFrameMk id="4" creationId="{AED9DAAD-648F-43C0-B9B9-F00EB366BA3F}"/>
          </ac:graphicFrameMkLst>
        </pc:graphicFrameChg>
      </pc:sldChg>
      <pc:sldChg chg="addSp delSp modSp add mod">
        <pc:chgData name="Kathylynn Barranco" userId="d9a8f0f9-e492-4ec3-ac92-a8c599b82282" providerId="ADAL" clId="{B4BFED6D-A3E2-45D0-863D-A3DEA35011D6}" dt="2021-07-01T17:48:08.327" v="1402" actId="14734"/>
        <pc:sldMkLst>
          <pc:docMk/>
          <pc:sldMk cId="3434288345" sldId="278"/>
        </pc:sldMkLst>
        <pc:spChg chg="mod">
          <ac:chgData name="Kathylynn Barranco" userId="d9a8f0f9-e492-4ec3-ac92-a8c599b82282" providerId="ADAL" clId="{B4BFED6D-A3E2-45D0-863D-A3DEA35011D6}" dt="2021-07-01T17:44:12.315" v="1345" actId="6549"/>
          <ac:spMkLst>
            <pc:docMk/>
            <pc:sldMk cId="3434288345" sldId="278"/>
            <ac:spMk id="2" creationId="{9DEC7125-F00F-477F-95EE-E4D35C7F355F}"/>
          </ac:spMkLst>
        </pc:spChg>
        <pc:graphicFrameChg chg="add mod modGraphic">
          <ac:chgData name="Kathylynn Barranco" userId="d9a8f0f9-e492-4ec3-ac92-a8c599b82282" providerId="ADAL" clId="{B4BFED6D-A3E2-45D0-863D-A3DEA35011D6}" dt="2021-07-01T17:48:08.327" v="1402" actId="14734"/>
          <ac:graphicFrameMkLst>
            <pc:docMk/>
            <pc:sldMk cId="3434288345" sldId="278"/>
            <ac:graphicFrameMk id="3" creationId="{C18E18FC-66D5-47AD-9475-68A5788A0763}"/>
          </ac:graphicFrameMkLst>
        </pc:graphicFrameChg>
        <pc:graphicFrameChg chg="del mod">
          <ac:chgData name="Kathylynn Barranco" userId="d9a8f0f9-e492-4ec3-ac92-a8c599b82282" providerId="ADAL" clId="{B4BFED6D-A3E2-45D0-863D-A3DEA35011D6}" dt="2021-07-01T17:44:25.745" v="1346" actId="478"/>
          <ac:graphicFrameMkLst>
            <pc:docMk/>
            <pc:sldMk cId="3434288345" sldId="278"/>
            <ac:graphicFrameMk id="4" creationId="{AED9DAAD-648F-43C0-B9B9-F00EB366BA3F}"/>
          </ac:graphicFrameMkLst>
        </pc:graphicFrameChg>
      </pc:sldChg>
      <pc:sldChg chg="addSp delSp modSp add mod">
        <pc:chgData name="Kathylynn Barranco" userId="d9a8f0f9-e492-4ec3-ac92-a8c599b82282" providerId="ADAL" clId="{B4BFED6D-A3E2-45D0-863D-A3DEA35011D6}" dt="2021-07-01T17:49:52.625" v="1435" actId="14100"/>
        <pc:sldMkLst>
          <pc:docMk/>
          <pc:sldMk cId="470432779" sldId="279"/>
        </pc:sldMkLst>
        <pc:graphicFrameChg chg="del">
          <ac:chgData name="Kathylynn Barranco" userId="d9a8f0f9-e492-4ec3-ac92-a8c599b82282" providerId="ADAL" clId="{B4BFED6D-A3E2-45D0-863D-A3DEA35011D6}" dt="2021-07-01T17:46:30.773" v="1385" actId="478"/>
          <ac:graphicFrameMkLst>
            <pc:docMk/>
            <pc:sldMk cId="470432779" sldId="279"/>
            <ac:graphicFrameMk id="3" creationId="{C18E18FC-66D5-47AD-9475-68A5788A0763}"/>
          </ac:graphicFrameMkLst>
        </pc:graphicFrameChg>
        <pc:graphicFrameChg chg="add mod modGraphic">
          <ac:chgData name="Kathylynn Barranco" userId="d9a8f0f9-e492-4ec3-ac92-a8c599b82282" providerId="ADAL" clId="{B4BFED6D-A3E2-45D0-863D-A3DEA35011D6}" dt="2021-07-01T17:49:52.625" v="1435" actId="14100"/>
          <ac:graphicFrameMkLst>
            <pc:docMk/>
            <pc:sldMk cId="470432779" sldId="279"/>
            <ac:graphicFrameMk id="4" creationId="{01F2FE8A-8634-4536-81A9-5D7B6D2A27E7}"/>
          </ac:graphicFrameMkLst>
        </pc:graphicFrameChg>
      </pc:sldChg>
      <pc:sldChg chg="addSp delSp modSp add mod">
        <pc:chgData name="Kathylynn Barranco" userId="d9a8f0f9-e492-4ec3-ac92-a8c599b82282" providerId="ADAL" clId="{B4BFED6D-A3E2-45D0-863D-A3DEA35011D6}" dt="2021-07-01T19:09:56.217" v="2649" actId="478"/>
        <pc:sldMkLst>
          <pc:docMk/>
          <pc:sldMk cId="1952462667" sldId="280"/>
        </pc:sldMkLst>
        <pc:spChg chg="del">
          <ac:chgData name="Kathylynn Barranco" userId="d9a8f0f9-e492-4ec3-ac92-a8c599b82282" providerId="ADAL" clId="{B4BFED6D-A3E2-45D0-863D-A3DEA35011D6}" dt="2021-07-01T18:02:03.523" v="1713" actId="478"/>
          <ac:spMkLst>
            <pc:docMk/>
            <pc:sldMk cId="1952462667" sldId="280"/>
            <ac:spMk id="3" creationId="{D0EBD097-8973-4E21-82BE-BD8C0CC05899}"/>
          </ac:spMkLst>
        </pc:spChg>
        <pc:spChg chg="del">
          <ac:chgData name="Kathylynn Barranco" userId="d9a8f0f9-e492-4ec3-ac92-a8c599b82282" providerId="ADAL" clId="{B4BFED6D-A3E2-45D0-863D-A3DEA35011D6}" dt="2021-07-01T19:09:56.217" v="2649" actId="478"/>
          <ac:spMkLst>
            <pc:docMk/>
            <pc:sldMk cId="1952462667" sldId="280"/>
            <ac:spMk id="4" creationId="{B8273652-CE5C-433E-BBAC-9DA1B9A6030B}"/>
          </ac:spMkLst>
        </pc:spChg>
        <pc:spChg chg="add del mod">
          <ac:chgData name="Kathylynn Barranco" userId="d9a8f0f9-e492-4ec3-ac92-a8c599b82282" providerId="ADAL" clId="{B4BFED6D-A3E2-45D0-863D-A3DEA35011D6}" dt="2021-07-01T18:02:04.740" v="1714" actId="478"/>
          <ac:spMkLst>
            <pc:docMk/>
            <pc:sldMk cId="1952462667" sldId="280"/>
            <ac:spMk id="5" creationId="{DA416E47-E980-4D79-B018-BF14464D6533}"/>
          </ac:spMkLst>
        </pc:spChg>
        <pc:spChg chg="mod">
          <ac:chgData name="Kathylynn Barranco" userId="d9a8f0f9-e492-4ec3-ac92-a8c599b82282" providerId="ADAL" clId="{B4BFED6D-A3E2-45D0-863D-A3DEA35011D6}" dt="2021-07-01T19:09:53.162" v="2648" actId="1076"/>
          <ac:spMkLst>
            <pc:docMk/>
            <pc:sldMk cId="1952462667" sldId="280"/>
            <ac:spMk id="7" creationId="{BDCA5C0E-B50F-4400-9A95-04D8A8ADCF0A}"/>
          </ac:spMkLst>
        </pc:spChg>
        <pc:grpChg chg="add mod">
          <ac:chgData name="Kathylynn Barranco" userId="d9a8f0f9-e492-4ec3-ac92-a8c599b82282" providerId="ADAL" clId="{B4BFED6D-A3E2-45D0-863D-A3DEA35011D6}" dt="2021-07-01T18:06:11.816" v="1730" actId="1076"/>
          <ac:grpSpMkLst>
            <pc:docMk/>
            <pc:sldMk cId="1952462667" sldId="280"/>
            <ac:grpSpMk id="13" creationId="{E0A467EE-C377-47F8-869D-F7B40D5F19CC}"/>
          </ac:grpSpMkLst>
        </pc:grpChg>
        <pc:picChg chg="add del mod">
          <ac:chgData name="Kathylynn Barranco" userId="d9a8f0f9-e492-4ec3-ac92-a8c599b82282" providerId="ADAL" clId="{B4BFED6D-A3E2-45D0-863D-A3DEA35011D6}" dt="2021-07-01T18:02:50.551" v="1719" actId="478"/>
          <ac:picMkLst>
            <pc:docMk/>
            <pc:sldMk cId="1952462667" sldId="280"/>
            <ac:picMk id="8" creationId="{CAD404BE-D09A-4673-96C0-F8C5175976FD}"/>
          </ac:picMkLst>
        </pc:picChg>
        <pc:picChg chg="add mod">
          <ac:chgData name="Kathylynn Barranco" userId="d9a8f0f9-e492-4ec3-ac92-a8c599b82282" providerId="ADAL" clId="{B4BFED6D-A3E2-45D0-863D-A3DEA35011D6}" dt="2021-07-01T18:06:09.113" v="1729" actId="164"/>
          <ac:picMkLst>
            <pc:docMk/>
            <pc:sldMk cId="1952462667" sldId="280"/>
            <ac:picMk id="10" creationId="{915BF8E7-1055-4C1B-9AC4-5546EB955946}"/>
          </ac:picMkLst>
        </pc:picChg>
        <pc:picChg chg="add mod">
          <ac:chgData name="Kathylynn Barranco" userId="d9a8f0f9-e492-4ec3-ac92-a8c599b82282" providerId="ADAL" clId="{B4BFED6D-A3E2-45D0-863D-A3DEA35011D6}" dt="2021-07-01T18:06:09.113" v="1729" actId="164"/>
          <ac:picMkLst>
            <pc:docMk/>
            <pc:sldMk cId="1952462667" sldId="280"/>
            <ac:picMk id="12" creationId="{263F9A34-0506-46A6-8B4B-431841C59D07}"/>
          </ac:picMkLst>
        </pc:picChg>
      </pc:sldChg>
      <pc:sldChg chg="addSp delSp modSp add mod">
        <pc:chgData name="Kathylynn Barranco" userId="d9a8f0f9-e492-4ec3-ac92-a8c599b82282" providerId="ADAL" clId="{B4BFED6D-A3E2-45D0-863D-A3DEA35011D6}" dt="2021-07-01T19:09:06.633" v="2620" actId="20577"/>
        <pc:sldMkLst>
          <pc:docMk/>
          <pc:sldMk cId="1530528361" sldId="281"/>
        </pc:sldMkLst>
        <pc:spChg chg="del">
          <ac:chgData name="Kathylynn Barranco" userId="d9a8f0f9-e492-4ec3-ac92-a8c599b82282" providerId="ADAL" clId="{B4BFED6D-A3E2-45D0-863D-A3DEA35011D6}" dt="2021-07-01T18:50:15.890" v="2174" actId="478"/>
          <ac:spMkLst>
            <pc:docMk/>
            <pc:sldMk cId="1530528361" sldId="281"/>
            <ac:spMk id="4" creationId="{B8273652-CE5C-433E-BBAC-9DA1B9A6030B}"/>
          </ac:spMkLst>
        </pc:spChg>
        <pc:spChg chg="add mod">
          <ac:chgData name="Kathylynn Barranco" userId="d9a8f0f9-e492-4ec3-ac92-a8c599b82282" providerId="ADAL" clId="{B4BFED6D-A3E2-45D0-863D-A3DEA35011D6}" dt="2021-07-01T18:16:01.474" v="1842" actId="1076"/>
          <ac:spMkLst>
            <pc:docMk/>
            <pc:sldMk cId="1530528361" sldId="281"/>
            <ac:spMk id="5" creationId="{44A0597C-0E5B-43BC-8262-E5062D7CBC0F}"/>
          </ac:spMkLst>
        </pc:spChg>
        <pc:spChg chg="add del mod">
          <ac:chgData name="Kathylynn Barranco" userId="d9a8f0f9-e492-4ec3-ac92-a8c599b82282" providerId="ADAL" clId="{B4BFED6D-A3E2-45D0-863D-A3DEA35011D6}" dt="2021-07-01T18:50:14.926" v="2173" actId="478"/>
          <ac:spMkLst>
            <pc:docMk/>
            <pc:sldMk cId="1530528361" sldId="281"/>
            <ac:spMk id="6" creationId="{19C61C7B-B6CF-4D4A-BDCC-AA6575E35045}"/>
          </ac:spMkLst>
        </pc:spChg>
        <pc:spChg chg="mod">
          <ac:chgData name="Kathylynn Barranco" userId="d9a8f0f9-e492-4ec3-ac92-a8c599b82282" providerId="ADAL" clId="{B4BFED6D-A3E2-45D0-863D-A3DEA35011D6}" dt="2021-07-01T19:09:06.633" v="2620" actId="20577"/>
          <ac:spMkLst>
            <pc:docMk/>
            <pc:sldMk cId="1530528361" sldId="281"/>
            <ac:spMk id="7" creationId="{BDCA5C0E-B50F-4400-9A95-04D8A8ADCF0A}"/>
          </ac:spMkLst>
        </pc:spChg>
        <pc:spChg chg="add del mod">
          <ac:chgData name="Kathylynn Barranco" userId="d9a8f0f9-e492-4ec3-ac92-a8c599b82282" providerId="ADAL" clId="{B4BFED6D-A3E2-45D0-863D-A3DEA35011D6}" dt="2021-07-01T18:50:43.103" v="2179" actId="478"/>
          <ac:spMkLst>
            <pc:docMk/>
            <pc:sldMk cId="1530528361" sldId="281"/>
            <ac:spMk id="8" creationId="{22D7F663-AAF1-4260-833B-3CA2C10BC4D7}"/>
          </ac:spMkLst>
        </pc:spChg>
        <pc:spChg chg="add del mod">
          <ac:chgData name="Kathylynn Barranco" userId="d9a8f0f9-e492-4ec3-ac92-a8c599b82282" providerId="ADAL" clId="{B4BFED6D-A3E2-45D0-863D-A3DEA35011D6}" dt="2021-07-01T18:51:05.062" v="2183" actId="478"/>
          <ac:spMkLst>
            <pc:docMk/>
            <pc:sldMk cId="1530528361" sldId="281"/>
            <ac:spMk id="9" creationId="{84633C10-99B5-41F7-BB2D-27CACC69CD24}"/>
          </ac:spMkLst>
        </pc:spChg>
        <pc:spChg chg="add del mod">
          <ac:chgData name="Kathylynn Barranco" userId="d9a8f0f9-e492-4ec3-ac92-a8c599b82282" providerId="ADAL" clId="{B4BFED6D-A3E2-45D0-863D-A3DEA35011D6}" dt="2021-07-01T19:03:44.622" v="2468" actId="33524"/>
          <ac:spMkLst>
            <pc:docMk/>
            <pc:sldMk cId="1530528361" sldId="281"/>
            <ac:spMk id="11" creationId="{3ADD0C0A-0BF3-4B77-B89E-7F8907599DEF}"/>
          </ac:spMkLst>
        </pc:spChg>
        <pc:grpChg chg="del">
          <ac:chgData name="Kathylynn Barranco" userId="d9a8f0f9-e492-4ec3-ac92-a8c599b82282" providerId="ADAL" clId="{B4BFED6D-A3E2-45D0-863D-A3DEA35011D6}" dt="2021-07-01T18:08:11.561" v="1732" actId="478"/>
          <ac:grpSpMkLst>
            <pc:docMk/>
            <pc:sldMk cId="1530528361" sldId="281"/>
            <ac:grpSpMk id="13" creationId="{E0A467EE-C377-47F8-869D-F7B40D5F19CC}"/>
          </ac:grpSpMkLst>
        </pc:grpChg>
        <pc:picChg chg="add mod modCrop">
          <ac:chgData name="Kathylynn Barranco" userId="d9a8f0f9-e492-4ec3-ac92-a8c599b82282" providerId="ADAL" clId="{B4BFED6D-A3E2-45D0-863D-A3DEA35011D6}" dt="2021-07-01T19:03:32.107" v="2467" actId="732"/>
          <ac:picMkLst>
            <pc:docMk/>
            <pc:sldMk cId="1530528361" sldId="281"/>
            <ac:picMk id="3" creationId="{09A91312-8665-4E29-A69A-DD270CE09C40}"/>
          </ac:picMkLst>
        </pc:picChg>
      </pc:sldChg>
      <pc:sldChg chg="addSp delSp modSp add mod">
        <pc:chgData name="Kathylynn Barranco" userId="d9a8f0f9-e492-4ec3-ac92-a8c599b82282" providerId="ADAL" clId="{B4BFED6D-A3E2-45D0-863D-A3DEA35011D6}" dt="2021-07-01T19:08:53.975" v="2610" actId="20577"/>
        <pc:sldMkLst>
          <pc:docMk/>
          <pc:sldMk cId="2852386751" sldId="282"/>
        </pc:sldMkLst>
        <pc:spChg chg="del mod">
          <ac:chgData name="Kathylynn Barranco" userId="d9a8f0f9-e492-4ec3-ac92-a8c599b82282" providerId="ADAL" clId="{B4BFED6D-A3E2-45D0-863D-A3DEA35011D6}" dt="2021-07-01T18:17:56.925" v="1881" actId="478"/>
          <ac:spMkLst>
            <pc:docMk/>
            <pc:sldMk cId="2852386751" sldId="282"/>
            <ac:spMk id="5" creationId="{44A0597C-0E5B-43BC-8262-E5062D7CBC0F}"/>
          </ac:spMkLst>
        </pc:spChg>
        <pc:spChg chg="mod">
          <ac:chgData name="Kathylynn Barranco" userId="d9a8f0f9-e492-4ec3-ac92-a8c599b82282" providerId="ADAL" clId="{B4BFED6D-A3E2-45D0-863D-A3DEA35011D6}" dt="2021-07-01T18:18:04.226" v="1883" actId="1076"/>
          <ac:spMkLst>
            <pc:docMk/>
            <pc:sldMk cId="2852386751" sldId="282"/>
            <ac:spMk id="6" creationId="{19C61C7B-B6CF-4D4A-BDCC-AA6575E35045}"/>
          </ac:spMkLst>
        </pc:spChg>
        <pc:spChg chg="mod">
          <ac:chgData name="Kathylynn Barranco" userId="d9a8f0f9-e492-4ec3-ac92-a8c599b82282" providerId="ADAL" clId="{B4BFED6D-A3E2-45D0-863D-A3DEA35011D6}" dt="2021-07-01T19:08:53.975" v="2610" actId="20577"/>
          <ac:spMkLst>
            <pc:docMk/>
            <pc:sldMk cId="2852386751" sldId="282"/>
            <ac:spMk id="7" creationId="{BDCA5C0E-B50F-4400-9A95-04D8A8ADCF0A}"/>
          </ac:spMkLst>
        </pc:spChg>
        <pc:picChg chg="del">
          <ac:chgData name="Kathylynn Barranco" userId="d9a8f0f9-e492-4ec3-ac92-a8c599b82282" providerId="ADAL" clId="{B4BFED6D-A3E2-45D0-863D-A3DEA35011D6}" dt="2021-07-01T18:17:54.280" v="1879" actId="478"/>
          <ac:picMkLst>
            <pc:docMk/>
            <pc:sldMk cId="2852386751" sldId="282"/>
            <ac:picMk id="3" creationId="{09A91312-8665-4E29-A69A-DD270CE09C40}"/>
          </ac:picMkLst>
        </pc:picChg>
        <pc:picChg chg="add mod modCrop">
          <ac:chgData name="Kathylynn Barranco" userId="d9a8f0f9-e492-4ec3-ac92-a8c599b82282" providerId="ADAL" clId="{B4BFED6D-A3E2-45D0-863D-A3DEA35011D6}" dt="2021-07-01T19:03:19.535" v="2466" actId="732"/>
          <ac:picMkLst>
            <pc:docMk/>
            <pc:sldMk cId="2852386751" sldId="282"/>
            <ac:picMk id="8" creationId="{5BD0BF4F-ADDF-4324-BD8D-1665CCD4B089}"/>
          </ac:picMkLst>
        </pc:picChg>
      </pc:sldChg>
      <pc:sldChg chg="addSp delSp modSp add mod">
        <pc:chgData name="Kathylynn Barranco" userId="d9a8f0f9-e492-4ec3-ac92-a8c599b82282" providerId="ADAL" clId="{B4BFED6D-A3E2-45D0-863D-A3DEA35011D6}" dt="2021-07-01T19:09:38.733" v="2640" actId="20577"/>
        <pc:sldMkLst>
          <pc:docMk/>
          <pc:sldMk cId="2873935566" sldId="283"/>
        </pc:sldMkLst>
        <pc:spChg chg="add mod">
          <ac:chgData name="Kathylynn Barranco" userId="d9a8f0f9-e492-4ec3-ac92-a8c599b82282" providerId="ADAL" clId="{B4BFED6D-A3E2-45D0-863D-A3DEA35011D6}" dt="2021-07-01T19:05:46.558" v="2491" actId="1076"/>
          <ac:spMkLst>
            <pc:docMk/>
            <pc:sldMk cId="2873935566" sldId="283"/>
            <ac:spMk id="2" creationId="{600E3AEA-FD77-4210-8D51-4AE622359C71}"/>
          </ac:spMkLst>
        </pc:spChg>
        <pc:spChg chg="add mod">
          <ac:chgData name="Kathylynn Barranco" userId="d9a8f0f9-e492-4ec3-ac92-a8c599b82282" providerId="ADAL" clId="{B4BFED6D-A3E2-45D0-863D-A3DEA35011D6}" dt="2021-07-01T19:05:42.889" v="2490" actId="1076"/>
          <ac:spMkLst>
            <pc:docMk/>
            <pc:sldMk cId="2873935566" sldId="283"/>
            <ac:spMk id="3" creationId="{388B9D0C-80D3-4A78-800F-8A669DDA5388}"/>
          </ac:spMkLst>
        </pc:spChg>
        <pc:spChg chg="del">
          <ac:chgData name="Kathylynn Barranco" userId="d9a8f0f9-e492-4ec3-ac92-a8c599b82282" providerId="ADAL" clId="{B4BFED6D-A3E2-45D0-863D-A3DEA35011D6}" dt="2021-07-01T18:26:19.949" v="1977" actId="478"/>
          <ac:spMkLst>
            <pc:docMk/>
            <pc:sldMk cId="2873935566" sldId="283"/>
            <ac:spMk id="4" creationId="{B8273652-CE5C-433E-BBAC-9DA1B9A6030B}"/>
          </ac:spMkLst>
        </pc:spChg>
        <pc:spChg chg="add del mod">
          <ac:chgData name="Kathylynn Barranco" userId="d9a8f0f9-e492-4ec3-ac92-a8c599b82282" providerId="ADAL" clId="{B4BFED6D-A3E2-45D0-863D-A3DEA35011D6}" dt="2021-07-01T19:05:35.133" v="2489" actId="478"/>
          <ac:spMkLst>
            <pc:docMk/>
            <pc:sldMk cId="2873935566" sldId="283"/>
            <ac:spMk id="6" creationId="{40B47F53-6865-4472-A1EB-05449B87C451}"/>
          </ac:spMkLst>
        </pc:spChg>
        <pc:spChg chg="del mod">
          <ac:chgData name="Kathylynn Barranco" userId="d9a8f0f9-e492-4ec3-ac92-a8c599b82282" providerId="ADAL" clId="{B4BFED6D-A3E2-45D0-863D-A3DEA35011D6}" dt="2021-07-01T19:05:31.705" v="2488" actId="478"/>
          <ac:spMkLst>
            <pc:docMk/>
            <pc:sldMk cId="2873935566" sldId="283"/>
            <ac:spMk id="7" creationId="{BDCA5C0E-B50F-4400-9A95-04D8A8ADCF0A}"/>
          </ac:spMkLst>
        </pc:spChg>
        <pc:spChg chg="add mod">
          <ac:chgData name="Kathylynn Barranco" userId="d9a8f0f9-e492-4ec3-ac92-a8c599b82282" providerId="ADAL" clId="{B4BFED6D-A3E2-45D0-863D-A3DEA35011D6}" dt="2021-07-01T19:09:38.733" v="2640" actId="20577"/>
          <ac:spMkLst>
            <pc:docMk/>
            <pc:sldMk cId="2873935566" sldId="283"/>
            <ac:spMk id="9" creationId="{3C3460AF-AF82-4170-823E-326DF12638A3}"/>
          </ac:spMkLst>
        </pc:spChg>
        <pc:grpChg chg="del">
          <ac:chgData name="Kathylynn Barranco" userId="d9a8f0f9-e492-4ec3-ac92-a8c599b82282" providerId="ADAL" clId="{B4BFED6D-A3E2-45D0-863D-A3DEA35011D6}" dt="2021-07-01T18:20:02.740" v="1892" actId="478"/>
          <ac:grpSpMkLst>
            <pc:docMk/>
            <pc:sldMk cId="2873935566" sldId="283"/>
            <ac:grpSpMk id="13" creationId="{E0A467EE-C377-47F8-869D-F7B40D5F19CC}"/>
          </ac:grpSpMkLst>
        </pc:grpChg>
      </pc:sldChg>
      <pc:sldChg chg="addSp delSp modSp add mod">
        <pc:chgData name="Kathylynn Barranco" userId="d9a8f0f9-e492-4ec3-ac92-a8c599b82282" providerId="ADAL" clId="{B4BFED6D-A3E2-45D0-863D-A3DEA35011D6}" dt="2021-07-01T19:09:27.183" v="2632" actId="20577"/>
        <pc:sldMkLst>
          <pc:docMk/>
          <pc:sldMk cId="3058254476" sldId="284"/>
        </pc:sldMkLst>
        <pc:spChg chg="del">
          <ac:chgData name="Kathylynn Barranco" userId="d9a8f0f9-e492-4ec3-ac92-a8c599b82282" providerId="ADAL" clId="{B4BFED6D-A3E2-45D0-863D-A3DEA35011D6}" dt="2021-07-01T18:35:01.538" v="2033" actId="478"/>
          <ac:spMkLst>
            <pc:docMk/>
            <pc:sldMk cId="3058254476" sldId="284"/>
            <ac:spMk id="2" creationId="{600E3AEA-FD77-4210-8D51-4AE622359C71}"/>
          </ac:spMkLst>
        </pc:spChg>
        <pc:spChg chg="mod">
          <ac:chgData name="Kathylynn Barranco" userId="d9a8f0f9-e492-4ec3-ac92-a8c599b82282" providerId="ADAL" clId="{B4BFED6D-A3E2-45D0-863D-A3DEA35011D6}" dt="2021-07-01T19:06:55.800" v="2543" actId="14100"/>
          <ac:spMkLst>
            <pc:docMk/>
            <pc:sldMk cId="3058254476" sldId="284"/>
            <ac:spMk id="3" creationId="{388B9D0C-80D3-4A78-800F-8A669DDA5388}"/>
          </ac:spMkLst>
        </pc:spChg>
        <pc:spChg chg="add mod">
          <ac:chgData name="Kathylynn Barranco" userId="d9a8f0f9-e492-4ec3-ac92-a8c599b82282" providerId="ADAL" clId="{B4BFED6D-A3E2-45D0-863D-A3DEA35011D6}" dt="2021-07-01T19:04:26.973" v="2474" actId="20577"/>
          <ac:spMkLst>
            <pc:docMk/>
            <pc:sldMk cId="3058254476" sldId="284"/>
            <ac:spMk id="6" creationId="{001D0EB2-636D-40D2-8620-82C13F4C8910}"/>
          </ac:spMkLst>
        </pc:spChg>
        <pc:spChg chg="mod">
          <ac:chgData name="Kathylynn Barranco" userId="d9a8f0f9-e492-4ec3-ac92-a8c599b82282" providerId="ADAL" clId="{B4BFED6D-A3E2-45D0-863D-A3DEA35011D6}" dt="2021-07-01T19:09:27.183" v="2632" actId="20577"/>
          <ac:spMkLst>
            <pc:docMk/>
            <pc:sldMk cId="3058254476" sldId="284"/>
            <ac:spMk id="7" creationId="{BDCA5C0E-B50F-4400-9A95-04D8A8ADCF0A}"/>
          </ac:spMkLst>
        </pc:spChg>
      </pc:sldChg>
      <pc:sldChg chg="delSp modSp add mod">
        <pc:chgData name="Kathylynn Barranco" userId="d9a8f0f9-e492-4ec3-ac92-a8c599b82282" providerId="ADAL" clId="{B4BFED6D-A3E2-45D0-863D-A3DEA35011D6}" dt="2021-07-01T19:10:07.734" v="2651" actId="1076"/>
        <pc:sldMkLst>
          <pc:docMk/>
          <pc:sldMk cId="4176478354" sldId="285"/>
        </pc:sldMkLst>
        <pc:spChg chg="mod">
          <ac:chgData name="Kathylynn Barranco" userId="d9a8f0f9-e492-4ec3-ac92-a8c599b82282" providerId="ADAL" clId="{B4BFED6D-A3E2-45D0-863D-A3DEA35011D6}" dt="2021-07-01T19:10:07.734" v="2651" actId="1076"/>
          <ac:spMkLst>
            <pc:docMk/>
            <pc:sldMk cId="4176478354" sldId="285"/>
            <ac:spMk id="3" creationId="{388B9D0C-80D3-4A78-800F-8A669DDA5388}"/>
          </ac:spMkLst>
        </pc:spChg>
        <pc:spChg chg="del">
          <ac:chgData name="Kathylynn Barranco" userId="d9a8f0f9-e492-4ec3-ac92-a8c599b82282" providerId="ADAL" clId="{B4BFED6D-A3E2-45D0-863D-A3DEA35011D6}" dt="2021-07-01T18:48:18.899" v="2154" actId="478"/>
          <ac:spMkLst>
            <pc:docMk/>
            <pc:sldMk cId="4176478354" sldId="285"/>
            <ac:spMk id="6" creationId="{001D0EB2-636D-40D2-8620-82C13F4C8910}"/>
          </ac:spMkLst>
        </pc:spChg>
        <pc:spChg chg="mod">
          <ac:chgData name="Kathylynn Barranco" userId="d9a8f0f9-e492-4ec3-ac92-a8c599b82282" providerId="ADAL" clId="{B4BFED6D-A3E2-45D0-863D-A3DEA35011D6}" dt="2021-07-01T19:10:04.641" v="2650" actId="1076"/>
          <ac:spMkLst>
            <pc:docMk/>
            <pc:sldMk cId="4176478354" sldId="285"/>
            <ac:spMk id="7" creationId="{BDCA5C0E-B50F-4400-9A95-04D8A8ADCF0A}"/>
          </ac:spMkLst>
        </pc:spChg>
      </pc:sldChg>
      <pc:sldChg chg="addSp modSp add mod ord">
        <pc:chgData name="Kathylynn Barranco" userId="d9a8f0f9-e492-4ec3-ac92-a8c599b82282" providerId="ADAL" clId="{B4BFED6D-A3E2-45D0-863D-A3DEA35011D6}" dt="2021-07-01T19:20:36.055" v="2760" actId="20577"/>
        <pc:sldMkLst>
          <pc:docMk/>
          <pc:sldMk cId="998128093" sldId="286"/>
        </pc:sldMkLst>
        <pc:spChg chg="mod">
          <ac:chgData name="Kathylynn Barranco" userId="d9a8f0f9-e492-4ec3-ac92-a8c599b82282" providerId="ADAL" clId="{B4BFED6D-A3E2-45D0-863D-A3DEA35011D6}" dt="2021-07-01T18:54:45.685" v="2313" actId="255"/>
          <ac:spMkLst>
            <pc:docMk/>
            <pc:sldMk cId="998128093" sldId="286"/>
            <ac:spMk id="3" creationId="{B10A050C-C10F-4EF8-94BA-CD0ACC58E4A9}"/>
          </ac:spMkLst>
        </pc:spChg>
        <pc:spChg chg="add mod">
          <ac:chgData name="Kathylynn Barranco" userId="d9a8f0f9-e492-4ec3-ac92-a8c599b82282" providerId="ADAL" clId="{B4BFED6D-A3E2-45D0-863D-A3DEA35011D6}" dt="2021-07-01T19:15:33.176" v="2713"/>
          <ac:spMkLst>
            <pc:docMk/>
            <pc:sldMk cId="998128093" sldId="286"/>
            <ac:spMk id="4" creationId="{AC050A57-DDBB-4F4C-932B-1144570D7D6E}"/>
          </ac:spMkLst>
        </pc:spChg>
        <pc:spChg chg="add mod">
          <ac:chgData name="Kathylynn Barranco" userId="d9a8f0f9-e492-4ec3-ac92-a8c599b82282" providerId="ADAL" clId="{B4BFED6D-A3E2-45D0-863D-A3DEA35011D6}" dt="2021-07-01T19:20:36.055" v="2760" actId="20577"/>
          <ac:spMkLst>
            <pc:docMk/>
            <pc:sldMk cId="998128093" sldId="286"/>
            <ac:spMk id="5" creationId="{F1EB1A8F-9315-4F4B-A398-68283634BE3C}"/>
          </ac:spMkLst>
        </pc:spChg>
        <pc:spChg chg="mod">
          <ac:chgData name="Kathylynn Barranco" userId="d9a8f0f9-e492-4ec3-ac92-a8c599b82282" providerId="ADAL" clId="{B4BFED6D-A3E2-45D0-863D-A3DEA35011D6}" dt="2021-07-01T18:54:35.591" v="2311" actId="20577"/>
          <ac:spMkLst>
            <pc:docMk/>
            <pc:sldMk cId="998128093" sldId="286"/>
            <ac:spMk id="8" creationId="{CE563904-4E96-4D35-8FFC-27D5B6EC879D}"/>
          </ac:spMkLst>
        </pc:spChg>
      </pc:sldChg>
      <pc:sldChg chg="new del">
        <pc:chgData name="Kathylynn Barranco" userId="d9a8f0f9-e492-4ec3-ac92-a8c599b82282" providerId="ADAL" clId="{B4BFED6D-A3E2-45D0-863D-A3DEA35011D6}" dt="2021-07-01T18:57:49.257" v="2391" actId="680"/>
        <pc:sldMkLst>
          <pc:docMk/>
          <pc:sldMk cId="397742143" sldId="287"/>
        </pc:sldMkLst>
      </pc:sldChg>
      <pc:sldChg chg="addSp delSp modSp add mod">
        <pc:chgData name="Kathylynn Barranco" userId="d9a8f0f9-e492-4ec3-ac92-a8c599b82282" providerId="ADAL" clId="{B4BFED6D-A3E2-45D0-863D-A3DEA35011D6}" dt="2021-07-01T19:11:54.299" v="2669" actId="6549"/>
        <pc:sldMkLst>
          <pc:docMk/>
          <pc:sldMk cId="3690017173" sldId="287"/>
        </pc:sldMkLst>
        <pc:spChg chg="add mod">
          <ac:chgData name="Kathylynn Barranco" userId="d9a8f0f9-e492-4ec3-ac92-a8c599b82282" providerId="ADAL" clId="{B4BFED6D-A3E2-45D0-863D-A3DEA35011D6}" dt="2021-07-01T19:11:54.299" v="2669" actId="6549"/>
          <ac:spMkLst>
            <pc:docMk/>
            <pc:sldMk cId="3690017173" sldId="287"/>
            <ac:spMk id="2" creationId="{93795606-5C14-4B54-BD2E-A9E759C5BEA2}"/>
          </ac:spMkLst>
        </pc:spChg>
        <pc:spChg chg="add del mod">
          <ac:chgData name="Kathylynn Barranco" userId="d9a8f0f9-e492-4ec3-ac92-a8c599b82282" providerId="ADAL" clId="{B4BFED6D-A3E2-45D0-863D-A3DEA35011D6}" dt="2021-07-01T19:00:28.414" v="2423"/>
          <ac:spMkLst>
            <pc:docMk/>
            <pc:sldMk cId="3690017173" sldId="287"/>
            <ac:spMk id="3" creationId="{B3B753DE-449A-41EE-AD61-6381B8BEB1BB}"/>
          </ac:spMkLst>
        </pc:spChg>
        <pc:spChg chg="del">
          <ac:chgData name="Kathylynn Barranco" userId="d9a8f0f9-e492-4ec3-ac92-a8c599b82282" providerId="ADAL" clId="{B4BFED6D-A3E2-45D0-863D-A3DEA35011D6}" dt="2021-07-01T19:00:12.008" v="2419" actId="478"/>
          <ac:spMkLst>
            <pc:docMk/>
            <pc:sldMk cId="3690017173" sldId="287"/>
            <ac:spMk id="4" creationId="{B8273652-CE5C-433E-BBAC-9DA1B9A6030B}"/>
          </ac:spMkLst>
        </pc:spChg>
        <pc:spChg chg="del">
          <ac:chgData name="Kathylynn Barranco" userId="d9a8f0f9-e492-4ec3-ac92-a8c599b82282" providerId="ADAL" clId="{B4BFED6D-A3E2-45D0-863D-A3DEA35011D6}" dt="2021-07-01T18:58:10.349" v="2399" actId="478"/>
          <ac:spMkLst>
            <pc:docMk/>
            <pc:sldMk cId="3690017173" sldId="287"/>
            <ac:spMk id="6" creationId="{19C61C7B-B6CF-4D4A-BDCC-AA6575E35045}"/>
          </ac:spMkLst>
        </pc:spChg>
        <pc:spChg chg="mod">
          <ac:chgData name="Kathylynn Barranco" userId="d9a8f0f9-e492-4ec3-ac92-a8c599b82282" providerId="ADAL" clId="{B4BFED6D-A3E2-45D0-863D-A3DEA35011D6}" dt="2021-07-01T19:11:02.056" v="2664" actId="20577"/>
          <ac:spMkLst>
            <pc:docMk/>
            <pc:sldMk cId="3690017173" sldId="287"/>
            <ac:spMk id="7" creationId="{BDCA5C0E-B50F-4400-9A95-04D8A8ADCF0A}"/>
          </ac:spMkLst>
        </pc:spChg>
        <pc:spChg chg="add mod">
          <ac:chgData name="Kathylynn Barranco" userId="d9a8f0f9-e492-4ec3-ac92-a8c599b82282" providerId="ADAL" clId="{B4BFED6D-A3E2-45D0-863D-A3DEA35011D6}" dt="2021-07-01T19:11:40.540" v="2668" actId="1076"/>
          <ac:spMkLst>
            <pc:docMk/>
            <pc:sldMk cId="3690017173" sldId="287"/>
            <ac:spMk id="9" creationId="{C30E92EA-0C1B-4E0E-8853-0D6829E31F6D}"/>
          </ac:spMkLst>
        </pc:spChg>
        <pc:picChg chg="del">
          <ac:chgData name="Kathylynn Barranco" userId="d9a8f0f9-e492-4ec3-ac92-a8c599b82282" providerId="ADAL" clId="{B4BFED6D-A3E2-45D0-863D-A3DEA35011D6}" dt="2021-07-01T18:57:58.034" v="2393" actId="478"/>
          <ac:picMkLst>
            <pc:docMk/>
            <pc:sldMk cId="3690017173" sldId="287"/>
            <ac:picMk id="8" creationId="{5BD0BF4F-ADDF-4324-BD8D-1665CCD4B089}"/>
          </ac:picMkLst>
        </pc:picChg>
      </pc:sldChg>
      <pc:sldChg chg="addSp delSp modSp add mod">
        <pc:chgData name="Kathylynn Barranco" userId="d9a8f0f9-e492-4ec3-ac92-a8c599b82282" providerId="ADAL" clId="{B4BFED6D-A3E2-45D0-863D-A3DEA35011D6}" dt="2021-07-01T19:20:15.484" v="2758" actId="20577"/>
        <pc:sldMkLst>
          <pc:docMk/>
          <pc:sldMk cId="3368193226" sldId="288"/>
        </pc:sldMkLst>
        <pc:spChg chg="del">
          <ac:chgData name="Kathylynn Barranco" userId="d9a8f0f9-e492-4ec3-ac92-a8c599b82282" providerId="ADAL" clId="{B4BFED6D-A3E2-45D0-863D-A3DEA35011D6}" dt="2021-07-01T19:15:38.526" v="2714" actId="478"/>
          <ac:spMkLst>
            <pc:docMk/>
            <pc:sldMk cId="3368193226" sldId="288"/>
            <ac:spMk id="4" creationId="{0F1296F2-C4CA-49D1-A8E2-225C1E20C38B}"/>
          </ac:spMkLst>
        </pc:spChg>
        <pc:spChg chg="add mod">
          <ac:chgData name="Kathylynn Barranco" userId="d9a8f0f9-e492-4ec3-ac92-a8c599b82282" providerId="ADAL" clId="{B4BFED6D-A3E2-45D0-863D-A3DEA35011D6}" dt="2021-07-01T19:20:15.484" v="2758" actId="20577"/>
          <ac:spMkLst>
            <pc:docMk/>
            <pc:sldMk cId="3368193226" sldId="288"/>
            <ac:spMk id="5" creationId="{62090C07-CD92-4FA8-8550-BC1CB4766A5A}"/>
          </ac:spMkLst>
        </pc:spChg>
        <pc:spChg chg="mod">
          <ac:chgData name="Kathylynn Barranco" userId="d9a8f0f9-e492-4ec3-ac92-a8c599b82282" providerId="ADAL" clId="{B4BFED6D-A3E2-45D0-863D-A3DEA35011D6}" dt="2021-07-01T19:14:58.341" v="2711" actId="2711"/>
          <ac:spMkLst>
            <pc:docMk/>
            <pc:sldMk cId="3368193226" sldId="288"/>
            <ac:spMk id="7" creationId="{55833392-E4D0-4076-A7A3-009FB3E48D2D}"/>
          </ac:spMkLst>
        </pc:spChg>
      </pc:sldChg>
      <pc:sldMasterChg chg="modSp mod modSldLayout">
        <pc:chgData name="Kathylynn Barranco" userId="d9a8f0f9-e492-4ec3-ac92-a8c599b82282" providerId="ADAL" clId="{B4BFED6D-A3E2-45D0-863D-A3DEA35011D6}" dt="2021-07-01T19:17:26.347" v="2721" actId="478"/>
        <pc:sldMasterMkLst>
          <pc:docMk/>
          <pc:sldMasterMk cId="3069464017" sldId="2147483737"/>
        </pc:sldMasterMkLst>
        <pc:spChg chg="mod">
          <ac:chgData name="Kathylynn Barranco" userId="d9a8f0f9-e492-4ec3-ac92-a8c599b82282" providerId="ADAL" clId="{B4BFED6D-A3E2-45D0-863D-A3DEA35011D6}" dt="2021-07-01T19:17:20.091" v="2719" actId="6549"/>
          <ac:spMkLst>
            <pc:docMk/>
            <pc:sldMasterMk cId="3069464017" sldId="2147483737"/>
            <ac:spMk id="6" creationId="{00000000-0000-0000-0000-000000000000}"/>
          </ac:spMkLst>
        </pc:spChg>
        <pc:sldLayoutChg chg="delSp modSp mod">
          <pc:chgData name="Kathylynn Barranco" userId="d9a8f0f9-e492-4ec3-ac92-a8c599b82282" providerId="ADAL" clId="{B4BFED6D-A3E2-45D0-863D-A3DEA35011D6}" dt="2021-07-01T19:17:26.347" v="2721" actId="478"/>
          <pc:sldLayoutMkLst>
            <pc:docMk/>
            <pc:sldMasterMk cId="3069464017" sldId="2147483737"/>
            <pc:sldLayoutMk cId="3204339412" sldId="2147483739"/>
          </pc:sldLayoutMkLst>
          <pc:spChg chg="del mod">
            <ac:chgData name="Kathylynn Barranco" userId="d9a8f0f9-e492-4ec3-ac92-a8c599b82282" providerId="ADAL" clId="{B4BFED6D-A3E2-45D0-863D-A3DEA35011D6}" dt="2021-07-01T19:17:26.347" v="2721" actId="478"/>
            <ac:spMkLst>
              <pc:docMk/>
              <pc:sldMasterMk cId="3069464017" sldId="2147483737"/>
              <pc:sldLayoutMk cId="3204339412" sldId="2147483739"/>
              <ac:spMk id="6" creationId="{00000000-0000-0000-0000-000000000000}"/>
            </ac:spMkLst>
          </pc:spChg>
        </pc:sldLayoutChg>
        <pc:sldLayoutChg chg="modSp">
          <pc:chgData name="Kathylynn Barranco" userId="d9a8f0f9-e492-4ec3-ac92-a8c599b82282" providerId="ADAL" clId="{B4BFED6D-A3E2-45D0-863D-A3DEA35011D6}" dt="2021-07-01T19:17:08.712" v="2718" actId="12"/>
          <pc:sldLayoutMkLst>
            <pc:docMk/>
            <pc:sldMasterMk cId="3069464017" sldId="2147483737"/>
            <pc:sldLayoutMk cId="463231382" sldId="2147483740"/>
          </pc:sldLayoutMkLst>
          <pc:spChg chg="mod">
            <ac:chgData name="Kathylynn Barranco" userId="d9a8f0f9-e492-4ec3-ac92-a8c599b82282" providerId="ADAL" clId="{B4BFED6D-A3E2-45D0-863D-A3DEA35011D6}" dt="2021-07-01T19:17:08.712" v="2718" actId="12"/>
            <ac:spMkLst>
              <pc:docMk/>
              <pc:sldMasterMk cId="3069464017" sldId="2147483737"/>
              <pc:sldLayoutMk cId="463231382" sldId="2147483740"/>
              <ac:spMk id="6"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2FFAE-61A5-4C14-81CC-803D187D8E20}" type="datetimeFigureOut">
              <a:rPr lang="en-US" smtClean="0"/>
              <a:t>7/1/2021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F21F48-45C7-4D5A-8FEA-967AB3273481}" type="slidenum">
              <a:rPr lang="en-US" smtClean="0"/>
              <a:t>‹#›</a:t>
            </a:fld>
            <a:endParaRPr lang="en-US"/>
          </a:p>
        </p:txBody>
      </p:sp>
    </p:spTree>
    <p:extLst>
      <p:ext uri="{BB962C8B-B14F-4D97-AF65-F5344CB8AC3E}">
        <p14:creationId xmlns:p14="http://schemas.microsoft.com/office/powerpoint/2010/main" val="4002746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9DEEB7-FC19-430B-8C94-19F2EEBA8C21}" type="datetime1">
              <a:rPr lang="en-US" smtClean="0"/>
              <a:t>7/1/2021</a:t>
            </a:fld>
            <a:endParaRPr lang="en-US"/>
          </a:p>
        </p:txBody>
      </p:sp>
      <p:sp>
        <p:nvSpPr>
          <p:cNvPr id="5" name="Footer Placeholder 4"/>
          <p:cNvSpPr>
            <a:spLocks noGrp="1"/>
          </p:cNvSpPr>
          <p:nvPr>
            <p:ph type="ftr" sz="quarter" idx="11"/>
          </p:nvPr>
        </p:nvSpPr>
        <p:spPr/>
        <p:txBody>
          <a:bodyPr/>
          <a:lstStyle/>
          <a:p>
            <a:r>
              <a:rPr lang="en-US"/>
              <a:t>Confidential and Proprietary</a:t>
            </a:r>
          </a:p>
        </p:txBody>
      </p:sp>
      <p:sp>
        <p:nvSpPr>
          <p:cNvPr id="6" name="Slide Number Placeholder 5"/>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3356713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7A23F61-954E-4E2A-B369-5B7E8C368203}" type="datetime1">
              <a:rPr lang="en-US" smtClean="0"/>
              <a:t>7/1/2021</a:t>
            </a:fld>
            <a:endParaRPr lang="en-US"/>
          </a:p>
        </p:txBody>
      </p:sp>
      <p:sp>
        <p:nvSpPr>
          <p:cNvPr id="5" name="Footer Placeholder 4"/>
          <p:cNvSpPr>
            <a:spLocks noGrp="1"/>
          </p:cNvSpPr>
          <p:nvPr>
            <p:ph type="ftr" sz="quarter" idx="11"/>
          </p:nvPr>
        </p:nvSpPr>
        <p:spPr/>
        <p:txBody>
          <a:bodyPr/>
          <a:lstStyle/>
          <a:p>
            <a:r>
              <a:rPr lang="en-US"/>
              <a:t>Confidential and Proprietary</a:t>
            </a:r>
          </a:p>
        </p:txBody>
      </p:sp>
    </p:spTree>
    <p:extLst>
      <p:ext uri="{BB962C8B-B14F-4D97-AF65-F5344CB8AC3E}">
        <p14:creationId xmlns:p14="http://schemas.microsoft.com/office/powerpoint/2010/main" val="3204339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A175D3-C331-479A-AB48-F7E242E9932F}" type="datetime1">
              <a:rPr lang="en-US" smtClean="0"/>
              <a:t>7/1/2021</a:t>
            </a:fld>
            <a:endParaRPr lang="en-US"/>
          </a:p>
        </p:txBody>
      </p:sp>
      <p:sp>
        <p:nvSpPr>
          <p:cNvPr id="5" name="Footer Placeholder 4"/>
          <p:cNvSpPr>
            <a:spLocks noGrp="1"/>
          </p:cNvSpPr>
          <p:nvPr>
            <p:ph type="ftr" sz="quarter" idx="11"/>
          </p:nvPr>
        </p:nvSpPr>
        <p:spPr/>
        <p:txBody>
          <a:bodyPr/>
          <a:lstStyle/>
          <a:p>
            <a:r>
              <a:rPr lang="en-US"/>
              <a:t>Confidential and Proprietary</a:t>
            </a:r>
          </a:p>
        </p:txBody>
      </p:sp>
      <p:sp>
        <p:nvSpPr>
          <p:cNvPr id="6" name="Slide Number Placeholder 5"/>
          <p:cNvSpPr>
            <a:spLocks noGrp="1"/>
          </p:cNvSpPr>
          <p:nvPr>
            <p:ph type="sldNum" sz="quarter" idx="12"/>
          </p:nvPr>
        </p:nvSpPr>
        <p:spPr/>
        <p:txBody>
          <a:bodyPr/>
          <a:lstStyle>
            <a:lvl1pPr marL="228600" indent="-228600">
              <a:buFont typeface="+mj-lt"/>
              <a:buAutoNum type="arabicPeriod"/>
              <a:defRPr/>
            </a:lvl1pPr>
          </a:lstStyle>
          <a:p>
            <a:fld id="{D5C8F6DB-5BF7-4B35-9EC6-C3C895DDDA88}" type="slidenum">
              <a:rPr lang="en-US" smtClean="0"/>
              <a:pPr/>
              <a:t>‹#›</a:t>
            </a:fld>
            <a:endParaRPr lang="en-US" dirty="0"/>
          </a:p>
        </p:txBody>
      </p:sp>
    </p:spTree>
    <p:extLst>
      <p:ext uri="{BB962C8B-B14F-4D97-AF65-F5344CB8AC3E}">
        <p14:creationId xmlns:p14="http://schemas.microsoft.com/office/powerpoint/2010/main" val="463231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117DE2-C443-4FC9-86CF-74CDE11CC588}" type="datetime1">
              <a:rPr lang="en-US" smtClean="0"/>
              <a:t>7/1/2021</a:t>
            </a:fld>
            <a:endParaRPr lang="en-US"/>
          </a:p>
        </p:txBody>
      </p:sp>
      <p:sp>
        <p:nvSpPr>
          <p:cNvPr id="6" name="Footer Placeholder 5"/>
          <p:cNvSpPr>
            <a:spLocks noGrp="1"/>
          </p:cNvSpPr>
          <p:nvPr>
            <p:ph type="ftr" sz="quarter" idx="11"/>
          </p:nvPr>
        </p:nvSpPr>
        <p:spPr/>
        <p:txBody>
          <a:bodyPr/>
          <a:lstStyle/>
          <a:p>
            <a:r>
              <a:rPr lang="en-US"/>
              <a:t>Confidential and Proprietary</a:t>
            </a:r>
          </a:p>
        </p:txBody>
      </p:sp>
      <p:sp>
        <p:nvSpPr>
          <p:cNvPr id="7" name="Slide Number Placeholder 6"/>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333905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5C7A45-1D2B-4031-B454-69019BD38C0A}" type="datetime1">
              <a:rPr lang="en-US" smtClean="0"/>
              <a:t>7/1/2021</a:t>
            </a:fld>
            <a:endParaRPr lang="en-US"/>
          </a:p>
        </p:txBody>
      </p:sp>
      <p:sp>
        <p:nvSpPr>
          <p:cNvPr id="8" name="Footer Placeholder 7"/>
          <p:cNvSpPr>
            <a:spLocks noGrp="1"/>
          </p:cNvSpPr>
          <p:nvPr>
            <p:ph type="ftr" sz="quarter" idx="11"/>
          </p:nvPr>
        </p:nvSpPr>
        <p:spPr/>
        <p:txBody>
          <a:bodyPr/>
          <a:lstStyle/>
          <a:p>
            <a:r>
              <a:rPr lang="en-US"/>
              <a:t>Confidential and Proprietary</a:t>
            </a:r>
          </a:p>
        </p:txBody>
      </p:sp>
      <p:sp>
        <p:nvSpPr>
          <p:cNvPr id="9" name="Slide Number Placeholder 8"/>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2908636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B2820F-31A7-4C7C-84B0-D05AC367F1A2}" type="datetime1">
              <a:rPr lang="en-US" smtClean="0"/>
              <a:t>7/1/2021</a:t>
            </a:fld>
            <a:endParaRPr lang="en-US"/>
          </a:p>
        </p:txBody>
      </p:sp>
      <p:sp>
        <p:nvSpPr>
          <p:cNvPr id="4" name="Footer Placeholder 3"/>
          <p:cNvSpPr>
            <a:spLocks noGrp="1"/>
          </p:cNvSpPr>
          <p:nvPr>
            <p:ph type="ftr" sz="quarter" idx="11"/>
          </p:nvPr>
        </p:nvSpPr>
        <p:spPr/>
        <p:txBody>
          <a:bodyPr/>
          <a:lstStyle/>
          <a:p>
            <a:r>
              <a:rPr lang="en-US"/>
              <a:t>Confidential and Proprietary</a:t>
            </a:r>
          </a:p>
        </p:txBody>
      </p:sp>
      <p:sp>
        <p:nvSpPr>
          <p:cNvPr id="5" name="Slide Number Placeholder 4"/>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4103751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F5AECC-F607-4DE5-A361-18841F7D7B05}" type="datetime1">
              <a:rPr lang="en-US" smtClean="0"/>
              <a:t>7/1/2021</a:t>
            </a:fld>
            <a:endParaRPr lang="en-US"/>
          </a:p>
        </p:txBody>
      </p:sp>
      <p:sp>
        <p:nvSpPr>
          <p:cNvPr id="3" name="Footer Placeholder 2"/>
          <p:cNvSpPr>
            <a:spLocks noGrp="1"/>
          </p:cNvSpPr>
          <p:nvPr>
            <p:ph type="ftr" sz="quarter" idx="11"/>
          </p:nvPr>
        </p:nvSpPr>
        <p:spPr/>
        <p:txBody>
          <a:bodyPr/>
          <a:lstStyle/>
          <a:p>
            <a:r>
              <a:rPr lang="en-US"/>
              <a:t>Confidential and Proprietary</a:t>
            </a:r>
          </a:p>
        </p:txBody>
      </p:sp>
      <p:sp>
        <p:nvSpPr>
          <p:cNvPr id="4" name="Slide Number Placeholder 3"/>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1465441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6FC3BD-D924-465A-9CA6-08580A40D7D4}" type="datetime1">
              <a:rPr lang="en-US" smtClean="0"/>
              <a:t>7/1/2021</a:t>
            </a:fld>
            <a:endParaRPr lang="en-US"/>
          </a:p>
        </p:txBody>
      </p:sp>
      <p:sp>
        <p:nvSpPr>
          <p:cNvPr id="6" name="Footer Placeholder 5"/>
          <p:cNvSpPr>
            <a:spLocks noGrp="1"/>
          </p:cNvSpPr>
          <p:nvPr>
            <p:ph type="ftr" sz="quarter" idx="11"/>
          </p:nvPr>
        </p:nvSpPr>
        <p:spPr/>
        <p:txBody>
          <a:bodyPr/>
          <a:lstStyle/>
          <a:p>
            <a:r>
              <a:rPr lang="en-US"/>
              <a:t>Confidential and Proprietary</a:t>
            </a:r>
          </a:p>
        </p:txBody>
      </p:sp>
      <p:sp>
        <p:nvSpPr>
          <p:cNvPr id="7" name="Slide Number Placeholder 6"/>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2139009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F7F8FD-3A5A-45C5-9D67-5A8D402CDE2E}" type="datetime1">
              <a:rPr lang="en-US" smtClean="0"/>
              <a:t>7/1/2021</a:t>
            </a:fld>
            <a:endParaRPr lang="en-US"/>
          </a:p>
        </p:txBody>
      </p:sp>
      <p:sp>
        <p:nvSpPr>
          <p:cNvPr id="6" name="Footer Placeholder 5"/>
          <p:cNvSpPr>
            <a:spLocks noGrp="1"/>
          </p:cNvSpPr>
          <p:nvPr>
            <p:ph type="ftr" sz="quarter" idx="11"/>
          </p:nvPr>
        </p:nvSpPr>
        <p:spPr/>
        <p:txBody>
          <a:bodyPr/>
          <a:lstStyle/>
          <a:p>
            <a:r>
              <a:rPr lang="en-US"/>
              <a:t>Confidential and Proprietary</a:t>
            </a:r>
          </a:p>
        </p:txBody>
      </p:sp>
      <p:sp>
        <p:nvSpPr>
          <p:cNvPr id="7" name="Slide Number Placeholder 6"/>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665200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19D07-D47B-4B9E-B227-EF5E8121FA3E}" type="datetime1">
              <a:rPr lang="en-US" smtClean="0"/>
              <a:t>7/1/2021</a:t>
            </a:fld>
            <a:endParaRPr lang="en-US"/>
          </a:p>
        </p:txBody>
      </p:sp>
      <p:sp>
        <p:nvSpPr>
          <p:cNvPr id="5" name="Footer Placeholder 4"/>
          <p:cNvSpPr>
            <a:spLocks noGrp="1"/>
          </p:cNvSpPr>
          <p:nvPr>
            <p:ph type="ftr" sz="quarter" idx="11"/>
          </p:nvPr>
        </p:nvSpPr>
        <p:spPr/>
        <p:txBody>
          <a:bodyPr/>
          <a:lstStyle/>
          <a:p>
            <a:r>
              <a:rPr lang="en-US"/>
              <a:t>Confidential and Proprietary</a:t>
            </a:r>
          </a:p>
        </p:txBody>
      </p:sp>
      <p:sp>
        <p:nvSpPr>
          <p:cNvPr id="6" name="Slide Number Placeholder 5"/>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607380040"/>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19D07-D47B-4B9E-B227-EF5E8121FA3E}" type="datetime1">
              <a:rPr lang="en-US" smtClean="0"/>
              <a:t>7/1/2021</a:t>
            </a:fld>
            <a:endParaRPr lang="en-US"/>
          </a:p>
        </p:txBody>
      </p:sp>
      <p:sp>
        <p:nvSpPr>
          <p:cNvPr id="5" name="Footer Placeholder 4"/>
          <p:cNvSpPr>
            <a:spLocks noGrp="1"/>
          </p:cNvSpPr>
          <p:nvPr>
            <p:ph type="ftr" sz="quarter" idx="11"/>
          </p:nvPr>
        </p:nvSpPr>
        <p:spPr/>
        <p:txBody>
          <a:bodyPr/>
          <a:lstStyle/>
          <a:p>
            <a:r>
              <a:rPr lang="en-US"/>
              <a:t>Confidential and Proprietary</a:t>
            </a:r>
          </a:p>
        </p:txBody>
      </p:sp>
      <p:sp>
        <p:nvSpPr>
          <p:cNvPr id="6" name="Slide Number Placeholder 5"/>
          <p:cNvSpPr>
            <a:spLocks noGrp="1"/>
          </p:cNvSpPr>
          <p:nvPr>
            <p:ph type="sldNum" sz="quarter" idx="12"/>
          </p:nvPr>
        </p:nvSpPr>
        <p:spPr/>
        <p:txBody>
          <a:bodyPr/>
          <a:lstStyle/>
          <a:p>
            <a:fld id="{D5C8F6DB-5BF7-4B35-9EC6-C3C895DDDA8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87825292"/>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19D07-D47B-4B9E-B227-EF5E8121FA3E}" type="datetime1">
              <a:rPr lang="en-US" smtClean="0"/>
              <a:t>7/1/2021</a:t>
            </a:fld>
            <a:endParaRPr lang="en-US"/>
          </a:p>
        </p:txBody>
      </p:sp>
      <p:sp>
        <p:nvSpPr>
          <p:cNvPr id="5" name="Footer Placeholder 4"/>
          <p:cNvSpPr>
            <a:spLocks noGrp="1"/>
          </p:cNvSpPr>
          <p:nvPr>
            <p:ph type="ftr" sz="quarter" idx="11"/>
          </p:nvPr>
        </p:nvSpPr>
        <p:spPr/>
        <p:txBody>
          <a:bodyPr/>
          <a:lstStyle/>
          <a:p>
            <a:r>
              <a:rPr lang="en-US"/>
              <a:t>Confidential and Proprietary</a:t>
            </a:r>
          </a:p>
        </p:txBody>
      </p:sp>
      <p:sp>
        <p:nvSpPr>
          <p:cNvPr id="6" name="Slide Number Placeholder 5"/>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3224595739"/>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19D07-D47B-4B9E-B227-EF5E8121FA3E}" type="datetime1">
              <a:rPr lang="en-US" smtClean="0"/>
              <a:t>7/1/2021</a:t>
            </a:fld>
            <a:endParaRPr lang="en-US"/>
          </a:p>
        </p:txBody>
      </p:sp>
      <p:sp>
        <p:nvSpPr>
          <p:cNvPr id="5" name="Footer Placeholder 4"/>
          <p:cNvSpPr>
            <a:spLocks noGrp="1"/>
          </p:cNvSpPr>
          <p:nvPr>
            <p:ph type="ftr" sz="quarter" idx="11"/>
          </p:nvPr>
        </p:nvSpPr>
        <p:spPr/>
        <p:txBody>
          <a:bodyPr/>
          <a:lstStyle/>
          <a:p>
            <a:r>
              <a:rPr lang="en-US"/>
              <a:t>Confidential and Proprietary</a:t>
            </a:r>
          </a:p>
        </p:txBody>
      </p:sp>
      <p:sp>
        <p:nvSpPr>
          <p:cNvPr id="6" name="Slide Number Placeholder 5"/>
          <p:cNvSpPr>
            <a:spLocks noGrp="1"/>
          </p:cNvSpPr>
          <p:nvPr>
            <p:ph type="sldNum" sz="quarter" idx="12"/>
          </p:nvPr>
        </p:nvSpPr>
        <p:spPr/>
        <p:txBody>
          <a:bodyPr/>
          <a:lstStyle/>
          <a:p>
            <a:fld id="{D5C8F6DB-5BF7-4B35-9EC6-C3C895DDDA8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70172847"/>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19D07-D47B-4B9E-B227-EF5E8121FA3E}" type="datetime1">
              <a:rPr lang="en-US" smtClean="0"/>
              <a:t>7/1/2021</a:t>
            </a:fld>
            <a:endParaRPr lang="en-US"/>
          </a:p>
        </p:txBody>
      </p:sp>
      <p:sp>
        <p:nvSpPr>
          <p:cNvPr id="5" name="Footer Placeholder 4"/>
          <p:cNvSpPr>
            <a:spLocks noGrp="1"/>
          </p:cNvSpPr>
          <p:nvPr>
            <p:ph type="ftr" sz="quarter" idx="11"/>
          </p:nvPr>
        </p:nvSpPr>
        <p:spPr/>
        <p:txBody>
          <a:bodyPr/>
          <a:lstStyle/>
          <a:p>
            <a:r>
              <a:rPr lang="en-US"/>
              <a:t>Confidential and Proprietary</a:t>
            </a:r>
          </a:p>
        </p:txBody>
      </p:sp>
      <p:sp>
        <p:nvSpPr>
          <p:cNvPr id="6" name="Slide Number Placeholder 5"/>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110417410"/>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65BF2D-CEB6-42C1-80CE-735F84205533}" type="datetime1">
              <a:rPr lang="en-US" smtClean="0"/>
              <a:t>7/1/2021</a:t>
            </a:fld>
            <a:endParaRPr lang="en-US"/>
          </a:p>
        </p:txBody>
      </p:sp>
      <p:sp>
        <p:nvSpPr>
          <p:cNvPr id="5" name="Footer Placeholder 4"/>
          <p:cNvSpPr>
            <a:spLocks noGrp="1"/>
          </p:cNvSpPr>
          <p:nvPr>
            <p:ph type="ftr" sz="quarter" idx="11"/>
          </p:nvPr>
        </p:nvSpPr>
        <p:spPr/>
        <p:txBody>
          <a:bodyPr/>
          <a:lstStyle/>
          <a:p>
            <a:r>
              <a:rPr lang="en-US"/>
              <a:t>Confidential and Proprietary</a:t>
            </a:r>
          </a:p>
        </p:txBody>
      </p:sp>
      <p:sp>
        <p:nvSpPr>
          <p:cNvPr id="6" name="Slide Number Placeholder 5"/>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202914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DA3853-7B4F-43A5-AD41-1BE509676267}" type="datetime1">
              <a:rPr lang="en-US" smtClean="0"/>
              <a:t>7/1/2021</a:t>
            </a:fld>
            <a:endParaRPr lang="en-US"/>
          </a:p>
        </p:txBody>
      </p:sp>
      <p:sp>
        <p:nvSpPr>
          <p:cNvPr id="5" name="Footer Placeholder 4"/>
          <p:cNvSpPr>
            <a:spLocks noGrp="1"/>
          </p:cNvSpPr>
          <p:nvPr>
            <p:ph type="ftr" sz="quarter" idx="11"/>
          </p:nvPr>
        </p:nvSpPr>
        <p:spPr/>
        <p:txBody>
          <a:bodyPr/>
          <a:lstStyle/>
          <a:p>
            <a:r>
              <a:rPr lang="en-US"/>
              <a:t>Confidential and Proprietary</a:t>
            </a:r>
          </a:p>
        </p:txBody>
      </p:sp>
      <p:sp>
        <p:nvSpPr>
          <p:cNvPr id="6" name="Slide Number Placeholder 5"/>
          <p:cNvSpPr>
            <a:spLocks noGrp="1"/>
          </p:cNvSpPr>
          <p:nvPr>
            <p:ph type="sldNum" sz="quarter" idx="12"/>
          </p:nvPr>
        </p:nvSpPr>
        <p:spPr/>
        <p:txBody>
          <a:bodyPr/>
          <a:lstStyle/>
          <a:p>
            <a:fld id="{D5C8F6DB-5BF7-4B35-9EC6-C3C895DDDA88}" type="slidenum">
              <a:rPr lang="en-US" smtClean="0"/>
              <a:t>‹#›</a:t>
            </a:fld>
            <a:endParaRPr lang="en-US"/>
          </a:p>
        </p:txBody>
      </p:sp>
    </p:spTree>
    <p:extLst>
      <p:ext uri="{BB962C8B-B14F-4D97-AF65-F5344CB8AC3E}">
        <p14:creationId xmlns:p14="http://schemas.microsoft.com/office/powerpoint/2010/main" val="3044581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6719D07-D47B-4B9E-B227-EF5E8121FA3E}" type="datetime1">
              <a:rPr lang="en-US" smtClean="0"/>
              <a:t>7/1/2021</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Confidential and Proprietary</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endParaRPr lang="en-US" dirty="0"/>
          </a:p>
        </p:txBody>
      </p:sp>
    </p:spTree>
    <p:extLst>
      <p:ext uri="{BB962C8B-B14F-4D97-AF65-F5344CB8AC3E}">
        <p14:creationId xmlns:p14="http://schemas.microsoft.com/office/powerpoint/2010/main" val="3069464017"/>
      </p:ext>
    </p:extLst>
  </p:cSld>
  <p:clrMap bg1="dk1" tx1="lt1" bg2="dk2" tx2="lt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fiscal.treasuzy.gov/surety-bonds/list-certified-%20companies.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94EDC-A0A8-4FD8-98F2-E752774D0661}"/>
              </a:ext>
            </a:extLst>
          </p:cNvPr>
          <p:cNvSpPr>
            <a:spLocks noGrp="1"/>
          </p:cNvSpPr>
          <p:nvPr>
            <p:ph type="ctrTitle"/>
          </p:nvPr>
        </p:nvSpPr>
        <p:spPr>
          <a:xfrm>
            <a:off x="4078834" y="905412"/>
            <a:ext cx="6421626" cy="2376915"/>
          </a:xfrm>
        </p:spPr>
        <p:txBody>
          <a:bodyPr>
            <a:normAutofit/>
          </a:bodyPr>
          <a:lstStyle/>
          <a:p>
            <a:pPr algn="ctr"/>
            <a:r>
              <a:rPr lang="en-US" sz="2400" b="1" dirty="0">
                <a:solidFill>
                  <a:schemeClr val="tx1"/>
                </a:solidFill>
                <a:latin typeface="Arial" panose="020B0604020202020204" pitchFamily="34" charset="0"/>
                <a:cs typeface="Arial" panose="020B0604020202020204" pitchFamily="34" charset="0"/>
              </a:rPr>
              <a:t>DEPOT-WIDE MINOR CONSTRUCTION</a:t>
            </a:r>
            <a:br>
              <a:rPr lang="en-US" sz="1800" dirty="0">
                <a:solidFill>
                  <a:schemeClr val="tx1"/>
                </a:solidFill>
                <a:latin typeface="Arial" panose="020B0604020202020204" pitchFamily="34" charset="0"/>
                <a:cs typeface="Arial" panose="020B0604020202020204" pitchFamily="34" charset="0"/>
              </a:rPr>
            </a:br>
            <a:r>
              <a:rPr lang="en-US" sz="1800" dirty="0">
                <a:solidFill>
                  <a:schemeClr val="tx1"/>
                </a:solidFill>
                <a:latin typeface="Arial" panose="020B0604020202020204" pitchFamily="34" charset="0"/>
                <a:cs typeface="Arial" panose="020B0604020202020204" pitchFamily="34" charset="0"/>
              </a:rPr>
              <a:t>MULTIPLE AWARD INDEFINITE DELIVERY INDEFINITE QUANTITY (IDIQ)</a:t>
            </a:r>
            <a:br>
              <a:rPr lang="en-US" sz="1800" dirty="0">
                <a:solidFill>
                  <a:schemeClr val="tx1"/>
                </a:solidFill>
                <a:latin typeface="Arial" panose="020B0604020202020204" pitchFamily="34" charset="0"/>
                <a:cs typeface="Arial" panose="020B0604020202020204" pitchFamily="34" charset="0"/>
              </a:rPr>
            </a:br>
            <a:r>
              <a:rPr lang="en-US" sz="1800" dirty="0">
                <a:solidFill>
                  <a:schemeClr val="tx1"/>
                </a:solidFill>
                <a:latin typeface="Arial" panose="020B0604020202020204" pitchFamily="34" charset="0"/>
                <a:cs typeface="Arial" panose="020B0604020202020204" pitchFamily="34" charset="0"/>
              </a:rPr>
              <a:t>MULTIPLE AWARD TASK ORDER CONTRACT (MATOC)</a:t>
            </a:r>
            <a:br>
              <a:rPr lang="en-US" sz="18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TOBYHANNA ARMY DEPOT</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W25G1V21R0014</a:t>
            </a:r>
          </a:p>
        </p:txBody>
      </p:sp>
      <p:pic>
        <p:nvPicPr>
          <p:cNvPr id="6" name="Picture 5">
            <a:extLst>
              <a:ext uri="{FF2B5EF4-FFF2-40B4-BE49-F238E27FC236}">
                <a16:creationId xmlns:a16="http://schemas.microsoft.com/office/drawing/2014/main" id="{8FA5510D-8C4A-4193-92C8-29006F2C6F96}"/>
              </a:ext>
            </a:extLst>
          </p:cNvPr>
          <p:cNvPicPr>
            <a:picLocks noChangeAspect="1"/>
          </p:cNvPicPr>
          <p:nvPr/>
        </p:nvPicPr>
        <p:blipFill rotWithShape="1">
          <a:blip r:embed="rId2"/>
          <a:srcRect l="7341" r="5693" b="-4"/>
          <a:stretch/>
        </p:blipFill>
        <p:spPr>
          <a:xfrm>
            <a:off x="716693" y="1689479"/>
            <a:ext cx="3362141" cy="3866172"/>
          </a:xfrm>
          <a:prstGeom prst="rect">
            <a:avLst/>
          </a:prstGeom>
        </p:spPr>
      </p:pic>
      <p:pic>
        <p:nvPicPr>
          <p:cNvPr id="5" name="Picture 4" descr="Logo, company name&#10;&#10;Description automatically generated">
            <a:extLst>
              <a:ext uri="{FF2B5EF4-FFF2-40B4-BE49-F238E27FC236}">
                <a16:creationId xmlns:a16="http://schemas.microsoft.com/office/drawing/2014/main" id="{F7951E49-D029-420C-B52D-BF0A5A3D3B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232" y="5966642"/>
            <a:ext cx="1653531" cy="746151"/>
          </a:xfrm>
          <a:prstGeom prst="rect">
            <a:avLst/>
          </a:prstGeom>
          <a:solidFill>
            <a:schemeClr val="bg1">
              <a:lumMod val="85000"/>
            </a:schemeClr>
          </a:solidFill>
        </p:spPr>
      </p:pic>
      <p:sp>
        <p:nvSpPr>
          <p:cNvPr id="7" name="TextBox 6">
            <a:extLst>
              <a:ext uri="{FF2B5EF4-FFF2-40B4-BE49-F238E27FC236}">
                <a16:creationId xmlns:a16="http://schemas.microsoft.com/office/drawing/2014/main" id="{F7CDAD20-7156-4A4B-BF70-F34AE5D82577}"/>
              </a:ext>
            </a:extLst>
          </p:cNvPr>
          <p:cNvSpPr txBox="1"/>
          <p:nvPr/>
        </p:nvSpPr>
        <p:spPr>
          <a:xfrm>
            <a:off x="4336433" y="3903256"/>
            <a:ext cx="1968809" cy="707886"/>
          </a:xfrm>
          <a:prstGeom prst="rect">
            <a:avLst/>
          </a:prstGeom>
          <a:noFill/>
        </p:spPr>
        <p:txBody>
          <a:bodyPr wrap="none" rtlCol="0">
            <a:spAutoFit/>
          </a:bodyPr>
          <a:lstStyle/>
          <a:p>
            <a:r>
              <a:rPr lang="en-US" sz="2000" dirty="0"/>
              <a:t>Proposal Kick-off</a:t>
            </a:r>
          </a:p>
          <a:p>
            <a:r>
              <a:rPr lang="en-US" sz="2000" dirty="0"/>
              <a:t>July 2, 2021</a:t>
            </a:r>
          </a:p>
        </p:txBody>
      </p:sp>
      <p:sp>
        <p:nvSpPr>
          <p:cNvPr id="39" name="TextBox 38">
            <a:extLst>
              <a:ext uri="{FF2B5EF4-FFF2-40B4-BE49-F238E27FC236}">
                <a16:creationId xmlns:a16="http://schemas.microsoft.com/office/drawing/2014/main" id="{05E7B4A3-BC7B-43E0-8761-295BA8E94DE3}"/>
              </a:ext>
            </a:extLst>
          </p:cNvPr>
          <p:cNvSpPr txBox="1"/>
          <p:nvPr/>
        </p:nvSpPr>
        <p:spPr>
          <a:xfrm>
            <a:off x="4302929" y="5112063"/>
            <a:ext cx="5973436" cy="400110"/>
          </a:xfrm>
          <a:prstGeom prst="rect">
            <a:avLst/>
          </a:prstGeom>
          <a:noFill/>
        </p:spPr>
        <p:txBody>
          <a:bodyPr wrap="square" rtlCol="0">
            <a:spAutoFit/>
          </a:bodyPr>
          <a:lstStyle/>
          <a:p>
            <a:r>
              <a:rPr lang="en-US" sz="2000" dirty="0"/>
              <a:t>Proposal Coordinator:  Kathylynn Barranco</a:t>
            </a:r>
          </a:p>
        </p:txBody>
      </p:sp>
    </p:spTree>
    <p:extLst>
      <p:ext uri="{BB962C8B-B14F-4D97-AF65-F5344CB8AC3E}">
        <p14:creationId xmlns:p14="http://schemas.microsoft.com/office/powerpoint/2010/main" val="1697345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7C2BE-8E53-4096-87BF-E52D2658EA38}"/>
              </a:ext>
            </a:extLst>
          </p:cNvPr>
          <p:cNvSpPr>
            <a:spLocks noGrp="1"/>
          </p:cNvSpPr>
          <p:nvPr>
            <p:ph type="title"/>
          </p:nvPr>
        </p:nvSpPr>
        <p:spPr>
          <a:xfrm>
            <a:off x="485745" y="121920"/>
            <a:ext cx="8596668" cy="1320800"/>
          </a:xfrm>
        </p:spPr>
        <p:txBody>
          <a:bodyPr>
            <a:normAutofit/>
          </a:bodyPr>
          <a:lstStyle/>
          <a:p>
            <a:r>
              <a:rPr lang="en-US" sz="2000" b="1" dirty="0">
                <a:latin typeface="Arial" panose="020B0604020202020204" pitchFamily="34" charset="0"/>
                <a:cs typeface="Arial" panose="020B0604020202020204" pitchFamily="34" charset="0"/>
              </a:rPr>
              <a:t>ACTIVATION AGENDA</a:t>
            </a:r>
          </a:p>
        </p:txBody>
      </p:sp>
      <p:sp>
        <p:nvSpPr>
          <p:cNvPr id="6" name="TextBox 5">
            <a:extLst>
              <a:ext uri="{FF2B5EF4-FFF2-40B4-BE49-F238E27FC236}">
                <a16:creationId xmlns:a16="http://schemas.microsoft.com/office/drawing/2014/main" id="{3A6C49DB-D408-4A96-B1BB-5DFD0FF0DC80}"/>
              </a:ext>
            </a:extLst>
          </p:cNvPr>
          <p:cNvSpPr txBox="1"/>
          <p:nvPr/>
        </p:nvSpPr>
        <p:spPr>
          <a:xfrm>
            <a:off x="11260182" y="6409509"/>
            <a:ext cx="261610" cy="261610"/>
          </a:xfrm>
          <a:prstGeom prst="rect">
            <a:avLst/>
          </a:prstGeom>
          <a:noFill/>
        </p:spPr>
        <p:txBody>
          <a:bodyPr wrap="none" rtlCol="0">
            <a:spAutoFit/>
          </a:bodyPr>
          <a:lstStyle/>
          <a:p>
            <a:r>
              <a:rPr lang="en-US" sz="1100" b="1" dirty="0">
                <a:solidFill>
                  <a:schemeClr val="bg1"/>
                </a:solidFill>
                <a:latin typeface="Arial" panose="020B0604020202020204" pitchFamily="34" charset="0"/>
                <a:cs typeface="Arial" panose="020B0604020202020204" pitchFamily="34" charset="0"/>
              </a:rPr>
              <a:t>ii</a:t>
            </a:r>
          </a:p>
        </p:txBody>
      </p:sp>
    </p:spTree>
    <p:extLst>
      <p:ext uri="{BB962C8B-B14F-4D97-AF65-F5344CB8AC3E}">
        <p14:creationId xmlns:p14="http://schemas.microsoft.com/office/powerpoint/2010/main" val="941511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8E210-172E-4C82-A01B-22A46ACB2D9B}"/>
              </a:ext>
            </a:extLst>
          </p:cNvPr>
          <p:cNvSpPr>
            <a:spLocks noGrp="1"/>
          </p:cNvSpPr>
          <p:nvPr>
            <p:ph type="title"/>
          </p:nvPr>
        </p:nvSpPr>
        <p:spPr/>
        <p:txBody>
          <a:bodyPr/>
          <a:lstStyle/>
          <a:p>
            <a:r>
              <a:rPr lang="en-US" dirty="0">
                <a:solidFill>
                  <a:schemeClr val="tx1"/>
                </a:solidFill>
              </a:rPr>
              <a:t>Opportunity Overview</a:t>
            </a:r>
            <a:br>
              <a:rPr lang="en-US" dirty="0"/>
            </a:br>
            <a:endParaRPr lang="en-US" dirty="0"/>
          </a:p>
        </p:txBody>
      </p:sp>
      <p:graphicFrame>
        <p:nvGraphicFramePr>
          <p:cNvPr id="5" name="Group 57">
            <a:extLst>
              <a:ext uri="{FF2B5EF4-FFF2-40B4-BE49-F238E27FC236}">
                <a16:creationId xmlns:a16="http://schemas.microsoft.com/office/drawing/2014/main" id="{394078E4-3E38-49EE-A8CC-1F9E0254C5A3}"/>
              </a:ext>
            </a:extLst>
          </p:cNvPr>
          <p:cNvGraphicFramePr>
            <a:graphicFrameLocks noGrp="1"/>
          </p:cNvGraphicFramePr>
          <p:nvPr>
            <p:extLst>
              <p:ext uri="{D42A27DB-BD31-4B8C-83A1-F6EECF244321}">
                <p14:modId xmlns:p14="http://schemas.microsoft.com/office/powerpoint/2010/main" val="4128215034"/>
              </p:ext>
            </p:extLst>
          </p:nvPr>
        </p:nvGraphicFramePr>
        <p:xfrm>
          <a:off x="789246" y="1672046"/>
          <a:ext cx="8372844" cy="3879668"/>
        </p:xfrm>
        <a:graphic>
          <a:graphicData uri="http://schemas.openxmlformats.org/drawingml/2006/table">
            <a:tbl>
              <a:tblPr>
                <a:tableStyleId>{284E427A-3D55-4303-BF80-6455036E1DE7}</a:tableStyleId>
              </a:tblPr>
              <a:tblGrid>
                <a:gridCol w="3091909">
                  <a:extLst>
                    <a:ext uri="{9D8B030D-6E8A-4147-A177-3AD203B41FA5}">
                      <a16:colId xmlns:a16="http://schemas.microsoft.com/office/drawing/2014/main" val="20000"/>
                    </a:ext>
                  </a:extLst>
                </a:gridCol>
                <a:gridCol w="5280935">
                  <a:extLst>
                    <a:ext uri="{9D8B030D-6E8A-4147-A177-3AD203B41FA5}">
                      <a16:colId xmlns:a16="http://schemas.microsoft.com/office/drawing/2014/main" val="20001"/>
                    </a:ext>
                  </a:extLst>
                </a:gridCol>
              </a:tblGrid>
              <a:tr h="610633">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u="none" strike="noStrike" cap="none" normalizeH="0" baseline="0" dirty="0">
                          <a:ln>
                            <a:noFill/>
                          </a:ln>
                          <a:solidFill>
                            <a:schemeClr val="tx1"/>
                          </a:solidFill>
                          <a:effectLst/>
                        </a:rPr>
                        <a:t>Name</a:t>
                      </a:r>
                      <a:endParaRPr kumimoji="0" lang="en-US" sz="2000" b="1" i="0" u="none" strike="noStrike" cap="none" normalizeH="0" baseline="0" dirty="0">
                        <a:ln>
                          <a:noFill/>
                        </a:ln>
                        <a:solidFill>
                          <a:schemeClr val="tx1"/>
                        </a:solidFill>
                        <a:effectLst/>
                        <a:latin typeface="Arial Narrow" pitchFamily="34" charset="0"/>
                        <a:ea typeface="ＭＳ Ｐゴシック" pitchFamily="47" charset="-128"/>
                      </a:endParaRPr>
                    </a:p>
                  </a:txBody>
                  <a:tcPr marL="91447" marR="91447" marT="45714" marB="45714" anchor="b" horzOverflow="overflow">
                    <a:solidFill>
                      <a:schemeClr val="accent1">
                        <a:lumMod val="75000"/>
                      </a:schemeClr>
                    </a:solidFill>
                  </a:tcPr>
                </a:tc>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u="none" strike="noStrike" cap="none" normalizeH="0" baseline="0" dirty="0">
                          <a:ln>
                            <a:noFill/>
                          </a:ln>
                          <a:solidFill>
                            <a:schemeClr val="tx1"/>
                          </a:solidFill>
                          <a:effectLst/>
                        </a:rPr>
                        <a:t>Proposal Role/Section</a:t>
                      </a:r>
                      <a:endParaRPr kumimoji="0" lang="en-US" sz="2000" b="1" i="0" u="none" strike="noStrike" cap="none" normalizeH="0" baseline="0" dirty="0">
                        <a:ln>
                          <a:noFill/>
                        </a:ln>
                        <a:solidFill>
                          <a:schemeClr val="tx1"/>
                        </a:solidFill>
                        <a:effectLst/>
                        <a:latin typeface="Arial Narrow" pitchFamily="34" charset="0"/>
                        <a:ea typeface="ＭＳ Ｐゴシック" pitchFamily="47" charset="-128"/>
                      </a:endParaRPr>
                    </a:p>
                  </a:txBody>
                  <a:tcPr marL="91447" marR="91447" marT="45714" marB="45714" anchor="b" horzOverflow="overflow">
                    <a:solidFill>
                      <a:schemeClr val="accent1">
                        <a:lumMod val="75000"/>
                      </a:schemeClr>
                    </a:solidFill>
                  </a:tcPr>
                </a:tc>
                <a:extLst>
                  <a:ext uri="{0D108BD9-81ED-4DB2-BD59-A6C34878D82A}">
                    <a16:rowId xmlns:a16="http://schemas.microsoft.com/office/drawing/2014/main" val="10000"/>
                  </a:ext>
                </a:extLst>
              </a:tr>
              <a:tr h="467005">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rPr>
                        <a:t>Cecil Whitlock</a:t>
                      </a:r>
                      <a:endParaRPr lang="en-US" sz="2000" b="1" dirty="0">
                        <a:solidFill>
                          <a:schemeClr val="bg1"/>
                        </a:solidFill>
                        <a:latin typeface="Arial Narrow" pitchFamily="34" charset="0"/>
                        <a:ea typeface="ＭＳ Ｐゴシック" charset="-128"/>
                        <a:cs typeface="Arial" charset="0"/>
                      </a:endParaRPr>
                    </a:p>
                  </a:txBody>
                  <a:tcPr marL="91447" marR="91447" marT="45714" marB="45714" horzOverflow="overflow">
                    <a:solidFill>
                      <a:schemeClr val="accent1">
                        <a:lumMod val="20000"/>
                        <a:lumOff val="80000"/>
                      </a:schemeClr>
                    </a:solidFill>
                  </a:tcPr>
                </a:tc>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rPr>
                        <a:t>BD Managing Director</a:t>
                      </a:r>
                      <a:endParaRPr lang="en-US" sz="2000" b="1" dirty="0">
                        <a:solidFill>
                          <a:schemeClr val="bg1"/>
                        </a:solidFill>
                        <a:latin typeface="Arial Narrow" pitchFamily="34" charset="0"/>
                        <a:ea typeface="ＭＳ Ｐゴシック" charset="-128"/>
                        <a:cs typeface="Arial" charset="0"/>
                      </a:endParaRPr>
                    </a:p>
                  </a:txBody>
                  <a:tcPr marL="91447" marR="91447" marT="45714" marB="45714" horzOverflow="overflow">
                    <a:solidFill>
                      <a:schemeClr val="accent1">
                        <a:lumMod val="20000"/>
                        <a:lumOff val="80000"/>
                      </a:schemeClr>
                    </a:solidFill>
                  </a:tcPr>
                </a:tc>
                <a:extLst>
                  <a:ext uri="{0D108BD9-81ED-4DB2-BD59-A6C34878D82A}">
                    <a16:rowId xmlns:a16="http://schemas.microsoft.com/office/drawing/2014/main" val="10002"/>
                  </a:ext>
                </a:extLst>
              </a:tr>
              <a:tr h="467005">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rPr>
                        <a:t>Niki Bradshaw</a:t>
                      </a:r>
                      <a:endParaRPr lang="en-US" sz="2000" b="1" dirty="0">
                        <a:solidFill>
                          <a:schemeClr val="bg1"/>
                        </a:solidFill>
                        <a:latin typeface="Arial Narrow" pitchFamily="34" charset="0"/>
                        <a:ea typeface="ＭＳ Ｐゴシック" charset="-128"/>
                        <a:cs typeface="Arial" charset="0"/>
                      </a:endParaRPr>
                    </a:p>
                  </a:txBody>
                  <a:tcPr marL="91447" marR="91447" marT="45714" marB="45714" horzOverflow="overflow"/>
                </a:tc>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rPr>
                        <a:t>BD Manager</a:t>
                      </a:r>
                      <a:endParaRPr lang="en-US" sz="2000" b="1" dirty="0">
                        <a:solidFill>
                          <a:schemeClr val="bg1"/>
                        </a:solidFill>
                        <a:latin typeface="Arial Narrow" pitchFamily="34" charset="0"/>
                        <a:ea typeface="ＭＳ Ｐゴシック" charset="-128"/>
                        <a:cs typeface="Arial" charset="0"/>
                      </a:endParaRPr>
                    </a:p>
                  </a:txBody>
                  <a:tcPr marL="91447" marR="91447" marT="45714" marB="45714" horzOverflow="overflow"/>
                </a:tc>
                <a:extLst>
                  <a:ext uri="{0D108BD9-81ED-4DB2-BD59-A6C34878D82A}">
                    <a16:rowId xmlns:a16="http://schemas.microsoft.com/office/drawing/2014/main" val="10003"/>
                  </a:ext>
                </a:extLst>
              </a:tr>
              <a:tr h="467005">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rPr>
                        <a:t>Kathylynn Barranco</a:t>
                      </a:r>
                      <a:endParaRPr lang="en-US" sz="2000" b="1" dirty="0">
                        <a:solidFill>
                          <a:schemeClr val="bg1"/>
                        </a:solidFill>
                        <a:latin typeface="Arial Narrow" pitchFamily="34" charset="0"/>
                        <a:ea typeface="ＭＳ Ｐゴシック" charset="-128"/>
                        <a:cs typeface="Arial" charset="0"/>
                      </a:endParaRPr>
                    </a:p>
                  </a:txBody>
                  <a:tcPr marL="91447" marR="91447" marT="45714" marB="45714" horzOverflow="overflow">
                    <a:solidFill>
                      <a:schemeClr val="accent1">
                        <a:lumMod val="20000"/>
                        <a:lumOff val="80000"/>
                      </a:schemeClr>
                    </a:solidFill>
                  </a:tcPr>
                </a:tc>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rPr>
                        <a:t>Proposal Coordinator</a:t>
                      </a:r>
                      <a:endParaRPr lang="en-US" sz="2000" b="1" dirty="0">
                        <a:solidFill>
                          <a:schemeClr val="bg1"/>
                        </a:solidFill>
                        <a:latin typeface="Arial Narrow" pitchFamily="34" charset="0"/>
                        <a:ea typeface="ＭＳ Ｐゴシック" charset="-128"/>
                        <a:cs typeface="Arial" charset="0"/>
                      </a:endParaRPr>
                    </a:p>
                  </a:txBody>
                  <a:tcPr marL="91447" marR="91447" marT="45714" marB="45714" horzOverflow="overflow">
                    <a:solidFill>
                      <a:schemeClr val="accent1">
                        <a:lumMod val="20000"/>
                        <a:lumOff val="80000"/>
                      </a:schemeClr>
                    </a:solidFill>
                  </a:tcPr>
                </a:tc>
                <a:extLst>
                  <a:ext uri="{0D108BD9-81ED-4DB2-BD59-A6C34878D82A}">
                    <a16:rowId xmlns:a16="http://schemas.microsoft.com/office/drawing/2014/main" val="10004"/>
                  </a:ext>
                </a:extLst>
              </a:tr>
              <a:tr h="467005">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r>
                        <a:rPr lang="en-US" sz="2000" b="1" dirty="0">
                          <a:solidFill>
                            <a:schemeClr val="bg1"/>
                          </a:solidFill>
                        </a:rPr>
                        <a:t>Kendra King Bowes</a:t>
                      </a:r>
                      <a:endParaRPr lang="en-US" sz="2000" b="1" dirty="0">
                        <a:solidFill>
                          <a:schemeClr val="bg1"/>
                        </a:solidFill>
                        <a:latin typeface="Arial Narrow" pitchFamily="34" charset="0"/>
                      </a:endParaRPr>
                    </a:p>
                  </a:txBody>
                  <a:tcPr marL="91447" marR="91447" marT="45714" marB="45714" horzOverflow="overflow"/>
                </a:tc>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rPr>
                        <a:t>Administrative / Proposal Director</a:t>
                      </a:r>
                      <a:endParaRPr lang="en-US" sz="2000" b="1" dirty="0">
                        <a:solidFill>
                          <a:schemeClr val="bg1"/>
                        </a:solidFill>
                        <a:latin typeface="Arial Narrow" pitchFamily="34" charset="0"/>
                        <a:ea typeface="ＭＳ Ｐゴシック" charset="-128"/>
                        <a:cs typeface="Arial" charset="0"/>
                      </a:endParaRPr>
                    </a:p>
                  </a:txBody>
                  <a:tcPr marL="91447" marR="91447" marT="45714" marB="45714" horzOverflow="overflow"/>
                </a:tc>
                <a:extLst>
                  <a:ext uri="{0D108BD9-81ED-4DB2-BD59-A6C34878D82A}">
                    <a16:rowId xmlns:a16="http://schemas.microsoft.com/office/drawing/2014/main" val="10005"/>
                  </a:ext>
                </a:extLst>
              </a:tr>
              <a:tr h="467005">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rPr>
                        <a:t>Harry Brown</a:t>
                      </a:r>
                      <a:endParaRPr lang="en-US" sz="2000" b="1" dirty="0">
                        <a:solidFill>
                          <a:schemeClr val="bg1"/>
                        </a:solidFill>
                        <a:latin typeface="Arial Narrow" pitchFamily="34" charset="0"/>
                        <a:ea typeface="ＭＳ Ｐゴシック" charset="-128"/>
                        <a:cs typeface="Arial" charset="0"/>
                      </a:endParaRPr>
                    </a:p>
                  </a:txBody>
                  <a:tcPr marL="91447" marR="91447" marT="45714" marB="45714" horzOverflow="overflow">
                    <a:solidFill>
                      <a:schemeClr val="accent1">
                        <a:lumMod val="20000"/>
                        <a:lumOff val="80000"/>
                      </a:schemeClr>
                    </a:solidFill>
                  </a:tcPr>
                </a:tc>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rPr>
                        <a:t>General Manager, Wiipica</a:t>
                      </a:r>
                      <a:endParaRPr lang="en-US" sz="2000" b="1" dirty="0">
                        <a:solidFill>
                          <a:schemeClr val="bg1"/>
                        </a:solidFill>
                        <a:latin typeface="Arial Narrow" pitchFamily="34" charset="0"/>
                        <a:ea typeface="ＭＳ Ｐゴシック" charset="-128"/>
                        <a:cs typeface="Arial" charset="0"/>
                      </a:endParaRPr>
                    </a:p>
                  </a:txBody>
                  <a:tcPr marL="91447" marR="91447" marT="45714" marB="45714" horzOverflow="overflow">
                    <a:solidFill>
                      <a:schemeClr val="accent1">
                        <a:lumMod val="20000"/>
                        <a:lumOff val="80000"/>
                      </a:schemeClr>
                    </a:solidFill>
                  </a:tcPr>
                </a:tc>
                <a:extLst>
                  <a:ext uri="{0D108BD9-81ED-4DB2-BD59-A6C34878D82A}">
                    <a16:rowId xmlns:a16="http://schemas.microsoft.com/office/drawing/2014/main" val="10006"/>
                  </a:ext>
                </a:extLst>
              </a:tr>
              <a:tr h="467005">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rPr>
                        <a:t>Daniela David</a:t>
                      </a:r>
                      <a:endParaRPr lang="en-US" sz="2000" b="1" dirty="0">
                        <a:solidFill>
                          <a:schemeClr val="bg1"/>
                        </a:solidFill>
                        <a:latin typeface="Arial Narrow" pitchFamily="34" charset="0"/>
                        <a:ea typeface="ＭＳ Ｐゴシック" charset="-128"/>
                        <a:cs typeface="Arial" charset="0"/>
                      </a:endParaRPr>
                    </a:p>
                  </a:txBody>
                  <a:tcPr marL="91447" marR="91447" marT="45714" marB="45714" horzOverflow="overflow"/>
                </a:tc>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rPr>
                        <a:t>VP Finance</a:t>
                      </a:r>
                      <a:endParaRPr lang="en-US" sz="2000" b="1" dirty="0">
                        <a:solidFill>
                          <a:schemeClr val="bg1"/>
                        </a:solidFill>
                        <a:latin typeface="Arial Narrow" pitchFamily="34" charset="0"/>
                        <a:ea typeface="ＭＳ Ｐゴシック" charset="-128"/>
                        <a:cs typeface="Arial" charset="0"/>
                      </a:endParaRPr>
                    </a:p>
                  </a:txBody>
                  <a:tcPr marL="91447" marR="91447" marT="45714" marB="45714" horzOverflow="overflow"/>
                </a:tc>
                <a:extLst>
                  <a:ext uri="{0D108BD9-81ED-4DB2-BD59-A6C34878D82A}">
                    <a16:rowId xmlns:a16="http://schemas.microsoft.com/office/drawing/2014/main" val="10007"/>
                  </a:ext>
                </a:extLst>
              </a:tr>
              <a:tr h="467005">
                <a:tc>
                  <a:txBody>
                    <a:bodyPr/>
                    <a:lstStyle>
                      <a:lvl1pPr marL="0" algn="l" defTabSz="457200" rtl="0" eaLnBrk="1" latinLnBrk="0" hangingPunct="1">
                        <a:defRPr sz="1800" kern="1200">
                          <a:solidFill>
                            <a:schemeClr val="tx1"/>
                          </a:solidFill>
                          <a:latin typeface="Futura Std Book"/>
                        </a:defRPr>
                      </a:lvl1pPr>
                      <a:lvl2pPr marL="457200" algn="l" defTabSz="457200" rtl="0" eaLnBrk="1" latinLnBrk="0" hangingPunct="1">
                        <a:defRPr sz="1800" kern="1200">
                          <a:solidFill>
                            <a:schemeClr val="tx1"/>
                          </a:solidFill>
                          <a:latin typeface="Futura Std Book"/>
                        </a:defRPr>
                      </a:lvl2pPr>
                      <a:lvl3pPr marL="914400" algn="l" defTabSz="457200" rtl="0" eaLnBrk="1" latinLnBrk="0" hangingPunct="1">
                        <a:defRPr sz="1800" kern="1200">
                          <a:solidFill>
                            <a:schemeClr val="tx1"/>
                          </a:solidFill>
                          <a:latin typeface="Futura Std Book"/>
                        </a:defRPr>
                      </a:lvl3pPr>
                      <a:lvl4pPr marL="1371600" algn="l" defTabSz="457200" rtl="0" eaLnBrk="1" latinLnBrk="0" hangingPunct="1">
                        <a:defRPr sz="1800" kern="1200">
                          <a:solidFill>
                            <a:schemeClr val="tx1"/>
                          </a:solidFill>
                          <a:latin typeface="Futura Std Book"/>
                        </a:defRPr>
                      </a:lvl4pPr>
                      <a:lvl5pPr marL="1828800" algn="l" defTabSz="457200" rtl="0" eaLnBrk="1" latinLnBrk="0" hangingPunct="1">
                        <a:defRPr sz="1800" kern="1200">
                          <a:solidFill>
                            <a:schemeClr val="tx1"/>
                          </a:solidFill>
                          <a:latin typeface="Futura Std Book"/>
                        </a:defRPr>
                      </a:lvl5pPr>
                      <a:lvl6pPr marL="2286000" algn="l" defTabSz="457200" rtl="0" eaLnBrk="1" latinLnBrk="0" hangingPunct="1">
                        <a:defRPr sz="1800" kern="1200">
                          <a:solidFill>
                            <a:schemeClr val="tx1"/>
                          </a:solidFill>
                          <a:latin typeface="Futura Std Book"/>
                        </a:defRPr>
                      </a:lvl6pPr>
                      <a:lvl7pPr marL="2743200" algn="l" defTabSz="457200" rtl="0" eaLnBrk="1" latinLnBrk="0" hangingPunct="1">
                        <a:defRPr sz="1800" kern="1200">
                          <a:solidFill>
                            <a:schemeClr val="tx1"/>
                          </a:solidFill>
                          <a:latin typeface="Futura Std Book"/>
                        </a:defRPr>
                      </a:lvl7pPr>
                      <a:lvl8pPr marL="3200400" algn="l" defTabSz="457200" rtl="0" eaLnBrk="1" latinLnBrk="0" hangingPunct="1">
                        <a:defRPr sz="1800" kern="1200">
                          <a:solidFill>
                            <a:schemeClr val="tx1"/>
                          </a:solidFill>
                          <a:latin typeface="Futura Std Book"/>
                        </a:defRPr>
                      </a:lvl8pPr>
                      <a:lvl9pPr marL="3657600" algn="l" defTabSz="457200" rtl="0" eaLnBrk="1" latinLnBrk="0" hangingPunct="1">
                        <a:defRPr sz="1800" kern="1200">
                          <a:solidFill>
                            <a:schemeClr val="tx1"/>
                          </a:solidFill>
                          <a:latin typeface="Futura Std Book"/>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dirty="0">
                          <a:solidFill>
                            <a:schemeClr val="bg1"/>
                          </a:solidFill>
                          <a:latin typeface="Arial Narrow" pitchFamily="34" charset="0"/>
                          <a:ea typeface="ＭＳ Ｐゴシック" charset="-128"/>
                          <a:cs typeface="Arial" charset="0"/>
                        </a:rPr>
                        <a:t>Eric Coffee</a:t>
                      </a:r>
                    </a:p>
                  </a:txBody>
                  <a:tcPr marL="91447" marR="91447" marT="45714" marB="45714" horzOverflow="overflow">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kern="1200" dirty="0">
                          <a:solidFill>
                            <a:schemeClr val="bg1"/>
                          </a:solidFill>
                          <a:latin typeface="Futura Std Book"/>
                          <a:ea typeface="+mn-ea"/>
                          <a:cs typeface="+mn-cs"/>
                        </a:rPr>
                        <a:t>Excel POC / Consultant</a:t>
                      </a:r>
                    </a:p>
                  </a:txBody>
                  <a:tcPr marL="91447" marR="91447" marT="45714" marB="45714" horzOverflow="overflow">
                    <a:solidFill>
                      <a:schemeClr val="accent1">
                        <a:lumMod val="20000"/>
                        <a:lumOff val="80000"/>
                      </a:schemeClr>
                    </a:solidFill>
                  </a:tcPr>
                </a:tc>
                <a:extLst>
                  <a:ext uri="{0D108BD9-81ED-4DB2-BD59-A6C34878D82A}">
                    <a16:rowId xmlns:a16="http://schemas.microsoft.com/office/drawing/2014/main" val="10015"/>
                  </a:ext>
                </a:extLst>
              </a:tr>
            </a:tbl>
          </a:graphicData>
        </a:graphic>
      </p:graphicFrame>
      <p:sp>
        <p:nvSpPr>
          <p:cNvPr id="6" name="TextBox 5">
            <a:extLst>
              <a:ext uri="{FF2B5EF4-FFF2-40B4-BE49-F238E27FC236}">
                <a16:creationId xmlns:a16="http://schemas.microsoft.com/office/drawing/2014/main" id="{3133B618-71D8-4547-9D96-8708362BA7CD}"/>
              </a:ext>
            </a:extLst>
          </p:cNvPr>
          <p:cNvSpPr txBox="1"/>
          <p:nvPr/>
        </p:nvSpPr>
        <p:spPr>
          <a:xfrm>
            <a:off x="11260182" y="6409509"/>
            <a:ext cx="638316" cy="261610"/>
          </a:xfrm>
          <a:prstGeom prst="rect">
            <a:avLst/>
          </a:prstGeom>
          <a:noFill/>
        </p:spPr>
        <p:txBody>
          <a:bodyPr wrap="none" rtlCol="0">
            <a:spAutoFit/>
          </a:bodyPr>
          <a:lstStyle/>
          <a:p>
            <a:r>
              <a:rPr lang="en-US" sz="1100" b="1" dirty="0">
                <a:solidFill>
                  <a:schemeClr val="bg1"/>
                </a:solidFill>
                <a:latin typeface="Arial" panose="020B0604020202020204" pitchFamily="34" charset="0"/>
                <a:cs typeface="Arial" panose="020B0604020202020204" pitchFamily="34" charset="0"/>
              </a:rPr>
              <a:t>Slide 1</a:t>
            </a:r>
          </a:p>
        </p:txBody>
      </p:sp>
    </p:spTree>
    <p:extLst>
      <p:ext uri="{BB962C8B-B14F-4D97-AF65-F5344CB8AC3E}">
        <p14:creationId xmlns:p14="http://schemas.microsoft.com/office/powerpoint/2010/main" val="3611797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77E4E-7D87-4941-AF83-1353A5C94EF8}"/>
              </a:ext>
            </a:extLst>
          </p:cNvPr>
          <p:cNvSpPr>
            <a:spLocks noGrp="1"/>
          </p:cNvSpPr>
          <p:nvPr>
            <p:ph type="title"/>
          </p:nvPr>
        </p:nvSpPr>
        <p:spPr/>
        <p:txBody>
          <a:bodyPr/>
          <a:lstStyle/>
          <a:p>
            <a:r>
              <a:rPr lang="en-US" dirty="0"/>
              <a:t>Solicitation Details</a:t>
            </a:r>
          </a:p>
        </p:txBody>
      </p:sp>
      <p:sp>
        <p:nvSpPr>
          <p:cNvPr id="3" name="Content Placeholder 2">
            <a:extLst>
              <a:ext uri="{FF2B5EF4-FFF2-40B4-BE49-F238E27FC236}">
                <a16:creationId xmlns:a16="http://schemas.microsoft.com/office/drawing/2014/main" id="{19C4E844-DD81-4C4F-B6FC-4B718D39BA84}"/>
              </a:ext>
            </a:extLst>
          </p:cNvPr>
          <p:cNvSpPr>
            <a:spLocks noGrp="1"/>
          </p:cNvSpPr>
          <p:nvPr>
            <p:ph idx="1"/>
          </p:nvPr>
        </p:nvSpPr>
        <p:spPr>
          <a:xfrm>
            <a:off x="677334" y="1488613"/>
            <a:ext cx="8596668" cy="4917874"/>
          </a:xfrm>
        </p:spPr>
        <p:txBody>
          <a:bodyPr>
            <a:normAutofit fontScale="40000" lnSpcReduction="20000"/>
          </a:bodyPr>
          <a:lstStyle/>
          <a:p>
            <a:pPr>
              <a:spcAft>
                <a:spcPts val="600"/>
              </a:spcAft>
            </a:pPr>
            <a:r>
              <a:rPr lang="en-US" sz="4500" dirty="0">
                <a:latin typeface="Arial" panose="020B0604020202020204" pitchFamily="34" charset="0"/>
                <a:cs typeface="Arial" panose="020B0604020202020204" pitchFamily="34" charset="0"/>
              </a:rPr>
              <a:t>Solicitation #: W25G1V21R0014</a:t>
            </a:r>
          </a:p>
          <a:p>
            <a:pPr>
              <a:spcAft>
                <a:spcPts val="600"/>
              </a:spcAft>
            </a:pPr>
            <a:r>
              <a:rPr lang="en-US" sz="4500" dirty="0">
                <a:latin typeface="Arial" panose="020B0604020202020204" pitchFamily="34" charset="0"/>
                <a:cs typeface="Arial" panose="020B0604020202020204" pitchFamily="34" charset="0"/>
              </a:rPr>
              <a:t>Solicitation Issued By:  ACC-APG TOBYHANNA DIVISION</a:t>
            </a:r>
          </a:p>
          <a:p>
            <a:pPr>
              <a:spcAft>
                <a:spcPts val="600"/>
              </a:spcAft>
            </a:pPr>
            <a:r>
              <a:rPr lang="en-US" sz="4500" dirty="0">
                <a:latin typeface="Arial" panose="020B0604020202020204" pitchFamily="34" charset="0"/>
                <a:cs typeface="Arial" panose="020B0604020202020204" pitchFamily="34" charset="0"/>
              </a:rPr>
              <a:t>Multiple Award:  Small Business set-aside IDIQ </a:t>
            </a:r>
          </a:p>
          <a:p>
            <a:pPr>
              <a:spcAft>
                <a:spcPts val="600"/>
              </a:spcAft>
            </a:pPr>
            <a:r>
              <a:rPr lang="en-US" sz="4500" dirty="0">
                <a:latin typeface="Arial" panose="020B0604020202020204" pitchFamily="34" charset="0"/>
                <a:cs typeface="Arial" panose="020B0604020202020204" pitchFamily="34" charset="0"/>
              </a:rPr>
              <a:t>Contract Value:  $10M (Page 6)</a:t>
            </a:r>
          </a:p>
          <a:p>
            <a:pPr>
              <a:spcAft>
                <a:spcPts val="600"/>
              </a:spcAft>
            </a:pPr>
            <a:r>
              <a:rPr lang="en-US" sz="4500" dirty="0">
                <a:latin typeface="Arial" panose="020B0604020202020204" pitchFamily="34" charset="0"/>
                <a:cs typeface="Arial" panose="020B0604020202020204" pitchFamily="34" charset="0"/>
              </a:rPr>
              <a:t>Period of Performance: October 2021 – September 2026</a:t>
            </a:r>
          </a:p>
          <a:p>
            <a:pPr lvl="1">
              <a:spcAft>
                <a:spcPts val="600"/>
              </a:spcAft>
            </a:pPr>
            <a:r>
              <a:rPr lang="en-US" sz="4500" dirty="0">
                <a:latin typeface="Arial" panose="020B0604020202020204" pitchFamily="34" charset="0"/>
                <a:cs typeface="Arial" panose="020B0604020202020204" pitchFamily="34" charset="0"/>
              </a:rPr>
              <a:t>Each Task Order will delineate its own individual performance options</a:t>
            </a:r>
          </a:p>
          <a:p>
            <a:pPr>
              <a:spcAft>
                <a:spcPts val="600"/>
              </a:spcAft>
            </a:pPr>
            <a:r>
              <a:rPr lang="en-US" sz="4500" dirty="0">
                <a:latin typeface="Arial" panose="020B0604020202020204" pitchFamily="34" charset="0"/>
                <a:cs typeface="Arial" panose="020B0604020202020204" pitchFamily="34" charset="0"/>
              </a:rPr>
              <a:t>Place of Performance:  Exclusive use of Tobyhanna Army Depot (TYAD)</a:t>
            </a:r>
          </a:p>
          <a:p>
            <a:pPr>
              <a:spcAft>
                <a:spcPts val="600"/>
              </a:spcAft>
            </a:pPr>
            <a:r>
              <a:rPr lang="en-US" sz="4500" dirty="0">
                <a:latin typeface="Arial" panose="020B0604020202020204" pitchFamily="34" charset="0"/>
                <a:cs typeface="Arial" panose="020B0604020202020204" pitchFamily="34" charset="0"/>
              </a:rPr>
              <a:t>Competition Type: Small Business Contractors</a:t>
            </a:r>
          </a:p>
          <a:p>
            <a:pPr>
              <a:spcAft>
                <a:spcPts val="600"/>
              </a:spcAft>
            </a:pPr>
            <a:r>
              <a:rPr lang="en-US" sz="4500" dirty="0">
                <a:latin typeface="Arial" panose="020B0604020202020204" pitchFamily="34" charset="0"/>
                <a:cs typeface="Arial" panose="020B0604020202020204" pitchFamily="34" charset="0"/>
              </a:rPr>
              <a:t>Contract Type: IDIQ with FFP Task Orders</a:t>
            </a:r>
          </a:p>
          <a:p>
            <a:pPr>
              <a:spcAft>
                <a:spcPts val="600"/>
              </a:spcAft>
            </a:pPr>
            <a:r>
              <a:rPr lang="en-US" sz="4500" dirty="0">
                <a:latin typeface="Arial" panose="020B0604020202020204" pitchFamily="34" charset="0"/>
                <a:cs typeface="Arial" panose="020B0604020202020204" pitchFamily="34" charset="0"/>
              </a:rPr>
              <a:t>Customer POC:</a:t>
            </a:r>
          </a:p>
          <a:p>
            <a:pPr lvl="1">
              <a:spcAft>
                <a:spcPts val="600"/>
              </a:spcAft>
            </a:pPr>
            <a:r>
              <a:rPr lang="en-US" sz="4500" dirty="0">
                <a:latin typeface="Arial" panose="020B0604020202020204" pitchFamily="34" charset="0"/>
                <a:cs typeface="Arial" panose="020B0604020202020204" pitchFamily="34" charset="0"/>
              </a:rPr>
              <a:t>jacgueline.d.ramsey.civ@mail.mil</a:t>
            </a:r>
          </a:p>
          <a:p>
            <a:endParaRPr lang="en-US" dirty="0"/>
          </a:p>
          <a:p>
            <a:endParaRPr lang="en-US" dirty="0"/>
          </a:p>
        </p:txBody>
      </p:sp>
      <p:sp>
        <p:nvSpPr>
          <p:cNvPr id="5" name="TextBox 4">
            <a:extLst>
              <a:ext uri="{FF2B5EF4-FFF2-40B4-BE49-F238E27FC236}">
                <a16:creationId xmlns:a16="http://schemas.microsoft.com/office/drawing/2014/main" id="{A67097CC-B4F9-44C8-BA19-107895F83A25}"/>
              </a:ext>
            </a:extLst>
          </p:cNvPr>
          <p:cNvSpPr txBox="1"/>
          <p:nvPr/>
        </p:nvSpPr>
        <p:spPr>
          <a:xfrm>
            <a:off x="11260182" y="6409509"/>
            <a:ext cx="638316" cy="261610"/>
          </a:xfrm>
          <a:prstGeom prst="rect">
            <a:avLst/>
          </a:prstGeom>
          <a:noFill/>
        </p:spPr>
        <p:txBody>
          <a:bodyPr wrap="none" rtlCol="0">
            <a:spAutoFit/>
          </a:bodyPr>
          <a:lstStyle/>
          <a:p>
            <a:r>
              <a:rPr lang="en-US" sz="1100" b="1" dirty="0">
                <a:solidFill>
                  <a:schemeClr val="bg1"/>
                </a:solidFill>
                <a:latin typeface="Arial" panose="020B0604020202020204" pitchFamily="34" charset="0"/>
                <a:cs typeface="Arial" panose="020B0604020202020204" pitchFamily="34" charset="0"/>
              </a:rPr>
              <a:t>Slide 2</a:t>
            </a:r>
          </a:p>
        </p:txBody>
      </p:sp>
    </p:spTree>
    <p:extLst>
      <p:ext uri="{BB962C8B-B14F-4D97-AF65-F5344CB8AC3E}">
        <p14:creationId xmlns:p14="http://schemas.microsoft.com/office/powerpoint/2010/main" val="1731396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62B90-ED38-4203-9964-7D40520BF043}"/>
              </a:ext>
            </a:extLst>
          </p:cNvPr>
          <p:cNvSpPr>
            <a:spLocks noGrp="1"/>
          </p:cNvSpPr>
          <p:nvPr>
            <p:ph idx="1"/>
          </p:nvPr>
        </p:nvSpPr>
        <p:spPr/>
        <p:txBody>
          <a:bodyPr/>
          <a:lstStyle/>
          <a:p>
            <a:r>
              <a:rPr lang="en-US"/>
              <a:t>XX</a:t>
            </a:r>
          </a:p>
          <a:p>
            <a:r>
              <a:rPr lang="en-US"/>
              <a:t>XX</a:t>
            </a:r>
          </a:p>
          <a:p>
            <a:r>
              <a:rPr lang="en-US"/>
              <a:t>XX</a:t>
            </a:r>
            <a:endParaRPr lang="en-US" dirty="0"/>
          </a:p>
        </p:txBody>
      </p:sp>
      <p:sp>
        <p:nvSpPr>
          <p:cNvPr id="7" name="TextBox 6">
            <a:extLst>
              <a:ext uri="{FF2B5EF4-FFF2-40B4-BE49-F238E27FC236}">
                <a16:creationId xmlns:a16="http://schemas.microsoft.com/office/drawing/2014/main" id="{55833392-E4D0-4076-A7A3-009FB3E48D2D}"/>
              </a:ext>
            </a:extLst>
          </p:cNvPr>
          <p:cNvSpPr txBox="1"/>
          <p:nvPr/>
        </p:nvSpPr>
        <p:spPr>
          <a:xfrm>
            <a:off x="476277" y="251458"/>
            <a:ext cx="912429" cy="400110"/>
          </a:xfrm>
          <a:prstGeom prst="rect">
            <a:avLst/>
          </a:prstGeom>
          <a:noFill/>
        </p:spPr>
        <p:txBody>
          <a:bodyPr wrap="none" rtlCol="0">
            <a:spAutoFit/>
          </a:bodyPr>
          <a:lstStyle/>
          <a:p>
            <a:r>
              <a:rPr lang="en-US" sz="2000" dirty="0">
                <a:solidFill>
                  <a:srgbClr val="92D050"/>
                </a:solidFill>
                <a:latin typeface="Arial" panose="020B0604020202020204" pitchFamily="34" charset="0"/>
                <a:cs typeface="Arial" panose="020B0604020202020204" pitchFamily="34" charset="0"/>
              </a:rPr>
              <a:t>Scope</a:t>
            </a:r>
          </a:p>
        </p:txBody>
      </p:sp>
      <p:sp>
        <p:nvSpPr>
          <p:cNvPr id="8" name="TextBox 7">
            <a:extLst>
              <a:ext uri="{FF2B5EF4-FFF2-40B4-BE49-F238E27FC236}">
                <a16:creationId xmlns:a16="http://schemas.microsoft.com/office/drawing/2014/main" id="{395C9422-4709-4C0D-BEFB-DED8496FB16D}"/>
              </a:ext>
            </a:extLst>
          </p:cNvPr>
          <p:cNvSpPr txBox="1"/>
          <p:nvPr/>
        </p:nvSpPr>
        <p:spPr>
          <a:xfrm>
            <a:off x="11260182" y="6409509"/>
            <a:ext cx="638316" cy="261610"/>
          </a:xfrm>
          <a:prstGeom prst="rect">
            <a:avLst/>
          </a:prstGeom>
          <a:noFill/>
        </p:spPr>
        <p:txBody>
          <a:bodyPr wrap="none" rtlCol="0">
            <a:spAutoFit/>
          </a:bodyPr>
          <a:lstStyle/>
          <a:p>
            <a:r>
              <a:rPr lang="en-US" sz="1100" b="1" dirty="0">
                <a:solidFill>
                  <a:schemeClr val="bg1"/>
                </a:solidFill>
                <a:latin typeface="Arial" panose="020B0604020202020204" pitchFamily="34" charset="0"/>
                <a:cs typeface="Arial" panose="020B0604020202020204" pitchFamily="34" charset="0"/>
              </a:rPr>
              <a:t>Slide 3</a:t>
            </a:r>
          </a:p>
        </p:txBody>
      </p:sp>
    </p:spTree>
    <p:extLst>
      <p:ext uri="{BB962C8B-B14F-4D97-AF65-F5344CB8AC3E}">
        <p14:creationId xmlns:p14="http://schemas.microsoft.com/office/powerpoint/2010/main" val="3286979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62B90-ED38-4203-9964-7D40520BF043}"/>
              </a:ext>
            </a:extLst>
          </p:cNvPr>
          <p:cNvSpPr>
            <a:spLocks noGrp="1"/>
          </p:cNvSpPr>
          <p:nvPr>
            <p:ph idx="1"/>
          </p:nvPr>
        </p:nvSpPr>
        <p:spPr/>
        <p:txBody>
          <a:bodyPr/>
          <a:lstStyle/>
          <a:p>
            <a:r>
              <a:rPr lang="en-US"/>
              <a:t>XX</a:t>
            </a:r>
          </a:p>
          <a:p>
            <a:r>
              <a:rPr lang="en-US"/>
              <a:t>XX</a:t>
            </a:r>
          </a:p>
          <a:p>
            <a:r>
              <a:rPr lang="en-US"/>
              <a:t>XX</a:t>
            </a:r>
            <a:endParaRPr lang="en-US" dirty="0"/>
          </a:p>
        </p:txBody>
      </p:sp>
      <p:sp>
        <p:nvSpPr>
          <p:cNvPr id="7" name="TextBox 6">
            <a:extLst>
              <a:ext uri="{FF2B5EF4-FFF2-40B4-BE49-F238E27FC236}">
                <a16:creationId xmlns:a16="http://schemas.microsoft.com/office/drawing/2014/main" id="{55833392-E4D0-4076-A7A3-009FB3E48D2D}"/>
              </a:ext>
            </a:extLst>
          </p:cNvPr>
          <p:cNvSpPr txBox="1"/>
          <p:nvPr/>
        </p:nvSpPr>
        <p:spPr>
          <a:xfrm>
            <a:off x="310814" y="266847"/>
            <a:ext cx="2702984" cy="400110"/>
          </a:xfrm>
          <a:prstGeom prst="rect">
            <a:avLst/>
          </a:prstGeom>
          <a:noFill/>
        </p:spPr>
        <p:txBody>
          <a:bodyPr wrap="none" rtlCol="0">
            <a:spAutoFit/>
          </a:bodyPr>
          <a:lstStyle/>
          <a:p>
            <a:r>
              <a:rPr lang="en-US" sz="2000" dirty="0">
                <a:solidFill>
                  <a:srgbClr val="92D050"/>
                </a:solidFill>
                <a:latin typeface="Arial" panose="020B0604020202020204" pitchFamily="34" charset="0"/>
                <a:cs typeface="Arial" panose="020B0604020202020204" pitchFamily="34" charset="0"/>
              </a:rPr>
              <a:t>Customer Hot Buttons</a:t>
            </a:r>
          </a:p>
        </p:txBody>
      </p:sp>
      <p:sp>
        <p:nvSpPr>
          <p:cNvPr id="5" name="TextBox 4">
            <a:extLst>
              <a:ext uri="{FF2B5EF4-FFF2-40B4-BE49-F238E27FC236}">
                <a16:creationId xmlns:a16="http://schemas.microsoft.com/office/drawing/2014/main" id="{62090C07-CD92-4FA8-8550-BC1CB4766A5A}"/>
              </a:ext>
            </a:extLst>
          </p:cNvPr>
          <p:cNvSpPr txBox="1"/>
          <p:nvPr/>
        </p:nvSpPr>
        <p:spPr>
          <a:xfrm>
            <a:off x="11260182" y="6409509"/>
            <a:ext cx="638316" cy="261610"/>
          </a:xfrm>
          <a:prstGeom prst="rect">
            <a:avLst/>
          </a:prstGeom>
          <a:noFill/>
        </p:spPr>
        <p:txBody>
          <a:bodyPr wrap="none" rtlCol="0">
            <a:spAutoFit/>
          </a:bodyPr>
          <a:lstStyle/>
          <a:p>
            <a:r>
              <a:rPr lang="en-US" sz="1100" b="1" dirty="0">
                <a:solidFill>
                  <a:schemeClr val="bg1"/>
                </a:solidFill>
                <a:latin typeface="Arial" panose="020B0604020202020204" pitchFamily="34" charset="0"/>
                <a:cs typeface="Arial" panose="020B0604020202020204" pitchFamily="34" charset="0"/>
              </a:rPr>
              <a:t>Slide 4</a:t>
            </a:r>
          </a:p>
        </p:txBody>
      </p:sp>
    </p:spTree>
    <p:extLst>
      <p:ext uri="{BB962C8B-B14F-4D97-AF65-F5344CB8AC3E}">
        <p14:creationId xmlns:p14="http://schemas.microsoft.com/office/powerpoint/2010/main" val="3368193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0A050C-C10F-4EF8-94BA-CD0ACC58E4A9}"/>
              </a:ext>
            </a:extLst>
          </p:cNvPr>
          <p:cNvSpPr>
            <a:spLocks noGrp="1"/>
          </p:cNvSpPr>
          <p:nvPr>
            <p:ph idx="1"/>
          </p:nvPr>
        </p:nvSpPr>
        <p:spPr>
          <a:xfrm>
            <a:off x="617124" y="1029900"/>
            <a:ext cx="8596668" cy="3880773"/>
          </a:xfrm>
        </p:spPr>
        <p:txBody>
          <a:bodyPr>
            <a:normAutofit/>
          </a:bodyPr>
          <a:lstStyle/>
          <a:p>
            <a:endParaRPr lang="en-US" sz="1200" dirty="0"/>
          </a:p>
          <a:p>
            <a:endParaRPr lang="en-US" sz="1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E563904-4E96-4D35-8FFC-27D5B6EC879D}"/>
              </a:ext>
            </a:extLst>
          </p:cNvPr>
          <p:cNvSpPr txBox="1"/>
          <p:nvPr/>
        </p:nvSpPr>
        <p:spPr>
          <a:xfrm>
            <a:off x="650449" y="424206"/>
            <a:ext cx="3190297" cy="369332"/>
          </a:xfrm>
          <a:prstGeom prst="rect">
            <a:avLst/>
          </a:prstGeom>
          <a:noFill/>
        </p:spPr>
        <p:txBody>
          <a:bodyPr wrap="none" rtlCol="0">
            <a:spAutoFit/>
          </a:bodyPr>
          <a:lstStyle/>
          <a:p>
            <a:r>
              <a:rPr lang="en-US" dirty="0">
                <a:solidFill>
                  <a:srgbClr val="92D050"/>
                </a:solidFill>
              </a:rPr>
              <a:t>Competition / Discriminators</a:t>
            </a:r>
          </a:p>
        </p:txBody>
      </p:sp>
      <p:sp>
        <p:nvSpPr>
          <p:cNvPr id="4" name="Content Placeholder 2">
            <a:extLst>
              <a:ext uri="{FF2B5EF4-FFF2-40B4-BE49-F238E27FC236}">
                <a16:creationId xmlns:a16="http://schemas.microsoft.com/office/drawing/2014/main" id="{AC050A57-DDBB-4F4C-932B-1144570D7D6E}"/>
              </a:ext>
            </a:extLst>
          </p:cNvPr>
          <p:cNvSpPr txBox="1">
            <a:spLocks/>
          </p:cNvSpPr>
          <p:nvPr/>
        </p:nvSpPr>
        <p:spPr>
          <a:xfrm>
            <a:off x="677334" y="2160589"/>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a:t>XX</a:t>
            </a:r>
          </a:p>
          <a:p>
            <a:r>
              <a:rPr lang="en-US"/>
              <a:t>XX</a:t>
            </a:r>
          </a:p>
          <a:p>
            <a:r>
              <a:rPr lang="en-US"/>
              <a:t>XX</a:t>
            </a:r>
            <a:endParaRPr lang="en-US" dirty="0"/>
          </a:p>
        </p:txBody>
      </p:sp>
      <p:sp>
        <p:nvSpPr>
          <p:cNvPr id="5" name="TextBox 4">
            <a:extLst>
              <a:ext uri="{FF2B5EF4-FFF2-40B4-BE49-F238E27FC236}">
                <a16:creationId xmlns:a16="http://schemas.microsoft.com/office/drawing/2014/main" id="{F1EB1A8F-9315-4F4B-A398-68283634BE3C}"/>
              </a:ext>
            </a:extLst>
          </p:cNvPr>
          <p:cNvSpPr txBox="1"/>
          <p:nvPr/>
        </p:nvSpPr>
        <p:spPr>
          <a:xfrm>
            <a:off x="11260182" y="6409509"/>
            <a:ext cx="638316" cy="261610"/>
          </a:xfrm>
          <a:prstGeom prst="rect">
            <a:avLst/>
          </a:prstGeom>
          <a:noFill/>
        </p:spPr>
        <p:txBody>
          <a:bodyPr wrap="none" rtlCol="0">
            <a:spAutoFit/>
          </a:bodyPr>
          <a:lstStyle/>
          <a:p>
            <a:r>
              <a:rPr lang="en-US" sz="1100" b="1" dirty="0">
                <a:solidFill>
                  <a:schemeClr val="bg1"/>
                </a:solidFill>
                <a:latin typeface="Arial" panose="020B0604020202020204" pitchFamily="34" charset="0"/>
                <a:cs typeface="Arial" panose="020B0604020202020204" pitchFamily="34" charset="0"/>
              </a:rPr>
              <a:t>Slide 5</a:t>
            </a:r>
          </a:p>
        </p:txBody>
      </p:sp>
    </p:spTree>
    <p:extLst>
      <p:ext uri="{BB962C8B-B14F-4D97-AF65-F5344CB8AC3E}">
        <p14:creationId xmlns:p14="http://schemas.microsoft.com/office/powerpoint/2010/main" val="998128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AF8E4-BA43-4AE8-B839-61DB4EFB230C}"/>
              </a:ext>
            </a:extLst>
          </p:cNvPr>
          <p:cNvSpPr>
            <a:spLocks noGrp="1"/>
          </p:cNvSpPr>
          <p:nvPr>
            <p:ph type="title"/>
          </p:nvPr>
        </p:nvSpPr>
        <p:spPr>
          <a:xfrm>
            <a:off x="470263" y="549222"/>
            <a:ext cx="7707085" cy="4171278"/>
          </a:xfrm>
        </p:spPr>
        <p:txBody>
          <a:bodyPr>
            <a:normAutofit/>
          </a:bodyPr>
          <a:lstStyle/>
          <a:p>
            <a:pPr algn="r"/>
            <a:r>
              <a:rPr lang="en-US" sz="4400" dirty="0">
                <a:solidFill>
                  <a:schemeClr val="tx1"/>
                </a:solidFill>
              </a:rPr>
              <a:t>Solicitation Milestone Dates</a:t>
            </a:r>
          </a:p>
        </p:txBody>
      </p:sp>
      <p:sp>
        <p:nvSpPr>
          <p:cNvPr id="3" name="Content Placeholder 2">
            <a:extLst>
              <a:ext uri="{FF2B5EF4-FFF2-40B4-BE49-F238E27FC236}">
                <a16:creationId xmlns:a16="http://schemas.microsoft.com/office/drawing/2014/main" id="{6B1AC144-FC50-4378-AD5D-3713110D3A11}"/>
              </a:ext>
            </a:extLst>
          </p:cNvPr>
          <p:cNvSpPr>
            <a:spLocks noGrp="1"/>
          </p:cNvSpPr>
          <p:nvPr>
            <p:ph idx="1"/>
          </p:nvPr>
        </p:nvSpPr>
        <p:spPr>
          <a:xfrm>
            <a:off x="1221062" y="1979023"/>
            <a:ext cx="7099978" cy="4171278"/>
          </a:xfrm>
        </p:spPr>
        <p:txBody>
          <a:bodyPr>
            <a:normAutofit lnSpcReduction="10000"/>
          </a:bodyPr>
          <a:lstStyle/>
          <a:p>
            <a:r>
              <a:rPr lang="en-US" dirty="0"/>
              <a:t>RFP released: June 22, 2021</a:t>
            </a:r>
          </a:p>
          <a:p>
            <a:r>
              <a:rPr lang="en-US" dirty="0"/>
              <a:t>Site Visit Registration:  June 30, 2021</a:t>
            </a:r>
          </a:p>
          <a:p>
            <a:r>
              <a:rPr lang="en-US" dirty="0"/>
              <a:t>Site Visit:  July 1, 2021</a:t>
            </a:r>
          </a:p>
          <a:p>
            <a:r>
              <a:rPr lang="en-US" dirty="0"/>
              <a:t>Questions Due: 	July 8, 2021</a:t>
            </a:r>
          </a:p>
          <a:p>
            <a:pPr marL="1828800" lvl="4" indent="0">
              <a:buNone/>
            </a:pPr>
            <a:r>
              <a:rPr lang="en-US" sz="1800" dirty="0">
                <a:latin typeface="Arial" panose="020B0604020202020204" pitchFamily="34" charset="0"/>
                <a:cs typeface="Arial" panose="020B0604020202020204" pitchFamily="34" charset="0"/>
              </a:rPr>
              <a:t>	Rolling until 7 days prior to deadline</a:t>
            </a:r>
          </a:p>
          <a:p>
            <a:r>
              <a:rPr lang="en-US" dirty="0"/>
              <a:t>Send out PPQ’s:	July 13, 2021</a:t>
            </a:r>
          </a:p>
          <a:p>
            <a:pPr marL="2286000" lvl="5" indent="0">
              <a:buNone/>
            </a:pPr>
            <a:r>
              <a:rPr lang="en-US" sz="1800" dirty="0">
                <a:latin typeface="Arial" panose="020B0604020202020204" pitchFamily="34" charset="0"/>
                <a:cs typeface="Arial" panose="020B0604020202020204" pitchFamily="34" charset="0"/>
              </a:rPr>
              <a:t>POC’s must deliver to Gov by Deadline</a:t>
            </a:r>
          </a:p>
          <a:p>
            <a:r>
              <a:rPr lang="en-US" dirty="0"/>
              <a:t>Draft Review:	July 14, 2021</a:t>
            </a:r>
          </a:p>
          <a:p>
            <a:r>
              <a:rPr lang="en-US" dirty="0"/>
              <a:t>Final Review:	July 19, 2021</a:t>
            </a:r>
          </a:p>
          <a:p>
            <a:r>
              <a:rPr lang="en-US" dirty="0"/>
              <a:t>Pens Down:	July 21, 2021</a:t>
            </a:r>
          </a:p>
          <a:p>
            <a:r>
              <a:rPr lang="en-US" dirty="0"/>
              <a:t>Proposal Due: 	July 22, 2021</a:t>
            </a:r>
          </a:p>
          <a:p>
            <a:endParaRPr lang="en-US" dirty="0"/>
          </a:p>
        </p:txBody>
      </p:sp>
      <p:sp>
        <p:nvSpPr>
          <p:cNvPr id="33" name="TextBox 32">
            <a:extLst>
              <a:ext uri="{FF2B5EF4-FFF2-40B4-BE49-F238E27FC236}">
                <a16:creationId xmlns:a16="http://schemas.microsoft.com/office/drawing/2014/main" id="{1E60DA30-06F4-4171-9AF6-B8767459D8B6}"/>
              </a:ext>
            </a:extLst>
          </p:cNvPr>
          <p:cNvSpPr txBox="1"/>
          <p:nvPr/>
        </p:nvSpPr>
        <p:spPr>
          <a:xfrm>
            <a:off x="11260182" y="6409509"/>
            <a:ext cx="638316" cy="261610"/>
          </a:xfrm>
          <a:prstGeom prst="rect">
            <a:avLst/>
          </a:prstGeom>
          <a:noFill/>
        </p:spPr>
        <p:txBody>
          <a:bodyPr wrap="none" rtlCol="0">
            <a:spAutoFit/>
          </a:bodyPr>
          <a:lstStyle/>
          <a:p>
            <a:r>
              <a:rPr lang="en-US" sz="1100" b="1" dirty="0">
                <a:solidFill>
                  <a:schemeClr val="bg1"/>
                </a:solidFill>
                <a:latin typeface="Arial" panose="020B0604020202020204" pitchFamily="34" charset="0"/>
                <a:cs typeface="Arial" panose="020B0604020202020204" pitchFamily="34" charset="0"/>
              </a:rPr>
              <a:t>Slide 6</a:t>
            </a:r>
          </a:p>
        </p:txBody>
      </p:sp>
    </p:spTree>
    <p:extLst>
      <p:ext uri="{BB962C8B-B14F-4D97-AF65-F5344CB8AC3E}">
        <p14:creationId xmlns:p14="http://schemas.microsoft.com/office/powerpoint/2010/main" val="1208950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E80E-6EDD-4DAD-8A80-7EA48EBD3468}"/>
              </a:ext>
            </a:extLst>
          </p:cNvPr>
          <p:cNvSpPr>
            <a:spLocks noGrp="1"/>
          </p:cNvSpPr>
          <p:nvPr>
            <p:ph type="title"/>
          </p:nvPr>
        </p:nvSpPr>
        <p:spPr>
          <a:xfrm>
            <a:off x="677334" y="609600"/>
            <a:ext cx="8596668" cy="513806"/>
          </a:xfrm>
          <a:solidFill>
            <a:schemeClr val="bg2"/>
          </a:solidFill>
        </p:spPr>
        <p:txBody>
          <a:bodyPr>
            <a:normAutofit fontScale="90000"/>
          </a:bodyPr>
          <a:lstStyle/>
          <a:p>
            <a:r>
              <a:rPr lang="en-US" dirty="0"/>
              <a:t>Calendar View</a:t>
            </a:r>
          </a:p>
        </p:txBody>
      </p:sp>
      <p:sp>
        <p:nvSpPr>
          <p:cNvPr id="4" name="Footer Placeholder 3">
            <a:extLst>
              <a:ext uri="{FF2B5EF4-FFF2-40B4-BE49-F238E27FC236}">
                <a16:creationId xmlns:a16="http://schemas.microsoft.com/office/drawing/2014/main" id="{71AB39C1-7A4F-454B-B7CB-AB08CA18469A}"/>
              </a:ext>
            </a:extLst>
          </p:cNvPr>
          <p:cNvSpPr>
            <a:spLocks noGrp="1"/>
          </p:cNvSpPr>
          <p:nvPr>
            <p:ph type="ftr" sz="quarter" idx="11"/>
          </p:nvPr>
        </p:nvSpPr>
        <p:spPr/>
        <p:txBody>
          <a:bodyPr/>
          <a:lstStyle/>
          <a:p>
            <a:r>
              <a:rPr lang="en-US"/>
              <a:t>Confidential and Proprietary</a:t>
            </a:r>
          </a:p>
        </p:txBody>
      </p:sp>
      <p:graphicFrame>
        <p:nvGraphicFramePr>
          <p:cNvPr id="6" name="Table 5">
            <a:extLst>
              <a:ext uri="{FF2B5EF4-FFF2-40B4-BE49-F238E27FC236}">
                <a16:creationId xmlns:a16="http://schemas.microsoft.com/office/drawing/2014/main" id="{390AC114-306C-4A0F-813D-24D856B6798B}"/>
              </a:ext>
            </a:extLst>
          </p:cNvPr>
          <p:cNvGraphicFramePr>
            <a:graphicFrameLocks noGrp="1"/>
          </p:cNvGraphicFramePr>
          <p:nvPr>
            <p:extLst>
              <p:ext uri="{D42A27DB-BD31-4B8C-83A1-F6EECF244321}">
                <p14:modId xmlns:p14="http://schemas.microsoft.com/office/powerpoint/2010/main" val="211740625"/>
              </p:ext>
            </p:extLst>
          </p:nvPr>
        </p:nvGraphicFramePr>
        <p:xfrm>
          <a:off x="0" y="1491196"/>
          <a:ext cx="12192169" cy="5366804"/>
        </p:xfrm>
        <a:graphic>
          <a:graphicData uri="http://schemas.openxmlformats.org/drawingml/2006/table">
            <a:tbl>
              <a:tblPr>
                <a:tableStyleId>{D7AC3CCA-C797-4891-BE02-D94E43425B78}</a:tableStyleId>
              </a:tblPr>
              <a:tblGrid>
                <a:gridCol w="38978">
                  <a:extLst>
                    <a:ext uri="{9D8B030D-6E8A-4147-A177-3AD203B41FA5}">
                      <a16:colId xmlns:a16="http://schemas.microsoft.com/office/drawing/2014/main" val="2825658418"/>
                    </a:ext>
                  </a:extLst>
                </a:gridCol>
                <a:gridCol w="31511">
                  <a:extLst>
                    <a:ext uri="{9D8B030D-6E8A-4147-A177-3AD203B41FA5}">
                      <a16:colId xmlns:a16="http://schemas.microsoft.com/office/drawing/2014/main" val="1728082732"/>
                    </a:ext>
                  </a:extLst>
                </a:gridCol>
                <a:gridCol w="32899">
                  <a:extLst>
                    <a:ext uri="{9D8B030D-6E8A-4147-A177-3AD203B41FA5}">
                      <a16:colId xmlns:a16="http://schemas.microsoft.com/office/drawing/2014/main" val="200957045"/>
                    </a:ext>
                  </a:extLst>
                </a:gridCol>
                <a:gridCol w="287671">
                  <a:extLst>
                    <a:ext uri="{9D8B030D-6E8A-4147-A177-3AD203B41FA5}">
                      <a16:colId xmlns:a16="http://schemas.microsoft.com/office/drawing/2014/main" val="739990139"/>
                    </a:ext>
                  </a:extLst>
                </a:gridCol>
                <a:gridCol w="694391">
                  <a:extLst>
                    <a:ext uri="{9D8B030D-6E8A-4147-A177-3AD203B41FA5}">
                      <a16:colId xmlns:a16="http://schemas.microsoft.com/office/drawing/2014/main" val="684426083"/>
                    </a:ext>
                  </a:extLst>
                </a:gridCol>
                <a:gridCol w="1838838">
                  <a:extLst>
                    <a:ext uri="{9D8B030D-6E8A-4147-A177-3AD203B41FA5}">
                      <a16:colId xmlns:a16="http://schemas.microsoft.com/office/drawing/2014/main" val="3813665285"/>
                    </a:ext>
                  </a:extLst>
                </a:gridCol>
                <a:gridCol w="2489933">
                  <a:extLst>
                    <a:ext uri="{9D8B030D-6E8A-4147-A177-3AD203B41FA5}">
                      <a16:colId xmlns:a16="http://schemas.microsoft.com/office/drawing/2014/main" val="3910264891"/>
                    </a:ext>
                  </a:extLst>
                </a:gridCol>
                <a:gridCol w="1901602">
                  <a:extLst>
                    <a:ext uri="{9D8B030D-6E8A-4147-A177-3AD203B41FA5}">
                      <a16:colId xmlns:a16="http://schemas.microsoft.com/office/drawing/2014/main" val="1404517258"/>
                    </a:ext>
                  </a:extLst>
                </a:gridCol>
                <a:gridCol w="1887618">
                  <a:extLst>
                    <a:ext uri="{9D8B030D-6E8A-4147-A177-3AD203B41FA5}">
                      <a16:colId xmlns:a16="http://schemas.microsoft.com/office/drawing/2014/main" val="225151825"/>
                    </a:ext>
                  </a:extLst>
                </a:gridCol>
                <a:gridCol w="1856158">
                  <a:extLst>
                    <a:ext uri="{9D8B030D-6E8A-4147-A177-3AD203B41FA5}">
                      <a16:colId xmlns:a16="http://schemas.microsoft.com/office/drawing/2014/main" val="2508969172"/>
                    </a:ext>
                  </a:extLst>
                </a:gridCol>
                <a:gridCol w="1132570">
                  <a:extLst>
                    <a:ext uri="{9D8B030D-6E8A-4147-A177-3AD203B41FA5}">
                      <a16:colId xmlns:a16="http://schemas.microsoft.com/office/drawing/2014/main" val="3343706531"/>
                    </a:ext>
                  </a:extLst>
                </a:gridCol>
              </a:tblGrid>
              <a:tr h="172810">
                <a:tc gridSpan="5">
                  <a:txBody>
                    <a:bodyPr/>
                    <a:lstStyle/>
                    <a:p>
                      <a:pPr algn="ctr" fontAlgn="ctr"/>
                      <a:r>
                        <a:rPr lang="en-US" sz="1000" u="none" strike="noStrike" dirty="0">
                          <a:effectLst/>
                        </a:rPr>
                        <a:t>Sunday</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1000" u="none" strike="noStrike" dirty="0">
                          <a:effectLst/>
                        </a:rPr>
                        <a:t>Monday</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ctr" fontAlgn="ctr"/>
                      <a:r>
                        <a:rPr lang="en-US" sz="1000" u="none" strike="noStrike">
                          <a:effectLst/>
                        </a:rPr>
                        <a:t>Tuesday</a:t>
                      </a:r>
                      <a:endParaRPr lang="en-US" sz="1000" b="1" i="0" u="none" strike="noStrike">
                        <a:solidFill>
                          <a:srgbClr val="FFFFFF"/>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ctr" fontAlgn="ctr"/>
                      <a:r>
                        <a:rPr lang="en-US" sz="1000" u="none" strike="noStrike">
                          <a:effectLst/>
                        </a:rPr>
                        <a:t>Wednesday</a:t>
                      </a:r>
                      <a:endParaRPr lang="en-US" sz="1000" b="1" i="0" u="none" strike="noStrike">
                        <a:solidFill>
                          <a:srgbClr val="FFFFFF"/>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ctr" fontAlgn="ctr"/>
                      <a:r>
                        <a:rPr lang="en-US" sz="1000" u="none" strike="noStrike">
                          <a:effectLst/>
                        </a:rPr>
                        <a:t>Thursday</a:t>
                      </a:r>
                      <a:endParaRPr lang="en-US" sz="1000" b="1" i="0" u="none" strike="noStrike">
                        <a:solidFill>
                          <a:srgbClr val="FFFFFF"/>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ctr" fontAlgn="ctr"/>
                      <a:r>
                        <a:rPr lang="en-US" sz="1000" u="none" strike="noStrike">
                          <a:effectLst/>
                        </a:rPr>
                        <a:t>Friday</a:t>
                      </a:r>
                      <a:endParaRPr lang="en-US" sz="1000" b="1" i="0" u="none" strike="noStrike">
                        <a:solidFill>
                          <a:srgbClr val="FFFFFF"/>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ctr" fontAlgn="ctr"/>
                      <a:r>
                        <a:rPr lang="en-US" sz="1000" u="none" strike="noStrike">
                          <a:effectLst/>
                        </a:rPr>
                        <a:t>Saturday</a:t>
                      </a:r>
                      <a:endParaRPr lang="en-US" sz="1000" b="1" i="0" u="none" strike="noStrike">
                        <a:solidFill>
                          <a:srgbClr val="FFFFFF"/>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extLst>
                  <a:ext uri="{0D108BD9-81ED-4DB2-BD59-A6C34878D82A}">
                    <a16:rowId xmlns:a16="http://schemas.microsoft.com/office/drawing/2014/main" val="901437120"/>
                  </a:ext>
                </a:extLst>
              </a:tr>
              <a:tr h="181451">
                <a:tc>
                  <a:txBody>
                    <a:bodyPr/>
                    <a:lstStyle/>
                    <a:p>
                      <a:pPr algn="r" fontAlgn="b"/>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111" marR="6111" marT="6111" marB="0" anchor="b">
                    <a:solidFill>
                      <a:schemeClr val="accent1">
                        <a:lumMod val="20000"/>
                        <a:lumOff val="80000"/>
                      </a:schemeClr>
                    </a:solidFill>
                  </a:tcPr>
                </a:tc>
                <a:tc gridSpan="4">
                  <a:txBody>
                    <a:bodyPr/>
                    <a:lstStyle/>
                    <a:p>
                      <a:pPr algn="r" fontAlgn="b"/>
                      <a:r>
                        <a:rPr lang="en-US" sz="1000" u="none" strike="noStrike" dirty="0">
                          <a:effectLst/>
                        </a:rPr>
                        <a:t>27</a:t>
                      </a:r>
                      <a:endParaRPr lang="en-US" sz="1000" b="0" i="0" u="none" strike="noStrike" dirty="0">
                        <a:solidFill>
                          <a:srgbClr val="000000"/>
                        </a:solidFill>
                        <a:effectLst/>
                        <a:latin typeface="Calibri" panose="020F0502020204030204" pitchFamily="34" charset="0"/>
                      </a:endParaRPr>
                    </a:p>
                  </a:txBody>
                  <a:tcPr marL="6111" marR="6111" marT="6111" marB="0" anchor="ctr">
                    <a:solidFill>
                      <a:schemeClr val="accent1">
                        <a:lumMod val="40000"/>
                        <a:lumOff val="60000"/>
                      </a:schemeClr>
                    </a:solidFill>
                  </a:tcPr>
                </a:tc>
                <a:tc hMerge="1">
                  <a:txBody>
                    <a:bodyPr/>
                    <a:lstStyle/>
                    <a:p>
                      <a:endParaRPr lang="en-US"/>
                    </a:p>
                  </a:txBody>
                  <a:tcPr/>
                </a:tc>
                <a:tc hMerge="1">
                  <a:txBody>
                    <a:bodyPr/>
                    <a:lstStyle/>
                    <a:p>
                      <a:endParaRPr lang="en-US"/>
                    </a:p>
                  </a:txBody>
                  <a:tcPr/>
                </a:tc>
                <a:tc hMerge="1">
                  <a:txBody>
                    <a:bodyPr/>
                    <a:lstStyle/>
                    <a:p>
                      <a:pPr algn="r" fontAlgn="ctr"/>
                      <a:r>
                        <a:rPr lang="en-US" sz="1000" u="none" strike="noStrike" dirty="0">
                          <a:effectLst/>
                        </a:rPr>
                        <a:t>27</a:t>
                      </a:r>
                      <a:endParaRPr lang="en-US" sz="1000" b="0" i="0" u="none" strike="noStrike" dirty="0">
                        <a:solidFill>
                          <a:srgbClr val="666666"/>
                        </a:solidFill>
                        <a:effectLst/>
                        <a:latin typeface="Arial" panose="020B0604020202020204" pitchFamily="34" charset="0"/>
                        <a:cs typeface="Arial" panose="020B0604020202020204" pitchFamily="34" charset="0"/>
                      </a:endParaRPr>
                    </a:p>
                  </a:txBody>
                  <a:tcPr marL="6111" marR="6111" marT="6111" marB="0" anchor="ctr"/>
                </a:tc>
                <a:tc>
                  <a:txBody>
                    <a:bodyPr/>
                    <a:lstStyle/>
                    <a:p>
                      <a:pPr algn="r" fontAlgn="ctr"/>
                      <a:r>
                        <a:rPr lang="en-US" sz="1000" u="none" strike="noStrike" dirty="0">
                          <a:effectLst/>
                        </a:rPr>
                        <a:t>28</a:t>
                      </a:r>
                      <a:endParaRPr lang="en-US" sz="1000" b="0" i="0" u="none" strike="noStrike" dirty="0">
                        <a:solidFill>
                          <a:srgbClr val="666666"/>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a:effectLst/>
                        </a:rPr>
                        <a:t>29</a:t>
                      </a:r>
                      <a:endParaRPr lang="en-US" sz="1000" b="0" i="0" u="none" strike="noStrike">
                        <a:solidFill>
                          <a:srgbClr val="666666"/>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a:effectLst/>
                        </a:rPr>
                        <a:t>30</a:t>
                      </a:r>
                      <a:endParaRPr lang="en-US" sz="1000" b="0" i="0" u="none" strike="noStrike">
                        <a:solidFill>
                          <a:srgbClr val="666666"/>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a:effectLst/>
                        </a:rPr>
                        <a:t>1</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a:effectLst/>
                        </a:rPr>
                        <a:t>2</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3</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extLst>
                  <a:ext uri="{0D108BD9-81ED-4DB2-BD59-A6C34878D82A}">
                    <a16:rowId xmlns:a16="http://schemas.microsoft.com/office/drawing/2014/main" val="2290526530"/>
                  </a:ext>
                </a:extLst>
              </a:tr>
              <a:tr h="552599">
                <a:tc gridSpan="5">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extLst>
                  <a:ext uri="{0D108BD9-81ED-4DB2-BD59-A6C34878D82A}">
                    <a16:rowId xmlns:a16="http://schemas.microsoft.com/office/drawing/2014/main" val="2479983112"/>
                  </a:ext>
                </a:extLst>
              </a:tr>
              <a:tr h="173203">
                <a:tc gridSpan="5">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1000" u="none" strike="noStrike">
                          <a:effectLst/>
                        </a:rPr>
                        <a:t> </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Site Visit Registration</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Site Visit</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Kickoff</a:t>
                      </a:r>
                      <a:endParaRPr lang="en-US" sz="1000" b="1"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extLst>
                  <a:ext uri="{0D108BD9-81ED-4DB2-BD59-A6C34878D82A}">
                    <a16:rowId xmlns:a16="http://schemas.microsoft.com/office/drawing/2014/main" val="916471707"/>
                  </a:ext>
                </a:extLst>
              </a:tr>
              <a:tr h="212602">
                <a:tc gridSpan="2">
                  <a:txBody>
                    <a:bodyPr/>
                    <a:lstStyle/>
                    <a:p>
                      <a:pPr algn="r" fontAlgn="b"/>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111" marR="6111" marT="6111" marB="0" anchor="b">
                    <a:solidFill>
                      <a:schemeClr val="accent1">
                        <a:lumMod val="60000"/>
                        <a:lumOff val="40000"/>
                      </a:schemeClr>
                    </a:solidFill>
                  </a:tcPr>
                </a:tc>
                <a:tc hMerge="1">
                  <a:txBody>
                    <a:bodyPr/>
                    <a:lstStyle/>
                    <a:p>
                      <a:pPr algn="r" fontAlgn="b"/>
                      <a:endParaRPr lang="en-US" sz="1000" b="0" i="0" u="none" strike="noStrike">
                        <a:solidFill>
                          <a:srgbClr val="000000"/>
                        </a:solidFill>
                        <a:effectLst/>
                        <a:latin typeface="Calibri" panose="020F0502020204030204" pitchFamily="34" charset="0"/>
                      </a:endParaRPr>
                    </a:p>
                  </a:txBody>
                  <a:tcPr marL="6111" marR="6111" marT="6111" marB="0" anchor="b"/>
                </a:tc>
                <a:tc gridSpan="3">
                  <a:txBody>
                    <a:bodyPr/>
                    <a:lstStyle/>
                    <a:p>
                      <a:pPr algn="r"/>
                      <a:r>
                        <a:rPr lang="en-US" sz="1000" u="none" strike="noStrike" dirty="0">
                          <a:effectLst/>
                        </a:rPr>
                        <a:t>4</a:t>
                      </a:r>
                      <a:endParaRPr lang="en-US" dirty="0"/>
                    </a:p>
                  </a:txBody>
                  <a:tcPr marL="6111" marR="6111" marT="6111" marB="0" anchor="ctr">
                    <a:solidFill>
                      <a:schemeClr val="accent1">
                        <a:lumMod val="40000"/>
                        <a:lumOff val="60000"/>
                      </a:schemeClr>
                    </a:solidFill>
                  </a:tcPr>
                </a:tc>
                <a:tc hMerge="1">
                  <a:txBody>
                    <a:bodyPr/>
                    <a:lstStyle/>
                    <a:p>
                      <a:pPr algn="r" fontAlgn="b"/>
                      <a:endParaRPr lang="en-US" sz="1000" b="0" i="0" u="none" strike="noStrike">
                        <a:solidFill>
                          <a:srgbClr val="000000"/>
                        </a:solidFill>
                        <a:effectLst/>
                        <a:latin typeface="Calibri" panose="020F0502020204030204" pitchFamily="34" charset="0"/>
                      </a:endParaRPr>
                    </a:p>
                  </a:txBody>
                  <a:tcPr marL="6111" marR="6111" marT="6111" marB="0" anchor="b"/>
                </a:tc>
                <a:tc hMerge="1">
                  <a:txBody>
                    <a:bodyPr/>
                    <a:lstStyle/>
                    <a:p>
                      <a:pPr algn="r" fontAlgn="ctr"/>
                      <a:r>
                        <a:rPr lang="en-US" sz="1000" u="none" strike="noStrike" dirty="0">
                          <a:effectLst/>
                        </a:rPr>
                        <a:t>4</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60000"/>
                        <a:lumOff val="40000"/>
                      </a:schemeClr>
                    </a:solidFill>
                  </a:tcPr>
                </a:tc>
                <a:tc>
                  <a:txBody>
                    <a:bodyPr/>
                    <a:lstStyle/>
                    <a:p>
                      <a:pPr algn="r" fontAlgn="ctr"/>
                      <a:r>
                        <a:rPr lang="en-US" sz="1000" u="none" strike="noStrike" dirty="0">
                          <a:effectLst/>
                        </a:rPr>
                        <a:t>5</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6</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7</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8</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9</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10</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extLst>
                  <a:ext uri="{0D108BD9-81ED-4DB2-BD59-A6C34878D82A}">
                    <a16:rowId xmlns:a16="http://schemas.microsoft.com/office/drawing/2014/main" val="2989247664"/>
                  </a:ext>
                </a:extLst>
              </a:tr>
              <a:tr h="511361">
                <a:tc gridSpan="5">
                  <a:txBody>
                    <a:bodyPr/>
                    <a:lstStyle/>
                    <a:p>
                      <a:pPr algn="l" fontAlgn="ctr"/>
                      <a:r>
                        <a:rPr lang="en-US" sz="1000" u="none" strike="noStrike" dirty="0">
                          <a:effectLst/>
                        </a:rPr>
                        <a:t> </a:t>
                      </a:r>
                      <a:br>
                        <a:rPr lang="en-US" sz="1000" u="none" strike="noStrike" dirty="0">
                          <a:effectLst/>
                        </a:rPr>
                      </a:br>
                      <a:endParaRPr lang="en-US" sz="1000" b="0" i="0" u="none" strike="noStrike" dirty="0">
                        <a:solidFill>
                          <a:srgbClr val="951A2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1000" u="none" strike="noStrike" dirty="0">
                          <a:effectLst/>
                        </a:rPr>
                        <a:t>Independence Day Holiday</a:t>
                      </a:r>
                      <a:br>
                        <a:rPr lang="en-US" sz="1000" u="none" strike="noStrike" dirty="0">
                          <a:effectLst/>
                        </a:rPr>
                      </a:br>
                      <a:endParaRPr lang="en-US" sz="1000" b="1" i="0" u="none" strike="noStrike" dirty="0">
                        <a:solidFill>
                          <a:srgbClr val="7030A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extLst>
                  <a:ext uri="{0D108BD9-81ED-4DB2-BD59-A6C34878D82A}">
                    <a16:rowId xmlns:a16="http://schemas.microsoft.com/office/drawing/2014/main" val="3028267412"/>
                  </a:ext>
                </a:extLst>
              </a:tr>
              <a:tr h="666495">
                <a:tc gridSpan="5">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Team TAG 10am</a:t>
                      </a:r>
                      <a:br>
                        <a:rPr lang="en-US" sz="1000" u="none" strike="noStrike" dirty="0">
                          <a:effectLst/>
                        </a:rPr>
                      </a:br>
                      <a:r>
                        <a:rPr lang="en-US" sz="1000" u="none" strike="noStrike" dirty="0">
                          <a:effectLst/>
                        </a:rPr>
                        <a:t>Review Writing Assignments</a:t>
                      </a:r>
                      <a:br>
                        <a:rPr lang="en-US" sz="1000" u="none" strike="noStrike" dirty="0">
                          <a:effectLst/>
                        </a:rPr>
                      </a:br>
                      <a:endParaRPr lang="en-US" sz="1000" b="1"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Team TAG 10am</a:t>
                      </a:r>
                      <a:br>
                        <a:rPr lang="en-US" sz="1000" u="none" strike="noStrike" dirty="0">
                          <a:effectLst/>
                        </a:rPr>
                      </a:br>
                      <a:r>
                        <a:rPr lang="en-US" sz="1000" u="none" strike="noStrike" dirty="0">
                          <a:effectLst/>
                        </a:rPr>
                        <a:t>Past Performance PPQs to Customers</a:t>
                      </a:r>
                      <a:endParaRPr lang="en-US" sz="1000" b="1"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Submit Questions to Government</a:t>
                      </a:r>
                      <a:endParaRPr lang="en-US" sz="1000" b="1"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Team TAG 10am</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extLst>
                  <a:ext uri="{0D108BD9-81ED-4DB2-BD59-A6C34878D82A}">
                    <a16:rowId xmlns:a16="http://schemas.microsoft.com/office/drawing/2014/main" val="369774128"/>
                  </a:ext>
                </a:extLst>
              </a:tr>
              <a:tr h="237958">
                <a:tc gridSpan="4">
                  <a:txBody>
                    <a:bodyPr/>
                    <a:lstStyle/>
                    <a:p>
                      <a:pPr algn="r" fontAlgn="b"/>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6111" marR="6111" marT="6111" marB="0" anchor="b">
                    <a:solidFill>
                      <a:schemeClr val="accent1">
                        <a:lumMod val="40000"/>
                        <a:lumOff val="60000"/>
                      </a:schemeClr>
                    </a:solidFill>
                  </a:tcPr>
                </a:tc>
                <a:tc hMerge="1">
                  <a:txBody>
                    <a:bodyPr/>
                    <a:lstStyle/>
                    <a:p>
                      <a:pPr algn="r" fontAlgn="b"/>
                      <a:endParaRPr lang="en-US" sz="1000" b="0" i="0" u="none" strike="noStrike">
                        <a:solidFill>
                          <a:srgbClr val="000000"/>
                        </a:solidFill>
                        <a:effectLst/>
                        <a:latin typeface="Calibri" panose="020F0502020204030204" pitchFamily="34" charset="0"/>
                      </a:endParaRPr>
                    </a:p>
                  </a:txBody>
                  <a:tcPr marL="6111" marR="6111" marT="6111" marB="0" anchor="b"/>
                </a:tc>
                <a:tc hMerge="1">
                  <a:txBody>
                    <a:bodyPr/>
                    <a:lstStyle/>
                    <a:p>
                      <a:endParaRPr lang="en-US"/>
                    </a:p>
                  </a:txBody>
                  <a:tcPr/>
                </a:tc>
                <a:tc hMerge="1">
                  <a:txBody>
                    <a:bodyPr/>
                    <a:lstStyle/>
                    <a:p>
                      <a:pPr algn="r" fontAlgn="b"/>
                      <a:endParaRPr lang="en-US" sz="1000" b="0" i="0" u="none" strike="noStrike">
                        <a:solidFill>
                          <a:srgbClr val="000000"/>
                        </a:solidFill>
                        <a:effectLst/>
                        <a:latin typeface="Calibri" panose="020F0502020204030204" pitchFamily="34" charset="0"/>
                      </a:endParaRPr>
                    </a:p>
                  </a:txBody>
                  <a:tcPr marL="6111" marR="6111" marT="6111" marB="0" anchor="b"/>
                </a:tc>
                <a:tc>
                  <a:txBody>
                    <a:bodyPr/>
                    <a:lstStyle/>
                    <a:p>
                      <a:pPr algn="r" fontAlgn="ctr"/>
                      <a:r>
                        <a:rPr lang="en-US" sz="1000" u="none" strike="noStrike">
                          <a:effectLst/>
                        </a:rPr>
                        <a:t>11</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a:effectLst/>
                        </a:rPr>
                        <a:t>12</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a:effectLst/>
                        </a:rPr>
                        <a:t>13</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14</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15</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16</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17</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extLst>
                  <a:ext uri="{0D108BD9-81ED-4DB2-BD59-A6C34878D82A}">
                    <a16:rowId xmlns:a16="http://schemas.microsoft.com/office/drawing/2014/main" val="2150950822"/>
                  </a:ext>
                </a:extLst>
              </a:tr>
              <a:tr h="334609">
                <a:tc gridSpan="5">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IPR/Pink Review</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a:effectLst/>
                        </a:rPr>
                        <a:t> </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a:effectLst/>
                        </a:rPr>
                        <a:t> </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extLst>
                  <a:ext uri="{0D108BD9-81ED-4DB2-BD59-A6C34878D82A}">
                    <a16:rowId xmlns:a16="http://schemas.microsoft.com/office/drawing/2014/main" val="2974687104"/>
                  </a:ext>
                </a:extLst>
              </a:tr>
              <a:tr h="831056">
                <a:tc gridSpan="5">
                  <a:txBody>
                    <a:bodyPr/>
                    <a:lstStyle/>
                    <a:p>
                      <a:pPr algn="l" fontAlgn="ctr"/>
                      <a:r>
                        <a:rPr lang="en-US" sz="1000" u="none" strike="noStrike">
                          <a:effectLst/>
                        </a:rPr>
                        <a:t> </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1000" u="none" strike="noStrike">
                          <a:effectLst/>
                        </a:rPr>
                        <a:t> </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PPQ'S TO POC's</a:t>
                      </a:r>
                      <a:br>
                        <a:rPr lang="en-US" sz="1000" u="none" strike="noStrike" dirty="0">
                          <a:effectLst/>
                        </a:rPr>
                      </a:br>
                      <a:r>
                        <a:rPr lang="en-US" sz="1000" u="none" strike="noStrike" dirty="0">
                          <a:effectLst/>
                        </a:rPr>
                        <a:t>Note:  List of POC's to be sent to Contract Specialist before due date</a:t>
                      </a:r>
                      <a:endParaRPr lang="en-US" sz="1000" b="1"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a:effectLst/>
                        </a:rPr>
                        <a:t> </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Potential Additional Questions to Government</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1"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Red Recovery</a:t>
                      </a:r>
                      <a:endParaRPr lang="en-US" sz="1000" b="0"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extLst>
                  <a:ext uri="{0D108BD9-81ED-4DB2-BD59-A6C34878D82A}">
                    <a16:rowId xmlns:a16="http://schemas.microsoft.com/office/drawing/2014/main" val="2455010753"/>
                  </a:ext>
                </a:extLst>
              </a:tr>
              <a:tr h="181451">
                <a:tc gridSpan="4">
                  <a:txBody>
                    <a:bodyPr/>
                    <a:lstStyle/>
                    <a:p>
                      <a:pPr algn="r" fontAlgn="b"/>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6111" marR="6111" marT="6111" marB="0" anchor="b">
                    <a:solidFill>
                      <a:schemeClr val="accent1">
                        <a:lumMod val="40000"/>
                        <a:lumOff val="60000"/>
                      </a:schemeClr>
                    </a:solidFill>
                  </a:tcPr>
                </a:tc>
                <a:tc hMerge="1">
                  <a:txBody>
                    <a:bodyPr/>
                    <a:lstStyle/>
                    <a:p>
                      <a:pPr algn="r" fontAlgn="b"/>
                      <a:endParaRPr lang="en-US" sz="1000" b="0" i="0" u="none" strike="noStrike">
                        <a:solidFill>
                          <a:srgbClr val="000000"/>
                        </a:solidFill>
                        <a:effectLst/>
                        <a:latin typeface="Calibri" panose="020F0502020204030204" pitchFamily="34" charset="0"/>
                      </a:endParaRPr>
                    </a:p>
                  </a:txBody>
                  <a:tcPr marL="6111" marR="6111" marT="6111" marB="0" anchor="b"/>
                </a:tc>
                <a:tc hMerge="1">
                  <a:txBody>
                    <a:bodyPr/>
                    <a:lstStyle/>
                    <a:p>
                      <a:endParaRPr lang="en-US"/>
                    </a:p>
                  </a:txBody>
                  <a:tcPr/>
                </a:tc>
                <a:tc hMerge="1">
                  <a:txBody>
                    <a:bodyPr/>
                    <a:lstStyle/>
                    <a:p>
                      <a:pPr algn="r" fontAlgn="b"/>
                      <a:endParaRPr lang="en-US" sz="1000" b="0" i="0" u="none" strike="noStrike">
                        <a:solidFill>
                          <a:srgbClr val="000000"/>
                        </a:solidFill>
                        <a:effectLst/>
                        <a:latin typeface="Calibri" panose="020F0502020204030204" pitchFamily="34" charset="0"/>
                      </a:endParaRPr>
                    </a:p>
                  </a:txBody>
                  <a:tcPr marL="6111" marR="6111" marT="6111" marB="0" anchor="b"/>
                </a:tc>
                <a:tc>
                  <a:txBody>
                    <a:bodyPr/>
                    <a:lstStyle/>
                    <a:p>
                      <a:pPr algn="r" fontAlgn="ctr"/>
                      <a:r>
                        <a:rPr lang="en-US" sz="1000" u="none" strike="noStrike" dirty="0">
                          <a:effectLst/>
                        </a:rPr>
                        <a:t>18</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19</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20</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21</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22</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23</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24</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extLst>
                  <a:ext uri="{0D108BD9-81ED-4DB2-BD59-A6C34878D82A}">
                    <a16:rowId xmlns:a16="http://schemas.microsoft.com/office/drawing/2014/main" val="402882764"/>
                  </a:ext>
                </a:extLst>
              </a:tr>
              <a:tr h="501933">
                <a:tc gridSpan="5">
                  <a:txBody>
                    <a:bodyPr/>
                    <a:lstStyle/>
                    <a:p>
                      <a:pPr algn="l" fontAlgn="ctr"/>
                      <a:r>
                        <a:rPr lang="en-US" sz="1000" u="none" strike="noStrike">
                          <a:effectLst/>
                        </a:rPr>
                        <a:t> </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1000" u="none" strike="noStrike" dirty="0">
                          <a:effectLst/>
                        </a:rPr>
                        <a:t>Red Review All Vols</a:t>
                      </a:r>
                      <a:endParaRPr lang="en-US" sz="1000" b="1"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Deadline:</a:t>
                      </a:r>
                      <a:br>
                        <a:rPr lang="en-US" sz="1000" u="none" strike="noStrike" dirty="0">
                          <a:effectLst/>
                        </a:rPr>
                      </a:br>
                      <a:r>
                        <a:rPr lang="en-US" sz="1000" u="none" strike="noStrike" dirty="0">
                          <a:effectLst/>
                        </a:rPr>
                        <a:t>22 July 2021 at 4:00PM EST</a:t>
                      </a:r>
                      <a:endParaRPr lang="en-US" sz="1000" b="1"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extLst>
                  <a:ext uri="{0D108BD9-81ED-4DB2-BD59-A6C34878D82A}">
                    <a16:rowId xmlns:a16="http://schemas.microsoft.com/office/drawing/2014/main" val="2280351714"/>
                  </a:ext>
                </a:extLst>
              </a:tr>
              <a:tr h="428075">
                <a:tc gridSpan="5">
                  <a:txBody>
                    <a:bodyPr/>
                    <a:lstStyle/>
                    <a:p>
                      <a:pPr algn="l" fontAlgn="ctr"/>
                      <a:r>
                        <a:rPr lang="en-US" sz="1000" u="none" strike="noStrike" dirty="0">
                          <a:effectLst/>
                        </a:rPr>
                        <a:t>Red Recovery</a:t>
                      </a:r>
                      <a:endParaRPr lang="en-US" sz="1000" b="0"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1000" u="none" strike="noStrike">
                          <a:effectLst/>
                        </a:rPr>
                        <a:t>Red Recovery</a:t>
                      </a:r>
                      <a:endParaRPr lang="en-US" sz="1000" b="0" i="0" u="none" strike="noStrike">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Red Recovery</a:t>
                      </a:r>
                      <a:endParaRPr lang="en-US" sz="1000" b="0"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a:effectLst/>
                        </a:rPr>
                        <a:t>Final Review/Edit and Compilation</a:t>
                      </a:r>
                      <a:endParaRPr lang="en-US" sz="1000" b="0" i="0" u="none" strike="noStrike">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PPQs are due from POCs </a:t>
                      </a:r>
                      <a:endParaRPr lang="en-US" sz="1000" b="1" i="0" u="none" strike="noStrike" dirty="0">
                        <a:solidFill>
                          <a:srgbClr val="FF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extLst>
                  <a:ext uri="{0D108BD9-81ED-4DB2-BD59-A6C34878D82A}">
                    <a16:rowId xmlns:a16="http://schemas.microsoft.com/office/drawing/2014/main" val="3212475786"/>
                  </a:ext>
                </a:extLst>
              </a:tr>
              <a:tr h="95222">
                <a:tc gridSpan="3">
                  <a:txBody>
                    <a:bodyPr/>
                    <a:lstStyle/>
                    <a:p>
                      <a:pPr algn="r" fontAlgn="b"/>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111" marR="6111" marT="6111" marB="0" anchor="b">
                    <a:solidFill>
                      <a:schemeClr val="accent1">
                        <a:lumMod val="20000"/>
                        <a:lumOff val="80000"/>
                      </a:schemeClr>
                    </a:solidFill>
                  </a:tcPr>
                </a:tc>
                <a:tc hMerge="1">
                  <a:txBody>
                    <a:bodyPr/>
                    <a:lstStyle/>
                    <a:p>
                      <a:pPr algn="r" fontAlgn="b"/>
                      <a:endParaRPr lang="en-US" sz="1000" b="0" i="0" u="none" strike="noStrike">
                        <a:solidFill>
                          <a:srgbClr val="000000"/>
                        </a:solidFill>
                        <a:effectLst/>
                        <a:latin typeface="Calibri" panose="020F0502020204030204" pitchFamily="34" charset="0"/>
                      </a:endParaRPr>
                    </a:p>
                  </a:txBody>
                  <a:tcPr marL="6111" marR="6111" marT="6111" marB="0" anchor="b"/>
                </a:tc>
                <a:tc hMerge="1">
                  <a:txBody>
                    <a:bodyPr/>
                    <a:lstStyle/>
                    <a:p>
                      <a:pPr algn="r" fontAlgn="b"/>
                      <a:endParaRPr lang="en-US" sz="1000" b="0" i="0" u="none" strike="noStrike">
                        <a:solidFill>
                          <a:srgbClr val="000000"/>
                        </a:solidFill>
                        <a:effectLst/>
                        <a:latin typeface="Calibri" panose="020F0502020204030204" pitchFamily="34" charset="0"/>
                      </a:endParaRPr>
                    </a:p>
                  </a:txBody>
                  <a:tcPr marL="6111" marR="6111" marT="6111" marB="0" anchor="b">
                    <a:solidFill>
                      <a:schemeClr val="accent1">
                        <a:lumMod val="20000"/>
                        <a:lumOff val="80000"/>
                      </a:schemeClr>
                    </a:solidFill>
                  </a:tcPr>
                </a:tc>
                <a:tc gridSpan="2">
                  <a:txBody>
                    <a:bodyPr/>
                    <a:lstStyle/>
                    <a:p>
                      <a:pPr algn="r" fontAlgn="b"/>
                      <a:r>
                        <a:rPr lang="en-US" sz="1000" u="none" strike="noStrike" dirty="0">
                          <a:effectLst/>
                        </a:rPr>
                        <a:t>25</a:t>
                      </a:r>
                      <a:endParaRPr lang="en-US" sz="1000" b="0" i="0" u="none" strike="noStrike" dirty="0">
                        <a:solidFill>
                          <a:srgbClr val="000000"/>
                        </a:solidFill>
                        <a:effectLst/>
                        <a:latin typeface="Calibri" panose="020F0502020204030204" pitchFamily="34" charset="0"/>
                      </a:endParaRPr>
                    </a:p>
                  </a:txBody>
                  <a:tcPr marL="6111" marR="6111" marT="6111" marB="0" anchor="ctr">
                    <a:solidFill>
                      <a:schemeClr val="accent1">
                        <a:lumMod val="40000"/>
                        <a:lumOff val="60000"/>
                      </a:schemeClr>
                    </a:solidFill>
                  </a:tcPr>
                </a:tc>
                <a:tc hMerge="1">
                  <a:txBody>
                    <a:bodyPr/>
                    <a:lstStyle/>
                    <a:p>
                      <a:pPr algn="r" fontAlgn="ctr"/>
                      <a:r>
                        <a:rPr lang="en-US" sz="1000" u="none" strike="noStrike">
                          <a:effectLst/>
                        </a:rPr>
                        <a:t>25</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tc>
                <a:tc>
                  <a:txBody>
                    <a:bodyPr/>
                    <a:lstStyle/>
                    <a:p>
                      <a:pPr algn="r" fontAlgn="ctr"/>
                      <a:r>
                        <a:rPr lang="en-US" sz="1000" u="none" strike="noStrike" dirty="0">
                          <a:effectLst/>
                        </a:rPr>
                        <a:t>26</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27</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28</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29</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30</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tc>
                  <a:txBody>
                    <a:bodyPr/>
                    <a:lstStyle/>
                    <a:p>
                      <a:pPr algn="r" fontAlgn="ctr"/>
                      <a:r>
                        <a:rPr lang="en-US" sz="1000" u="none" strike="noStrike" dirty="0">
                          <a:effectLst/>
                        </a:rPr>
                        <a:t>31</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40000"/>
                        <a:lumOff val="60000"/>
                      </a:schemeClr>
                    </a:solidFill>
                  </a:tcPr>
                </a:tc>
                <a:extLst>
                  <a:ext uri="{0D108BD9-81ED-4DB2-BD59-A6C34878D82A}">
                    <a16:rowId xmlns:a16="http://schemas.microsoft.com/office/drawing/2014/main" val="486719964"/>
                  </a:ext>
                </a:extLst>
              </a:tr>
              <a:tr h="222690">
                <a:tc gridSpan="5">
                  <a:txBody>
                    <a:bodyPr/>
                    <a:lstStyle/>
                    <a:p>
                      <a:pPr algn="l" fontAlgn="ctr"/>
                      <a:r>
                        <a:rPr lang="en-US" sz="1000" u="none" strike="noStrike">
                          <a:effectLst/>
                        </a:rPr>
                        <a:t> </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tc>
                  <a:txBody>
                    <a:bodyPr/>
                    <a:lstStyle/>
                    <a:p>
                      <a:pPr algn="l" fontAlgn="ctr"/>
                      <a:r>
                        <a:rPr lang="en-US" sz="1000" u="none" strike="noStrike" dirty="0">
                          <a:effectLst/>
                        </a:rPr>
                        <a:t> </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6111" marR="6111" marT="6111" marB="0" anchor="ctr">
                    <a:solidFill>
                      <a:schemeClr val="accent1">
                        <a:lumMod val="20000"/>
                        <a:lumOff val="80000"/>
                      </a:schemeClr>
                    </a:solidFill>
                  </a:tcPr>
                </a:tc>
                <a:extLst>
                  <a:ext uri="{0D108BD9-81ED-4DB2-BD59-A6C34878D82A}">
                    <a16:rowId xmlns:a16="http://schemas.microsoft.com/office/drawing/2014/main" val="1748499422"/>
                  </a:ext>
                </a:extLst>
              </a:tr>
            </a:tbl>
          </a:graphicData>
        </a:graphic>
      </p:graphicFrame>
    </p:spTree>
    <p:extLst>
      <p:ext uri="{BB962C8B-B14F-4D97-AF65-F5344CB8AC3E}">
        <p14:creationId xmlns:p14="http://schemas.microsoft.com/office/powerpoint/2010/main" val="636696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A6965000-F265-4D09-AD05-83D79168C127}"/>
              </a:ext>
            </a:extLst>
          </p:cNvPr>
          <p:cNvGraphicFramePr>
            <a:graphicFrameLocks noGrp="1"/>
          </p:cNvGraphicFramePr>
          <p:nvPr>
            <p:extLst>
              <p:ext uri="{D42A27DB-BD31-4B8C-83A1-F6EECF244321}">
                <p14:modId xmlns:p14="http://schemas.microsoft.com/office/powerpoint/2010/main" val="1427457204"/>
              </p:ext>
            </p:extLst>
          </p:nvPr>
        </p:nvGraphicFramePr>
        <p:xfrm>
          <a:off x="0" y="1077893"/>
          <a:ext cx="12192000" cy="5863338"/>
        </p:xfrm>
        <a:graphic>
          <a:graphicData uri="http://schemas.openxmlformats.org/drawingml/2006/table">
            <a:tbl>
              <a:tblPr>
                <a:tableStyleId>{69CF1AB2-1976-4502-BF36-3FF5EA218861}</a:tableStyleId>
              </a:tblPr>
              <a:tblGrid>
                <a:gridCol w="2419658">
                  <a:extLst>
                    <a:ext uri="{9D8B030D-6E8A-4147-A177-3AD203B41FA5}">
                      <a16:colId xmlns:a16="http://schemas.microsoft.com/office/drawing/2014/main" val="3309023298"/>
                    </a:ext>
                  </a:extLst>
                </a:gridCol>
                <a:gridCol w="1228706">
                  <a:extLst>
                    <a:ext uri="{9D8B030D-6E8A-4147-A177-3AD203B41FA5}">
                      <a16:colId xmlns:a16="http://schemas.microsoft.com/office/drawing/2014/main" val="2747906815"/>
                    </a:ext>
                  </a:extLst>
                </a:gridCol>
                <a:gridCol w="858981">
                  <a:extLst>
                    <a:ext uri="{9D8B030D-6E8A-4147-A177-3AD203B41FA5}">
                      <a16:colId xmlns:a16="http://schemas.microsoft.com/office/drawing/2014/main" val="2800068665"/>
                    </a:ext>
                  </a:extLst>
                </a:gridCol>
                <a:gridCol w="7684655">
                  <a:extLst>
                    <a:ext uri="{9D8B030D-6E8A-4147-A177-3AD203B41FA5}">
                      <a16:colId xmlns:a16="http://schemas.microsoft.com/office/drawing/2014/main" val="3317995785"/>
                    </a:ext>
                  </a:extLst>
                </a:gridCol>
              </a:tblGrid>
              <a:tr h="0">
                <a:tc>
                  <a:txBody>
                    <a:bodyPr/>
                    <a:lstStyle/>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Potential Proposal </a:t>
                      </a:r>
                    </a:p>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Section #	</a:t>
                      </a:r>
                    </a:p>
                  </a:txBody>
                  <a:tcPr marL="2834" marR="2834" marT="2834" marB="0" anchor="ctr">
                    <a:solidFill>
                      <a:schemeClr val="bg1">
                        <a:lumMod val="50000"/>
                        <a:lumOff val="50000"/>
                      </a:schemeClr>
                    </a:solidFill>
                  </a:tcPr>
                </a:tc>
                <a:tc>
                  <a:txBody>
                    <a:bodyPr/>
                    <a:lstStyle/>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Responsibility	</a:t>
                      </a:r>
                    </a:p>
                  </a:txBody>
                  <a:tcPr marL="2834" marR="2834" marT="2834" marB="0" anchor="ctr">
                    <a:solidFill>
                      <a:schemeClr val="bg1">
                        <a:lumMod val="50000"/>
                        <a:lumOff val="50000"/>
                      </a:schemeClr>
                    </a:solidFill>
                  </a:tcPr>
                </a:tc>
                <a:tc>
                  <a:txBody>
                    <a:bodyPr/>
                    <a:lstStyle/>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Page</a:t>
                      </a:r>
                    </a:p>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 Limit</a:t>
                      </a:r>
                    </a:p>
                  </a:txBody>
                  <a:tcPr marL="2834" marR="2834" marT="2834" marB="0" anchor="ctr">
                    <a:solidFill>
                      <a:schemeClr val="bg1">
                        <a:lumMod val="50000"/>
                        <a:lumOff val="50000"/>
                      </a:schemeClr>
                    </a:solidFill>
                  </a:tcPr>
                </a:tc>
                <a:tc>
                  <a:txBody>
                    <a:bodyPr/>
                    <a:lstStyle/>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Section L – Instructions (Proposal Outline)</a:t>
                      </a:r>
                    </a:p>
                  </a:txBody>
                  <a:tcPr marL="2834" marR="2834" marT="2834" marB="0" anchor="ctr">
                    <a:solidFill>
                      <a:schemeClr val="bg1">
                        <a:lumMod val="50000"/>
                        <a:lumOff val="50000"/>
                      </a:schemeClr>
                    </a:solidFill>
                  </a:tcPr>
                </a:tc>
                <a:extLst>
                  <a:ext uri="{0D108BD9-81ED-4DB2-BD59-A6C34878D82A}">
                    <a16:rowId xmlns:a16="http://schemas.microsoft.com/office/drawing/2014/main" val="3354672413"/>
                  </a:ext>
                </a:extLst>
              </a:tr>
              <a:tr h="254682">
                <a:tc>
                  <a:txBody>
                    <a:bodyPr/>
                    <a:lstStyle/>
                    <a:p>
                      <a:pPr algn="ctr" fontAlgn="ctr"/>
                      <a:r>
                        <a:rPr lang="en-US" sz="1400" b="1" u="none" strike="noStrike" dirty="0">
                          <a:effectLst/>
                          <a:latin typeface="Arial" panose="020B0604020202020204" pitchFamily="34" charset="0"/>
                          <a:cs typeface="Arial" panose="020B0604020202020204" pitchFamily="34" charset="0"/>
                        </a:rPr>
                        <a:t>Section 1 - Subfactor a</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ctr"/>
                      <a:r>
                        <a:rPr lang="en-US" sz="1400" b="1" u="none" strike="noStrike" dirty="0">
                          <a:effectLst/>
                          <a:latin typeface="Arial" panose="020B0604020202020204" pitchFamily="34" charset="0"/>
                          <a:cs typeface="Arial" panose="020B0604020202020204" pitchFamily="34" charset="0"/>
                        </a:rPr>
                        <a:t>Bonding Capacity</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extLst>
                  <a:ext uri="{0D108BD9-81ED-4DB2-BD59-A6C34878D82A}">
                    <a16:rowId xmlns:a16="http://schemas.microsoft.com/office/drawing/2014/main" val="340505860"/>
                  </a:ext>
                </a:extLst>
              </a:tr>
              <a:tr h="586060">
                <a:tc>
                  <a:txBody>
                    <a:bodyPr/>
                    <a:lstStyle/>
                    <a:p>
                      <a:pPr algn="ctr" fontAlgn="ctr"/>
                      <a:r>
                        <a:rPr lang="en-US" sz="1300" u="none" strike="noStrike" dirty="0" err="1">
                          <a:effectLst/>
                          <a:latin typeface="Arial" panose="020B0604020202020204" pitchFamily="34" charset="0"/>
                          <a:cs typeface="Arial" panose="020B0604020202020204" pitchFamily="34" charset="0"/>
                        </a:rPr>
                        <a:t>Keypoint</a:t>
                      </a:r>
                      <a:r>
                        <a:rPr lang="en-US" sz="1300" u="none" strike="noStrike" dirty="0">
                          <a:effectLst/>
                          <a:latin typeface="Arial" panose="020B0604020202020204" pitchFamily="34" charset="0"/>
                          <a:cs typeface="Arial" panose="020B0604020202020204" pitchFamily="34" charset="0"/>
                        </a:rPr>
                        <a:t>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dirty="0">
                          <a:effectLst/>
                          <a:latin typeface="Arial" panose="020B0604020202020204" pitchFamily="34" charset="0"/>
                          <a:cs typeface="Arial" panose="020B0604020202020204" pitchFamily="34" charset="0"/>
                        </a:rPr>
                        <a:t>Daniela</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ctr"/>
                      <a:r>
                        <a:rPr lang="en-US" sz="1300" u="none" strike="noStrike">
                          <a:effectLst/>
                          <a:latin typeface="Arial" panose="020B0604020202020204" pitchFamily="34" charset="0"/>
                          <a:cs typeface="Arial" panose="020B0604020202020204" pitchFamily="34" charset="0"/>
                        </a:rPr>
                        <a:t>Offeror shall provide a signed letter from its chosen surety demonstrating that it can obtain at lease $5M of Performance and Payment Bonds or evidence that it currently has at least $5 of spare performance and payment capacity per year for this contract.</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extLst>
                  <a:ext uri="{0D108BD9-81ED-4DB2-BD59-A6C34878D82A}">
                    <a16:rowId xmlns:a16="http://schemas.microsoft.com/office/drawing/2014/main" val="4017339439"/>
                  </a:ext>
                </a:extLst>
              </a:tr>
              <a:tr h="197207">
                <a:tc>
                  <a:txBody>
                    <a:bodyPr/>
                    <a:lstStyle/>
                    <a:p>
                      <a:pPr algn="ctr" fontAlgn="ctr"/>
                      <a:r>
                        <a:rPr lang="en-US" sz="1300" b="1" u="none" strike="noStrike" dirty="0">
                          <a:effectLst/>
                          <a:latin typeface="Arial" panose="020B0604020202020204" pitchFamily="34" charset="0"/>
                          <a:cs typeface="Arial" panose="020B0604020202020204" pitchFamily="34" charset="0"/>
                        </a:rPr>
                        <a:t>Section 2 -Subfactor b</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ctr"/>
                      <a:r>
                        <a:rPr lang="en-US" sz="1300" b="1" u="none" strike="noStrike" dirty="0">
                          <a:effectLst/>
                          <a:latin typeface="Arial" panose="020B0604020202020204" pitchFamily="34" charset="0"/>
                          <a:cs typeface="Arial" panose="020B0604020202020204" pitchFamily="34" charset="0"/>
                        </a:rPr>
                        <a:t>Safety program</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extLst>
                  <a:ext uri="{0D108BD9-81ED-4DB2-BD59-A6C34878D82A}">
                    <a16:rowId xmlns:a16="http://schemas.microsoft.com/office/drawing/2014/main" val="2645124619"/>
                  </a:ext>
                </a:extLst>
              </a:tr>
              <a:tr h="197207">
                <a:tc>
                  <a:txBody>
                    <a:bodyPr/>
                    <a:lstStyle/>
                    <a:p>
                      <a:pPr algn="ctr" fontAlgn="ctr"/>
                      <a:r>
                        <a:rPr lang="en-US" sz="1300" b="0" u="none" strike="noStrike" dirty="0">
                          <a:effectLst/>
                          <a:latin typeface="Arial" panose="020B0604020202020204" pitchFamily="34" charset="0"/>
                          <a:cs typeface="Arial" panose="020B0604020202020204" pitchFamily="34" charset="0"/>
                        </a:rPr>
                        <a:t>2.1 </a:t>
                      </a:r>
                      <a:r>
                        <a:rPr lang="en-US" sz="1300" b="0" u="none" strike="noStrike" dirty="0" err="1">
                          <a:effectLst/>
                          <a:latin typeface="Arial" panose="020B0604020202020204" pitchFamily="34" charset="0"/>
                          <a:cs typeface="Arial" panose="020B0604020202020204" pitchFamily="34" charset="0"/>
                        </a:rPr>
                        <a:t>Keypoint</a:t>
                      </a:r>
                      <a:r>
                        <a:rPr lang="en-US" sz="1300" b="0" u="none" strike="noStrike" dirty="0">
                          <a:effectLst/>
                          <a:latin typeface="Arial" panose="020B0604020202020204" pitchFamily="34" charset="0"/>
                          <a:cs typeface="Arial" panose="020B0604020202020204" pitchFamily="34" charset="0"/>
                        </a:rPr>
                        <a:t> #1</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a:effectLst/>
                          <a:latin typeface="Arial" panose="020B0604020202020204" pitchFamily="34" charset="0"/>
                          <a:cs typeface="Arial" panose="020B0604020202020204" pitchFamily="34" charset="0"/>
                        </a:rPr>
                        <a:t> </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ctr"/>
                      <a:r>
                        <a:rPr lang="en-US" sz="1300" u="none" strike="noStrike" dirty="0">
                          <a:effectLst/>
                          <a:latin typeface="Arial" panose="020B0604020202020204" pitchFamily="34" charset="0"/>
                          <a:cs typeface="Arial" panose="020B0604020202020204" pitchFamily="34" charset="0"/>
                        </a:rPr>
                        <a:t>Accident Prevention Plan (APP)</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extLst>
                  <a:ext uri="{0D108BD9-81ED-4DB2-BD59-A6C34878D82A}">
                    <a16:rowId xmlns:a16="http://schemas.microsoft.com/office/drawing/2014/main" val="2416892541"/>
                  </a:ext>
                </a:extLst>
              </a:tr>
              <a:tr h="974913">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ctr"/>
                      <a:r>
                        <a:rPr lang="en-US" sz="1300" u="none" strike="noStrike" dirty="0">
                          <a:effectLst/>
                          <a:latin typeface="Arial" panose="020B0604020202020204" pitchFamily="34" charset="0"/>
                          <a:cs typeface="Arial" panose="020B0604020202020204" pitchFamily="34" charset="0"/>
                        </a:rPr>
                        <a:t>The Offeror is required to submit an Accident Prevention Plan (APP) for the</a:t>
                      </a:r>
                      <a:br>
                        <a:rPr lang="en-US" sz="1300" u="none" strike="noStrike" dirty="0">
                          <a:effectLst/>
                          <a:latin typeface="Arial" panose="020B0604020202020204" pitchFamily="34" charset="0"/>
                          <a:cs typeface="Arial" panose="020B0604020202020204" pitchFamily="34" charset="0"/>
                        </a:rPr>
                      </a:br>
                      <a:r>
                        <a:rPr lang="en-US" sz="1300" u="none" strike="noStrike" dirty="0">
                          <a:effectLst/>
                          <a:latin typeface="Arial" panose="020B0604020202020204" pitchFamily="34" charset="0"/>
                          <a:cs typeface="Arial" panose="020B0604020202020204" pitchFamily="34" charset="0"/>
                        </a:rPr>
                        <a:t>Building 14 TO in accordance with the requirements of the Unified Facilities Guide Specifications (UFGS) 01 35 26 and compliant with United States Army Corp of Engineers Engineering Manual 385-1-1 (USACE EM385) Safety Standards and Controls requirements (see Attachment 3). This</a:t>
                      </a:r>
                      <a:br>
                        <a:rPr lang="en-US" sz="1300" u="none" strike="noStrike" dirty="0">
                          <a:effectLst/>
                          <a:latin typeface="Arial" panose="020B0604020202020204" pitchFamily="34" charset="0"/>
                          <a:cs typeface="Arial" panose="020B0604020202020204" pitchFamily="34" charset="0"/>
                        </a:rPr>
                      </a:br>
                      <a:r>
                        <a:rPr lang="en-US" sz="1300" u="none" strike="noStrike" dirty="0">
                          <a:effectLst/>
                          <a:latin typeface="Arial" panose="020B0604020202020204" pitchFamily="34" charset="0"/>
                          <a:cs typeface="Arial" panose="020B0604020202020204" pitchFamily="34" charset="0"/>
                        </a:rPr>
                        <a:t>APP will be used in the Base MATOC Award and Building 14 seed project TO evaluation.</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extLst>
                  <a:ext uri="{0D108BD9-81ED-4DB2-BD59-A6C34878D82A}">
                    <a16:rowId xmlns:a16="http://schemas.microsoft.com/office/drawing/2014/main" val="58873011"/>
                  </a:ext>
                </a:extLst>
              </a:tr>
              <a:tr h="197207">
                <a:tc>
                  <a:txBody>
                    <a:bodyPr/>
                    <a:lstStyle/>
                    <a:p>
                      <a:pPr algn="ctr" fontAlgn="ctr"/>
                      <a:r>
                        <a:rPr lang="en-US" sz="1300" u="none" strike="noStrike">
                          <a:effectLst/>
                          <a:latin typeface="Arial" panose="020B0604020202020204" pitchFamily="34" charset="0"/>
                          <a:cs typeface="Arial" panose="020B0604020202020204" pitchFamily="34" charset="0"/>
                        </a:rPr>
                        <a:t>2.2 Keypoint#2</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a:effectLst/>
                          <a:latin typeface="Arial" panose="020B0604020202020204" pitchFamily="34" charset="0"/>
                          <a:cs typeface="Arial" panose="020B0604020202020204" pitchFamily="34" charset="0"/>
                        </a:rPr>
                        <a:t> </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ctr"/>
                      <a:r>
                        <a:rPr lang="en-US" sz="1300" u="none" strike="noStrike" dirty="0">
                          <a:effectLst/>
                          <a:latin typeface="Arial" panose="020B0604020202020204" pitchFamily="34" charset="0"/>
                          <a:cs typeface="Arial" panose="020B0604020202020204" pitchFamily="34" charset="0"/>
                        </a:rPr>
                        <a:t>Experience Modification Rate (EMR)</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extLst>
                  <a:ext uri="{0D108BD9-81ED-4DB2-BD59-A6C34878D82A}">
                    <a16:rowId xmlns:a16="http://schemas.microsoft.com/office/drawing/2014/main" val="675721318"/>
                  </a:ext>
                </a:extLst>
              </a:tr>
              <a:tr h="974913">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ctr"/>
                      <a:r>
                        <a:rPr lang="en-US" sz="1300" u="none" strike="noStrike" dirty="0">
                          <a:effectLst/>
                          <a:latin typeface="Arial" panose="020B0604020202020204" pitchFamily="34" charset="0"/>
                          <a:cs typeface="Arial" panose="020B0604020202020204" pitchFamily="34" charset="0"/>
                        </a:rPr>
                        <a:t>The Offeror shall provide the Experience Modification Rate (EMR) for itself and</a:t>
                      </a:r>
                      <a:br>
                        <a:rPr lang="en-US" sz="1300" u="none" strike="noStrike" dirty="0">
                          <a:effectLst/>
                          <a:latin typeface="Arial" panose="020B0604020202020204" pitchFamily="34" charset="0"/>
                          <a:cs typeface="Arial" panose="020B0604020202020204" pitchFamily="34" charset="0"/>
                        </a:rPr>
                      </a:br>
                      <a:r>
                        <a:rPr lang="en-US" sz="1300" u="none" strike="noStrike" dirty="0">
                          <a:effectLst/>
                          <a:latin typeface="Arial" panose="020B0604020202020204" pitchFamily="34" charset="0"/>
                          <a:cs typeface="Arial" panose="020B0604020202020204" pitchFamily="34" charset="0"/>
                        </a:rPr>
                        <a:t>teaming partners for at a minimum the previous three (3) full year operating period from issue date of RFP. The required EMR information shall be provided in a letter format from the insurance companies of the Offeror. The Offeror shall also provide contact information for the insurance companies so that the Government can at its discretion verify the information provided.</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extLst>
                  <a:ext uri="{0D108BD9-81ED-4DB2-BD59-A6C34878D82A}">
                    <a16:rowId xmlns:a16="http://schemas.microsoft.com/office/drawing/2014/main" val="3415459292"/>
                  </a:ext>
                </a:extLst>
              </a:tr>
              <a:tr h="197207">
                <a:tc>
                  <a:txBody>
                    <a:bodyPr/>
                    <a:lstStyle/>
                    <a:p>
                      <a:pPr algn="ctr" fontAlgn="ctr"/>
                      <a:r>
                        <a:rPr lang="en-US" sz="1300" u="none" strike="noStrike">
                          <a:effectLst/>
                          <a:latin typeface="Arial" panose="020B0604020202020204" pitchFamily="34" charset="0"/>
                          <a:cs typeface="Arial" panose="020B0604020202020204" pitchFamily="34" charset="0"/>
                        </a:rPr>
                        <a:t>2.3 Keypoint #3</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ctr"/>
                      <a:r>
                        <a:rPr lang="en-US" sz="1300" u="none" strike="noStrike">
                          <a:effectLst/>
                          <a:latin typeface="Arial" panose="020B0604020202020204" pitchFamily="34" charset="0"/>
                          <a:cs typeface="Arial" panose="020B0604020202020204" pitchFamily="34" charset="0"/>
                        </a:rPr>
                        <a:t>Occupational Safety and Health Administration (OSHA) recordable injuries report</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extLst>
                  <a:ext uri="{0D108BD9-81ED-4DB2-BD59-A6C34878D82A}">
                    <a16:rowId xmlns:a16="http://schemas.microsoft.com/office/drawing/2014/main" val="4136712820"/>
                  </a:ext>
                </a:extLst>
              </a:tr>
              <a:tr h="586060">
                <a:tc>
                  <a:txBody>
                    <a:bodyPr/>
                    <a:lstStyle/>
                    <a:p>
                      <a:pPr algn="ctr" fontAlgn="ctr"/>
                      <a:r>
                        <a:rPr lang="en-US" sz="1300"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t"/>
                      <a:r>
                        <a:rPr lang="en-US" sz="1300" u="none" strike="noStrike" dirty="0">
                          <a:effectLst/>
                          <a:latin typeface="Arial" panose="020B0604020202020204" pitchFamily="34" charset="0"/>
                          <a:cs typeface="Arial" panose="020B0604020202020204" pitchFamily="34" charset="0"/>
                        </a:rPr>
                        <a:t>The Offeror shall provide the Occupational Safety and Health Administration</a:t>
                      </a:r>
                      <a:br>
                        <a:rPr lang="en-US" sz="1300" u="none" strike="noStrike" dirty="0">
                          <a:effectLst/>
                          <a:latin typeface="Arial" panose="020B0604020202020204" pitchFamily="34" charset="0"/>
                          <a:cs typeface="Arial" panose="020B0604020202020204" pitchFamily="34" charset="0"/>
                        </a:rPr>
                      </a:br>
                      <a:r>
                        <a:rPr lang="en-US" sz="1300" u="none" strike="noStrike" dirty="0">
                          <a:effectLst/>
                          <a:latin typeface="Arial" panose="020B0604020202020204" pitchFamily="34" charset="0"/>
                          <a:cs typeface="Arial" panose="020B0604020202020204" pitchFamily="34" charset="0"/>
                        </a:rPr>
                        <a:t>(OSHA) recordable injuries/illnesses reports and Days Away Restricted or Transferred (DART) rate for at a minimum the previous three (3) full year operating period from issue date of RFP.</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tc>
                <a:extLst>
                  <a:ext uri="{0D108BD9-81ED-4DB2-BD59-A6C34878D82A}">
                    <a16:rowId xmlns:a16="http://schemas.microsoft.com/office/drawing/2014/main" val="2387641367"/>
                  </a:ext>
                </a:extLst>
              </a:tr>
              <a:tr h="197207">
                <a:tc>
                  <a:txBody>
                    <a:bodyPr/>
                    <a:lstStyle/>
                    <a:p>
                      <a:pPr algn="ctr" fontAlgn="ctr"/>
                      <a:r>
                        <a:rPr lang="en-US" sz="1300" b="1" u="none" strike="noStrike" dirty="0">
                          <a:effectLst/>
                          <a:latin typeface="Arial" panose="020B0604020202020204" pitchFamily="34" charset="0"/>
                          <a:cs typeface="Arial" panose="020B0604020202020204" pitchFamily="34" charset="0"/>
                        </a:rPr>
                        <a:t>Section 3 - Subfactor c</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ctr"/>
                      <a:r>
                        <a:rPr lang="en-US" sz="1300" b="1" u="none" strike="noStrike" dirty="0">
                          <a:effectLst/>
                          <a:latin typeface="Arial" panose="020B0604020202020204" pitchFamily="34" charset="0"/>
                          <a:cs typeface="Arial" panose="020B0604020202020204" pitchFamily="34" charset="0"/>
                        </a:rPr>
                        <a:t>Quality Control</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extLst>
                  <a:ext uri="{0D108BD9-81ED-4DB2-BD59-A6C34878D82A}">
                    <a16:rowId xmlns:a16="http://schemas.microsoft.com/office/drawing/2014/main" val="1959336720"/>
                  </a:ext>
                </a:extLst>
              </a:tr>
              <a:tr h="993076">
                <a:tc>
                  <a:txBody>
                    <a:bodyPr/>
                    <a:lstStyle/>
                    <a:p>
                      <a:pPr algn="ctr" fontAlgn="ctr"/>
                      <a:r>
                        <a:rPr lang="en-US" sz="1300" u="none" strike="noStrike" dirty="0">
                          <a:effectLst/>
                          <a:latin typeface="Arial" panose="020B0604020202020204" pitchFamily="34" charset="0"/>
                          <a:cs typeface="Arial" panose="020B0604020202020204" pitchFamily="34" charset="0"/>
                        </a:rPr>
                        <a:t>3.1  </a:t>
                      </a:r>
                      <a:r>
                        <a:rPr lang="en-US" sz="1300" u="none" strike="noStrike" dirty="0" err="1">
                          <a:effectLst/>
                          <a:latin typeface="Arial" panose="020B0604020202020204" pitchFamily="34" charset="0"/>
                          <a:cs typeface="Arial" panose="020B0604020202020204" pitchFamily="34" charset="0"/>
                        </a:rPr>
                        <a:t>Keypoint</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300" u="none" strike="noStrike" dirty="0">
                          <a:effectLst/>
                          <a:latin typeface="Arial" panose="020B0604020202020204" pitchFamily="34" charset="0"/>
                          <a:cs typeface="Arial" panose="020B0604020202020204" pitchFamily="34" charset="0"/>
                        </a:rPr>
                        <a:t>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t"/>
                      <a:r>
                        <a:rPr lang="en-US" sz="1300" u="none" strike="noStrike" dirty="0">
                          <a:effectLst/>
                          <a:latin typeface="Arial" panose="020B0604020202020204" pitchFamily="34" charset="0"/>
                          <a:cs typeface="Arial" panose="020B0604020202020204" pitchFamily="34" charset="0"/>
                        </a:rPr>
                        <a:t>Offeror is required to submit a Quality Control Plan for the Building 14 TO in accordance with the requirements of the Unified Facilities Guide Specifications (UFGS) 01 35 26 and compliant with United States Army Corp of Engineers Engineering Manual 385-1-1 (USACE EM385) Safety Standards and Controls requirements (see Attachment 4).</a:t>
                      </a:r>
                      <a:r>
                        <a:rPr lang="en-US" sz="1300" b="1" u="none" strike="noStrike" dirty="0">
                          <a:effectLst/>
                          <a:latin typeface="Arial" panose="020B0604020202020204" pitchFamily="34" charset="0"/>
                          <a:cs typeface="Arial" panose="020B0604020202020204" pitchFamily="34" charset="0"/>
                        </a:rPr>
                        <a:t> </a:t>
                      </a:r>
                      <a:r>
                        <a:rPr lang="en-US" sz="1000" b="1" u="none" strike="noStrike" dirty="0">
                          <a:effectLst/>
                          <a:latin typeface="Arial" panose="020B0604020202020204" pitchFamily="34" charset="0"/>
                          <a:cs typeface="Arial" panose="020B0604020202020204" pitchFamily="34" charset="0"/>
                        </a:rPr>
                        <a:t>This QCP will be used in the Base MATOC Award and Building 14 sed project TO evaluation.</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tc>
                <a:extLst>
                  <a:ext uri="{0D108BD9-81ED-4DB2-BD59-A6C34878D82A}">
                    <a16:rowId xmlns:a16="http://schemas.microsoft.com/office/drawing/2014/main" val="2651003683"/>
                  </a:ext>
                </a:extLst>
              </a:tr>
            </a:tbl>
          </a:graphicData>
        </a:graphic>
      </p:graphicFrame>
      <p:sp>
        <p:nvSpPr>
          <p:cNvPr id="10" name="Title 1">
            <a:extLst>
              <a:ext uri="{FF2B5EF4-FFF2-40B4-BE49-F238E27FC236}">
                <a16:creationId xmlns:a16="http://schemas.microsoft.com/office/drawing/2014/main" id="{DD44F11D-F4F9-4386-9787-E8FEAA974AD0}"/>
              </a:ext>
            </a:extLst>
          </p:cNvPr>
          <p:cNvSpPr>
            <a:spLocks noGrp="1"/>
          </p:cNvSpPr>
          <p:nvPr>
            <p:ph type="title"/>
          </p:nvPr>
        </p:nvSpPr>
        <p:spPr>
          <a:xfrm>
            <a:off x="372533" y="67039"/>
            <a:ext cx="9057794" cy="1075509"/>
          </a:xfrm>
        </p:spPr>
        <p:txBody>
          <a:bodyPr>
            <a:normAutofit/>
          </a:bodyPr>
          <a:lstStyle/>
          <a:p>
            <a:r>
              <a:rPr lang="en-US" sz="2000" b="1" dirty="0">
                <a:latin typeface="Arial" panose="020B0604020202020204" pitchFamily="34" charset="0"/>
                <a:cs typeface="Arial" panose="020B0604020202020204" pitchFamily="34" charset="0"/>
              </a:rPr>
              <a:t>Requirements Directed Outline – </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Volume I: Technical (Page Limit = 50 Total)</a:t>
            </a:r>
          </a:p>
        </p:txBody>
      </p:sp>
    </p:spTree>
    <p:extLst>
      <p:ext uri="{BB962C8B-B14F-4D97-AF65-F5344CB8AC3E}">
        <p14:creationId xmlns:p14="http://schemas.microsoft.com/office/powerpoint/2010/main" val="2039261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7125-F00F-477F-95EE-E4D35C7F355F}"/>
              </a:ext>
            </a:extLst>
          </p:cNvPr>
          <p:cNvSpPr>
            <a:spLocks noGrp="1"/>
          </p:cNvSpPr>
          <p:nvPr>
            <p:ph type="title"/>
          </p:nvPr>
        </p:nvSpPr>
        <p:spPr>
          <a:xfrm>
            <a:off x="372533" y="67039"/>
            <a:ext cx="9057794" cy="1075509"/>
          </a:xfrm>
        </p:spPr>
        <p:txBody>
          <a:bodyPr>
            <a:normAutofit/>
          </a:bodyPr>
          <a:lstStyle/>
          <a:p>
            <a:r>
              <a:rPr lang="en-US" sz="2000" b="1" dirty="0">
                <a:latin typeface="Arial" panose="020B0604020202020204" pitchFamily="34" charset="0"/>
                <a:cs typeface="Arial" panose="020B0604020202020204" pitchFamily="34" charset="0"/>
              </a:rPr>
              <a:t>Requirements Directed Outline – </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Volume I: Technical</a:t>
            </a:r>
          </a:p>
        </p:txBody>
      </p:sp>
      <p:graphicFrame>
        <p:nvGraphicFramePr>
          <p:cNvPr id="6" name="Table 5">
            <a:extLst>
              <a:ext uri="{FF2B5EF4-FFF2-40B4-BE49-F238E27FC236}">
                <a16:creationId xmlns:a16="http://schemas.microsoft.com/office/drawing/2014/main" id="{A6965000-F265-4D09-AD05-83D79168C127}"/>
              </a:ext>
            </a:extLst>
          </p:cNvPr>
          <p:cNvGraphicFramePr>
            <a:graphicFrameLocks noGrp="1"/>
          </p:cNvGraphicFramePr>
          <p:nvPr>
            <p:extLst>
              <p:ext uri="{D42A27DB-BD31-4B8C-83A1-F6EECF244321}">
                <p14:modId xmlns:p14="http://schemas.microsoft.com/office/powerpoint/2010/main" val="2352618197"/>
              </p:ext>
            </p:extLst>
          </p:nvPr>
        </p:nvGraphicFramePr>
        <p:xfrm>
          <a:off x="0" y="1295325"/>
          <a:ext cx="12192000" cy="5562675"/>
        </p:xfrm>
        <a:graphic>
          <a:graphicData uri="http://schemas.openxmlformats.org/drawingml/2006/table">
            <a:tbl>
              <a:tblPr>
                <a:tableStyleId>{69CF1AB2-1976-4502-BF36-3FF5EA218861}</a:tableStyleId>
              </a:tblPr>
              <a:tblGrid>
                <a:gridCol w="2244436">
                  <a:extLst>
                    <a:ext uri="{9D8B030D-6E8A-4147-A177-3AD203B41FA5}">
                      <a16:colId xmlns:a16="http://schemas.microsoft.com/office/drawing/2014/main" val="3309023298"/>
                    </a:ext>
                  </a:extLst>
                </a:gridCol>
                <a:gridCol w="1524000">
                  <a:extLst>
                    <a:ext uri="{9D8B030D-6E8A-4147-A177-3AD203B41FA5}">
                      <a16:colId xmlns:a16="http://schemas.microsoft.com/office/drawing/2014/main" val="2747906815"/>
                    </a:ext>
                  </a:extLst>
                </a:gridCol>
                <a:gridCol w="1016000">
                  <a:extLst>
                    <a:ext uri="{9D8B030D-6E8A-4147-A177-3AD203B41FA5}">
                      <a16:colId xmlns:a16="http://schemas.microsoft.com/office/drawing/2014/main" val="2800068665"/>
                    </a:ext>
                  </a:extLst>
                </a:gridCol>
                <a:gridCol w="7407564">
                  <a:extLst>
                    <a:ext uri="{9D8B030D-6E8A-4147-A177-3AD203B41FA5}">
                      <a16:colId xmlns:a16="http://schemas.microsoft.com/office/drawing/2014/main" val="3317995785"/>
                    </a:ext>
                  </a:extLst>
                </a:gridCol>
              </a:tblGrid>
              <a:tr h="447409">
                <a:tc>
                  <a:txBody>
                    <a:bodyPr/>
                    <a:lstStyle/>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Potential Proposal </a:t>
                      </a:r>
                    </a:p>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Section #	</a:t>
                      </a:r>
                    </a:p>
                  </a:txBody>
                  <a:tcPr marL="2834" marR="2834" marT="2834" marB="0" anchor="ctr">
                    <a:solidFill>
                      <a:schemeClr val="bg1">
                        <a:lumMod val="50000"/>
                        <a:lumOff val="50000"/>
                      </a:schemeClr>
                    </a:solidFill>
                  </a:tcPr>
                </a:tc>
                <a:tc>
                  <a:txBody>
                    <a:bodyPr/>
                    <a:lstStyle/>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Responsibility	</a:t>
                      </a:r>
                    </a:p>
                  </a:txBody>
                  <a:tcPr marL="2834" marR="2834" marT="2834" marB="0" anchor="ctr">
                    <a:solidFill>
                      <a:schemeClr val="bg1">
                        <a:lumMod val="50000"/>
                        <a:lumOff val="50000"/>
                      </a:schemeClr>
                    </a:solidFill>
                  </a:tcPr>
                </a:tc>
                <a:tc>
                  <a:txBody>
                    <a:bodyPr/>
                    <a:lstStyle/>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Page </a:t>
                      </a:r>
                    </a:p>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Limit	</a:t>
                      </a:r>
                    </a:p>
                  </a:txBody>
                  <a:tcPr marL="2834" marR="2834" marT="2834" marB="0" anchor="ctr">
                    <a:solidFill>
                      <a:schemeClr val="bg1">
                        <a:lumMod val="50000"/>
                        <a:lumOff val="50000"/>
                      </a:schemeClr>
                    </a:solidFill>
                  </a:tcPr>
                </a:tc>
                <a:tc>
                  <a:txBody>
                    <a:bodyPr/>
                    <a:lstStyle/>
                    <a:p>
                      <a:pPr algn="ctr" fontAlgn="ctr"/>
                      <a:r>
                        <a:rPr lang="en-US" sz="1400" b="1" i="0" u="none" strike="noStrike" dirty="0">
                          <a:solidFill>
                            <a:schemeClr val="tx1"/>
                          </a:solidFill>
                          <a:effectLst/>
                          <a:latin typeface="Arial" panose="020B0604020202020204" pitchFamily="34" charset="0"/>
                          <a:cs typeface="Arial" panose="020B0604020202020204" pitchFamily="34" charset="0"/>
                        </a:rPr>
                        <a:t>Section L – Instructions (Proposal Outline)</a:t>
                      </a:r>
                    </a:p>
                  </a:txBody>
                  <a:tcPr marL="2834" marR="2834" marT="2834" marB="0" anchor="ctr">
                    <a:solidFill>
                      <a:schemeClr val="bg1">
                        <a:lumMod val="50000"/>
                        <a:lumOff val="50000"/>
                      </a:schemeClr>
                    </a:solidFill>
                  </a:tcPr>
                </a:tc>
                <a:extLst>
                  <a:ext uri="{0D108BD9-81ED-4DB2-BD59-A6C34878D82A}">
                    <a16:rowId xmlns:a16="http://schemas.microsoft.com/office/drawing/2014/main" val="330602740"/>
                  </a:ext>
                </a:extLst>
              </a:tr>
              <a:tr h="314441">
                <a:tc>
                  <a:txBody>
                    <a:bodyPr/>
                    <a:lstStyle/>
                    <a:p>
                      <a:pPr algn="ctr" fontAlgn="ctr"/>
                      <a:r>
                        <a:rPr lang="en-US" sz="1400" b="1" u="none" strike="noStrike" dirty="0">
                          <a:effectLst/>
                          <a:latin typeface="Arial" panose="020B0604020202020204" pitchFamily="34" charset="0"/>
                          <a:cs typeface="Arial" panose="020B0604020202020204" pitchFamily="34" charset="0"/>
                        </a:rPr>
                        <a:t>Section 4 - Subfactor d</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b="1"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b="1"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ctr"/>
                      <a:r>
                        <a:rPr lang="en-US" sz="1400" b="1" u="none" strike="noStrike" dirty="0">
                          <a:effectLst/>
                          <a:latin typeface="Arial" panose="020B0604020202020204" pitchFamily="34" charset="0"/>
                          <a:cs typeface="Arial" panose="020B0604020202020204" pitchFamily="34" charset="0"/>
                        </a:rPr>
                        <a:t>Contract Management Plan</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extLst>
                  <a:ext uri="{0D108BD9-81ED-4DB2-BD59-A6C34878D82A}">
                    <a16:rowId xmlns:a16="http://schemas.microsoft.com/office/drawing/2014/main" val="906127635"/>
                  </a:ext>
                </a:extLst>
              </a:tr>
              <a:tr h="700403">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solidFill>
                      <a:schemeClr val="tx2"/>
                    </a:solidFill>
                  </a:tcPr>
                </a:tc>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solidFill>
                      <a:schemeClr val="tx2"/>
                    </a:solidFill>
                  </a:tcPr>
                </a:tc>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solidFill>
                      <a:schemeClr val="tx2"/>
                    </a:solidFill>
                  </a:tcPr>
                </a:tc>
                <a:tc>
                  <a:txBody>
                    <a:bodyPr/>
                    <a:lstStyle/>
                    <a:p>
                      <a:pPr algn="l" fontAlgn="ctr"/>
                      <a:r>
                        <a:rPr lang="en-US" sz="1400" u="none" strike="noStrike" dirty="0">
                          <a:effectLst/>
                          <a:latin typeface="Arial" panose="020B0604020202020204" pitchFamily="34" charset="0"/>
                          <a:cs typeface="Arial" panose="020B0604020202020204" pitchFamily="34" charset="0"/>
                        </a:rPr>
                        <a:t>This Sub-factor evaluates the Offerors’ Contract Management Plan (CMP): The Offeror shall provide information that demonstrates/substantiates the following:</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extLst>
                  <a:ext uri="{0D108BD9-81ED-4DB2-BD59-A6C34878D82A}">
                    <a16:rowId xmlns:a16="http://schemas.microsoft.com/office/drawing/2014/main" val="3298595723"/>
                  </a:ext>
                </a:extLst>
              </a:tr>
              <a:tr h="573870">
                <a:tc>
                  <a:txBody>
                    <a:bodyPr/>
                    <a:lstStyle/>
                    <a:p>
                      <a:pPr algn="ctr" fontAlgn="ctr"/>
                      <a:r>
                        <a:rPr lang="en-US" sz="1400" u="none" strike="noStrike" dirty="0">
                          <a:effectLst/>
                          <a:latin typeface="Arial" panose="020B0604020202020204" pitchFamily="34" charset="0"/>
                          <a:cs typeface="Arial" panose="020B0604020202020204" pitchFamily="34" charset="0"/>
                        </a:rPr>
                        <a:t>4.1</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Describe the overall company structure, experience and capability related to fulfilling the potential requirements described in this MATOC for NAICS Code 236220.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tc>
                <a:extLst>
                  <a:ext uri="{0D108BD9-81ED-4DB2-BD59-A6C34878D82A}">
                    <a16:rowId xmlns:a16="http://schemas.microsoft.com/office/drawing/2014/main" val="1470901768"/>
                  </a:ext>
                </a:extLst>
              </a:tr>
              <a:tr h="290274">
                <a:tc>
                  <a:txBody>
                    <a:bodyPr/>
                    <a:lstStyle/>
                    <a:p>
                      <a:pPr algn="ctr" fontAlgn="ctr"/>
                      <a:r>
                        <a:rPr lang="en-US" sz="1400" u="none" strike="noStrike">
                          <a:effectLst/>
                          <a:latin typeface="Arial" panose="020B0604020202020204" pitchFamily="34" charset="0"/>
                          <a:cs typeface="Arial" panose="020B0604020202020204" pitchFamily="34" charset="0"/>
                        </a:rPr>
                        <a:t>4.2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Provide general overview of planned contract execution.</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tc>
                <a:extLst>
                  <a:ext uri="{0D108BD9-81ED-4DB2-BD59-A6C34878D82A}">
                    <a16:rowId xmlns:a16="http://schemas.microsoft.com/office/drawing/2014/main" val="841510033"/>
                  </a:ext>
                </a:extLst>
              </a:tr>
              <a:tr h="691127">
                <a:tc>
                  <a:txBody>
                    <a:bodyPr/>
                    <a:lstStyle/>
                    <a:p>
                      <a:pPr algn="ctr" fontAlgn="ctr"/>
                      <a:r>
                        <a:rPr lang="en-US" sz="1400" u="none" strike="noStrike">
                          <a:effectLst/>
                          <a:latin typeface="Arial" panose="020B0604020202020204" pitchFamily="34" charset="0"/>
                          <a:cs typeface="Arial" panose="020B0604020202020204" pitchFamily="34" charset="0"/>
                        </a:rPr>
                        <a:t>4.3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Organization: Organization and ability to manage multiple projects through adequate and qualified on-site staffing to support at least three (3) ongoing task orders.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tc>
                <a:extLst>
                  <a:ext uri="{0D108BD9-81ED-4DB2-BD59-A6C34878D82A}">
                    <a16:rowId xmlns:a16="http://schemas.microsoft.com/office/drawing/2014/main" val="1903206016"/>
                  </a:ext>
                </a:extLst>
              </a:tr>
              <a:tr h="635837">
                <a:tc>
                  <a:txBody>
                    <a:bodyPr/>
                    <a:lstStyle/>
                    <a:p>
                      <a:pPr algn="ctr" fontAlgn="ctr"/>
                      <a:r>
                        <a:rPr lang="en-US" sz="1400" u="none" strike="noStrike" dirty="0">
                          <a:effectLst/>
                          <a:latin typeface="Arial" panose="020B0604020202020204" pitchFamily="34" charset="0"/>
                          <a:cs typeface="Arial" panose="020B0604020202020204" pitchFamily="34" charset="0"/>
                        </a:rPr>
                        <a:t>4.4</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Scheduling methodology: Describe the scheduling techniques and project planning methodology. Describe the criteria for selecting and qualifying subcontractors.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tc>
                <a:extLst>
                  <a:ext uri="{0D108BD9-81ED-4DB2-BD59-A6C34878D82A}">
                    <a16:rowId xmlns:a16="http://schemas.microsoft.com/office/drawing/2014/main" val="1095100418"/>
                  </a:ext>
                </a:extLst>
              </a:tr>
              <a:tr h="868502">
                <a:tc>
                  <a:txBody>
                    <a:bodyPr/>
                    <a:lstStyle/>
                    <a:p>
                      <a:pPr algn="ctr" fontAlgn="ctr"/>
                      <a:r>
                        <a:rPr lang="en-US" sz="1400" u="none" strike="noStrike">
                          <a:effectLst/>
                          <a:latin typeface="Arial" panose="020B0604020202020204" pitchFamily="34" charset="0"/>
                          <a:cs typeface="Arial" panose="020B0604020202020204" pitchFamily="34" charset="0"/>
                        </a:rPr>
                        <a:t>4.5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Include a plan for providing additional resources, manpower and technical expertise for support of the field office to cover peak workloads, special projects and urgently required projects. Response time shall be not more than one (1) hour from notification of emergency projects.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tc>
                <a:extLst>
                  <a:ext uri="{0D108BD9-81ED-4DB2-BD59-A6C34878D82A}">
                    <a16:rowId xmlns:a16="http://schemas.microsoft.com/office/drawing/2014/main" val="294267735"/>
                  </a:ext>
                </a:extLst>
              </a:tr>
              <a:tr h="473365">
                <a:tc>
                  <a:txBody>
                    <a:bodyPr/>
                    <a:lstStyle/>
                    <a:p>
                      <a:pPr algn="ctr" fontAlgn="ctr"/>
                      <a:r>
                        <a:rPr lang="en-US" sz="1400" u="none" strike="noStrike">
                          <a:effectLst/>
                          <a:latin typeface="Arial" panose="020B0604020202020204" pitchFamily="34" charset="0"/>
                          <a:cs typeface="Arial" panose="020B0604020202020204" pitchFamily="34" charset="0"/>
                        </a:rPr>
                        <a:t>4.6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Provide discussion and documentation/evidence of how the Offeror has the ability to provide a sufficient quantity of qualified personnel, i.e. U.S. Citizens, who can obtain mobility access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tc>
                <a:extLst>
                  <a:ext uri="{0D108BD9-81ED-4DB2-BD59-A6C34878D82A}">
                    <a16:rowId xmlns:a16="http://schemas.microsoft.com/office/drawing/2014/main" val="2584080576"/>
                  </a:ext>
                </a:extLst>
              </a:tr>
              <a:tr h="567447">
                <a:tc>
                  <a:txBody>
                    <a:bodyPr/>
                    <a:lstStyle/>
                    <a:p>
                      <a:pPr algn="ctr" fontAlgn="ctr"/>
                      <a:r>
                        <a:rPr lang="en-US" sz="1400" u="none" strike="noStrike">
                          <a:effectLst/>
                          <a:latin typeface="Arial" panose="020B0604020202020204" pitchFamily="34" charset="0"/>
                          <a:cs typeface="Arial" panose="020B0604020202020204" pitchFamily="34" charset="0"/>
                        </a:rPr>
                        <a:t>4.7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2834" marR="2834" marT="2834"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Describe method of evaluating and selecting Architect/Engineering (A/E) firm on Design/Build Task Orders.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2834" marR="2834" marT="2834" marB="0"/>
                </a:tc>
                <a:extLst>
                  <a:ext uri="{0D108BD9-81ED-4DB2-BD59-A6C34878D82A}">
                    <a16:rowId xmlns:a16="http://schemas.microsoft.com/office/drawing/2014/main" val="2644226082"/>
                  </a:ext>
                </a:extLst>
              </a:tr>
            </a:tbl>
          </a:graphicData>
        </a:graphic>
      </p:graphicFrame>
    </p:spTree>
    <p:extLst>
      <p:ext uri="{BB962C8B-B14F-4D97-AF65-F5344CB8AC3E}">
        <p14:creationId xmlns:p14="http://schemas.microsoft.com/office/powerpoint/2010/main" val="3653598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7125-F00F-477F-95EE-E4D35C7F355F}"/>
              </a:ext>
            </a:extLst>
          </p:cNvPr>
          <p:cNvSpPr>
            <a:spLocks noGrp="1"/>
          </p:cNvSpPr>
          <p:nvPr>
            <p:ph type="title"/>
          </p:nvPr>
        </p:nvSpPr>
        <p:spPr>
          <a:xfrm>
            <a:off x="372533" y="67039"/>
            <a:ext cx="9057794" cy="1075509"/>
          </a:xfrm>
        </p:spPr>
        <p:txBody>
          <a:bodyPr>
            <a:normAutofit/>
          </a:bodyPr>
          <a:lstStyle/>
          <a:p>
            <a:r>
              <a:rPr lang="en-US" sz="2000" b="1" dirty="0">
                <a:latin typeface="Arial" panose="020B0604020202020204" pitchFamily="34" charset="0"/>
                <a:cs typeface="Arial" panose="020B0604020202020204" pitchFamily="34" charset="0"/>
              </a:rPr>
              <a:t>Requirements Directed Outline –</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Vol. II: Past Performance (15 pages total)</a:t>
            </a:r>
          </a:p>
        </p:txBody>
      </p:sp>
      <p:graphicFrame>
        <p:nvGraphicFramePr>
          <p:cNvPr id="4" name="Table 3">
            <a:extLst>
              <a:ext uri="{FF2B5EF4-FFF2-40B4-BE49-F238E27FC236}">
                <a16:creationId xmlns:a16="http://schemas.microsoft.com/office/drawing/2014/main" id="{AED9DAAD-648F-43C0-B9B9-F00EB366BA3F}"/>
              </a:ext>
            </a:extLst>
          </p:cNvPr>
          <p:cNvGraphicFramePr>
            <a:graphicFrameLocks noGrp="1"/>
          </p:cNvGraphicFramePr>
          <p:nvPr>
            <p:extLst>
              <p:ext uri="{D42A27DB-BD31-4B8C-83A1-F6EECF244321}">
                <p14:modId xmlns:p14="http://schemas.microsoft.com/office/powerpoint/2010/main" val="2960924502"/>
              </p:ext>
            </p:extLst>
          </p:nvPr>
        </p:nvGraphicFramePr>
        <p:xfrm>
          <a:off x="0" y="1292713"/>
          <a:ext cx="12192000" cy="5565287"/>
        </p:xfrm>
        <a:graphic>
          <a:graphicData uri="http://schemas.openxmlformats.org/drawingml/2006/table">
            <a:tbl>
              <a:tblPr>
                <a:tableStyleId>{69CF1AB2-1976-4502-BF36-3FF5EA218861}</a:tableStyleId>
              </a:tblPr>
              <a:tblGrid>
                <a:gridCol w="1684575">
                  <a:extLst>
                    <a:ext uri="{9D8B030D-6E8A-4147-A177-3AD203B41FA5}">
                      <a16:colId xmlns:a16="http://schemas.microsoft.com/office/drawing/2014/main" val="3721293480"/>
                    </a:ext>
                  </a:extLst>
                </a:gridCol>
                <a:gridCol w="1221780">
                  <a:extLst>
                    <a:ext uri="{9D8B030D-6E8A-4147-A177-3AD203B41FA5}">
                      <a16:colId xmlns:a16="http://schemas.microsoft.com/office/drawing/2014/main" val="2457789046"/>
                    </a:ext>
                  </a:extLst>
                </a:gridCol>
                <a:gridCol w="1129221">
                  <a:extLst>
                    <a:ext uri="{9D8B030D-6E8A-4147-A177-3AD203B41FA5}">
                      <a16:colId xmlns:a16="http://schemas.microsoft.com/office/drawing/2014/main" val="505342807"/>
                    </a:ext>
                  </a:extLst>
                </a:gridCol>
                <a:gridCol w="8156424">
                  <a:extLst>
                    <a:ext uri="{9D8B030D-6E8A-4147-A177-3AD203B41FA5}">
                      <a16:colId xmlns:a16="http://schemas.microsoft.com/office/drawing/2014/main" val="710657351"/>
                    </a:ext>
                  </a:extLst>
                </a:gridCol>
              </a:tblGrid>
              <a:tr h="551823">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Potential Proposal </a:t>
                      </a:r>
                    </a:p>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Section #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Responsibility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Page Limit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Section L – Instructions (Proposal Outline)</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extLst>
                  <a:ext uri="{0D108BD9-81ED-4DB2-BD59-A6C34878D82A}">
                    <a16:rowId xmlns:a16="http://schemas.microsoft.com/office/drawing/2014/main" val="2034514734"/>
                  </a:ext>
                </a:extLst>
              </a:tr>
              <a:tr h="352697">
                <a:tc>
                  <a:txBody>
                    <a:bodyPr/>
                    <a:lstStyle/>
                    <a:p>
                      <a:pPr algn="ctr" fontAlgn="ctr"/>
                      <a:r>
                        <a:rPr lang="en-US" sz="1400" b="1" u="none" strike="noStrike" dirty="0">
                          <a:effectLst/>
                          <a:latin typeface="Arial" panose="020B0604020202020204" pitchFamily="34" charset="0"/>
                          <a:cs typeface="Arial" panose="020B0604020202020204" pitchFamily="34" charset="0"/>
                        </a:rPr>
                        <a:t>Section 1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b="1"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b="1" u="none" strike="noStrike" dirty="0">
                          <a:effectLst/>
                          <a:latin typeface="Arial" panose="020B0604020202020204" pitchFamily="34" charset="0"/>
                          <a:cs typeface="Arial" panose="020B0604020202020204" pitchFamily="34" charset="0"/>
                        </a:rPr>
                        <a:t>Contract Descriptions</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3577305946"/>
                  </a:ext>
                </a:extLst>
              </a:tr>
              <a:tr h="237080">
                <a:tc>
                  <a:txBody>
                    <a:bodyPr/>
                    <a:lstStyle/>
                    <a:p>
                      <a:pPr algn="ctr" fontAlgn="ctr"/>
                      <a:r>
                        <a:rPr lang="en-US" sz="1400" u="none" strike="noStrike" dirty="0">
                          <a:effectLst/>
                          <a:latin typeface="Arial" panose="020B0604020202020204" pitchFamily="34" charset="0"/>
                          <a:cs typeface="Arial" panose="020B0604020202020204" pitchFamily="34" charset="0"/>
                        </a:rPr>
                        <a:t>1.1</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Kathylynn/Niki</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u="none" strike="noStrike">
                          <a:effectLst/>
                          <a:latin typeface="Arial" panose="020B0604020202020204" pitchFamily="34" charset="0"/>
                          <a:cs typeface="Arial" panose="020B0604020202020204" pitchFamily="34" charset="0"/>
                        </a:rPr>
                        <a:t>Format</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2525031798"/>
                  </a:ext>
                </a:extLst>
              </a:tr>
              <a:tr h="706951">
                <a:tc>
                  <a:txBody>
                    <a:bodyPr/>
                    <a:lstStyle/>
                    <a:p>
                      <a:pPr algn="ctr" fontAlgn="ctr"/>
                      <a:r>
                        <a:rPr lang="en-US" sz="1400" u="none" strike="noStrike" dirty="0">
                          <a:effectLst/>
                          <a:latin typeface="Arial" panose="020B0604020202020204" pitchFamily="34" charset="0"/>
                          <a:cs typeface="Arial" panose="020B0604020202020204" pitchFamily="34" charset="0"/>
                        </a:rPr>
                        <a:t>a</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Contractor/Subcontractor place of performance, CAGE Code and DUNS Number. If the work was performed as a subcontractor, also provide the name of the prime contractor and Point of Contact (POC) within the prime contractor organization (name, and current address, e-mail address, and telephone and fax numbers).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extLst>
                  <a:ext uri="{0D108BD9-81ED-4DB2-BD59-A6C34878D82A}">
                    <a16:rowId xmlns:a16="http://schemas.microsoft.com/office/drawing/2014/main" val="3974793270"/>
                  </a:ext>
                </a:extLst>
              </a:tr>
              <a:tr h="472016">
                <a:tc>
                  <a:txBody>
                    <a:bodyPr/>
                    <a:lstStyle/>
                    <a:p>
                      <a:pPr algn="ctr" fontAlgn="ctr"/>
                      <a:r>
                        <a:rPr lang="en-US" sz="1400" u="none" strike="noStrike">
                          <a:effectLst/>
                          <a:latin typeface="Arial" panose="020B0604020202020204" pitchFamily="34" charset="0"/>
                          <a:cs typeface="Arial" panose="020B0604020202020204" pitchFamily="34" charset="0"/>
                        </a:rPr>
                        <a:t>b</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Government contracting activity, and current address, Procuring Contracting Officer's name, e-mail address, telephone and fax numbers.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extLst>
                  <a:ext uri="{0D108BD9-81ED-4DB2-BD59-A6C34878D82A}">
                    <a16:rowId xmlns:a16="http://schemas.microsoft.com/office/drawing/2014/main" val="509403096"/>
                  </a:ext>
                </a:extLst>
              </a:tr>
              <a:tr h="472016">
                <a:tc>
                  <a:txBody>
                    <a:bodyPr/>
                    <a:lstStyle/>
                    <a:p>
                      <a:pPr algn="ctr" fontAlgn="ctr"/>
                      <a:r>
                        <a:rPr lang="en-US" sz="1400" u="none" strike="noStrike">
                          <a:effectLst/>
                          <a:latin typeface="Arial" panose="020B0604020202020204" pitchFamily="34" charset="0"/>
                          <a:cs typeface="Arial" panose="020B0604020202020204" pitchFamily="34" charset="0"/>
                        </a:rPr>
                        <a:t>c</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Government's technical representative/Contracting Officer's Representative and current email address, telephone and fax numbers.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extLst>
                  <a:ext uri="{0D108BD9-81ED-4DB2-BD59-A6C34878D82A}">
                    <a16:rowId xmlns:a16="http://schemas.microsoft.com/office/drawing/2014/main" val="2374242473"/>
                  </a:ext>
                </a:extLst>
              </a:tr>
              <a:tr h="472016">
                <a:tc>
                  <a:txBody>
                    <a:bodyPr/>
                    <a:lstStyle/>
                    <a:p>
                      <a:pPr algn="ctr" fontAlgn="ctr"/>
                      <a:r>
                        <a:rPr lang="en-US" sz="1400" u="none" strike="noStrike">
                          <a:effectLst/>
                          <a:latin typeface="Arial" panose="020B0604020202020204" pitchFamily="34" charset="0"/>
                          <a:cs typeface="Arial" panose="020B0604020202020204" pitchFamily="34" charset="0"/>
                        </a:rPr>
                        <a:t>d</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Government contract administration activity and the Administrative Contracting Officer's name, and current e-mail address, telephone and fax number.</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903052675"/>
                  </a:ext>
                </a:extLst>
              </a:tr>
              <a:tr h="472016">
                <a:tc>
                  <a:txBody>
                    <a:bodyPr/>
                    <a:lstStyle/>
                    <a:p>
                      <a:pPr algn="ctr" fontAlgn="ctr"/>
                      <a:r>
                        <a:rPr lang="en-US" sz="1400" u="none" strike="noStrike">
                          <a:effectLst/>
                          <a:latin typeface="Arial" panose="020B0604020202020204" pitchFamily="34" charset="0"/>
                          <a:cs typeface="Arial" panose="020B0604020202020204" pitchFamily="34" charset="0"/>
                        </a:rPr>
                        <a:t>e</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 Contract Number and, in the case of </a:t>
                      </a:r>
                      <a:r>
                        <a:rPr lang="en-US" sz="1400" u="none" strike="noStrike" dirty="0" err="1">
                          <a:effectLst/>
                          <a:latin typeface="Arial" panose="020B0604020202020204" pitchFamily="34" charset="0"/>
                          <a:cs typeface="Arial" panose="020B0604020202020204" pitchFamily="34" charset="0"/>
                        </a:rPr>
                        <a:t>lndefinite</a:t>
                      </a:r>
                      <a:r>
                        <a:rPr lang="en-US" sz="1400" u="none" strike="noStrike" dirty="0">
                          <a:effectLst/>
                          <a:latin typeface="Arial" panose="020B0604020202020204" pitchFamily="34" charset="0"/>
                          <a:cs typeface="Arial" panose="020B0604020202020204" pitchFamily="34" charset="0"/>
                        </a:rPr>
                        <a:t> Delivery type contracts, GSA contracts, and Blanket Purchase Agreements, include Delivery Order Numbers.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3208994767"/>
                  </a:ext>
                </a:extLst>
              </a:tr>
              <a:tr h="706951">
                <a:tc>
                  <a:txBody>
                    <a:bodyPr/>
                    <a:lstStyle/>
                    <a:p>
                      <a:pPr algn="ctr" fontAlgn="ctr"/>
                      <a:r>
                        <a:rPr lang="en-US" sz="1400" u="none" strike="noStrike">
                          <a:effectLst/>
                          <a:latin typeface="Arial" panose="020B0604020202020204" pitchFamily="34" charset="0"/>
                          <a:cs typeface="Arial" panose="020B0604020202020204" pitchFamily="34" charset="0"/>
                        </a:rPr>
                        <a:t>f</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Contract Type (specific type such as Firm Fixed-Price (FFP), Cost Reimbursement (CR), Time &amp; Material (T&amp;M), etc.). In the case of Indefinite Delivery contracts, indicate specific type (Requirements, Definite Quantity, and Indefinite Quantity) and secondary contract type (FP, CR, T&amp;M, etc.).</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3739784502"/>
                  </a:ext>
                </a:extLst>
              </a:tr>
              <a:tr h="237080">
                <a:tc>
                  <a:txBody>
                    <a:bodyPr/>
                    <a:lstStyle/>
                    <a:p>
                      <a:pPr algn="ctr" fontAlgn="ctr"/>
                      <a:r>
                        <a:rPr lang="en-US" sz="1400" u="none" strike="noStrike">
                          <a:effectLst/>
                          <a:latin typeface="Arial" panose="020B0604020202020204" pitchFamily="34" charset="0"/>
                          <a:cs typeface="Arial" panose="020B0604020202020204" pitchFamily="34" charset="0"/>
                        </a:rPr>
                        <a:t>g</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u="none" strike="noStrike">
                          <a:effectLst/>
                          <a:latin typeface="Arial" panose="020B0604020202020204" pitchFamily="34" charset="0"/>
                          <a:cs typeface="Arial" panose="020B0604020202020204" pitchFamily="34" charset="0"/>
                        </a:rPr>
                        <a:t>Awarded price/cost.</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1805948544"/>
                  </a:ext>
                </a:extLst>
              </a:tr>
              <a:tr h="237080">
                <a:tc>
                  <a:txBody>
                    <a:bodyPr/>
                    <a:lstStyle/>
                    <a:p>
                      <a:pPr algn="ctr" fontAlgn="ctr"/>
                      <a:r>
                        <a:rPr lang="en-US" sz="1400" u="none" strike="noStrike">
                          <a:effectLst/>
                          <a:latin typeface="Arial" panose="020B0604020202020204" pitchFamily="34" charset="0"/>
                          <a:cs typeface="Arial" panose="020B0604020202020204" pitchFamily="34" charset="0"/>
                        </a:rPr>
                        <a:t>h</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Final or projected final price/cost.</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2931095582"/>
                  </a:ext>
                </a:extLst>
              </a:tr>
              <a:tr h="237080">
                <a:tc>
                  <a:txBody>
                    <a:bodyPr/>
                    <a:lstStyle/>
                    <a:p>
                      <a:pPr algn="ctr" fontAlgn="ctr"/>
                      <a:r>
                        <a:rPr lang="en-US" sz="1400" u="none" strike="noStrike">
                          <a:effectLst/>
                          <a:latin typeface="Arial" panose="020B0604020202020204" pitchFamily="34" charset="0"/>
                          <a:cs typeface="Arial" panose="020B0604020202020204" pitchFamily="34" charset="0"/>
                        </a:rPr>
                        <a:t>i</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u="none" strike="noStrike">
                          <a:effectLst/>
                          <a:latin typeface="Arial" panose="020B0604020202020204" pitchFamily="34" charset="0"/>
                          <a:cs typeface="Arial" panose="020B0604020202020204" pitchFamily="34" charset="0"/>
                        </a:rPr>
                        <a:t> Final or projected final, delivery schedule, including dates ofstart and completion of work.</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651772797"/>
                  </a:ext>
                </a:extLst>
              </a:tr>
              <a:tr h="262322">
                <a:tc>
                  <a:txBody>
                    <a:bodyPr/>
                    <a:lstStyle/>
                    <a:p>
                      <a:pPr algn="ctr" fontAlgn="ctr"/>
                      <a:r>
                        <a:rPr lang="en-US" sz="1400" u="none" strike="noStrike">
                          <a:effectLst/>
                          <a:latin typeface="Arial" panose="020B0604020202020204" pitchFamily="34" charset="0"/>
                          <a:cs typeface="Arial" panose="020B0604020202020204" pitchFamily="34" charset="0"/>
                        </a:rPr>
                        <a:t>j</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Original delivery schedule, including dates </a:t>
                      </a:r>
                      <a:r>
                        <a:rPr lang="en-US" sz="1400" u="none" strike="noStrike" dirty="0" err="1">
                          <a:effectLst/>
                          <a:latin typeface="Arial" panose="020B0604020202020204" pitchFamily="34" charset="0"/>
                          <a:cs typeface="Arial" panose="020B0604020202020204" pitchFamily="34" charset="0"/>
                        </a:rPr>
                        <a:t>ofstart</a:t>
                      </a:r>
                      <a:r>
                        <a:rPr lang="en-US" sz="1400" u="none" strike="noStrike" dirty="0">
                          <a:effectLst/>
                          <a:latin typeface="Arial" panose="020B0604020202020204" pitchFamily="34" charset="0"/>
                          <a:cs typeface="Arial" panose="020B0604020202020204" pitchFamily="34" charset="0"/>
                        </a:rPr>
                        <a:t> and completion or work</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1442746500"/>
                  </a:ext>
                </a:extLst>
              </a:tr>
            </a:tbl>
          </a:graphicData>
        </a:graphic>
      </p:graphicFrame>
    </p:spTree>
    <p:extLst>
      <p:ext uri="{BB962C8B-B14F-4D97-AF65-F5344CB8AC3E}">
        <p14:creationId xmlns:p14="http://schemas.microsoft.com/office/powerpoint/2010/main" val="3592901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7125-F00F-477F-95EE-E4D35C7F355F}"/>
              </a:ext>
            </a:extLst>
          </p:cNvPr>
          <p:cNvSpPr>
            <a:spLocks noGrp="1"/>
          </p:cNvSpPr>
          <p:nvPr>
            <p:ph type="title"/>
          </p:nvPr>
        </p:nvSpPr>
        <p:spPr>
          <a:xfrm>
            <a:off x="372533" y="67039"/>
            <a:ext cx="9057794" cy="1075509"/>
          </a:xfrm>
        </p:spPr>
        <p:txBody>
          <a:bodyPr>
            <a:normAutofit/>
          </a:bodyPr>
          <a:lstStyle/>
          <a:p>
            <a:r>
              <a:rPr lang="en-US" sz="2000" b="1" dirty="0">
                <a:latin typeface="Arial" panose="020B0604020202020204" pitchFamily="34" charset="0"/>
                <a:cs typeface="Arial" panose="020B0604020202020204" pitchFamily="34" charset="0"/>
              </a:rPr>
              <a:t>Requirements Directed Outline –</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Vol. II: Past Performance</a:t>
            </a:r>
          </a:p>
        </p:txBody>
      </p:sp>
      <p:graphicFrame>
        <p:nvGraphicFramePr>
          <p:cNvPr id="4" name="Table 3">
            <a:extLst>
              <a:ext uri="{FF2B5EF4-FFF2-40B4-BE49-F238E27FC236}">
                <a16:creationId xmlns:a16="http://schemas.microsoft.com/office/drawing/2014/main" id="{AED9DAAD-648F-43C0-B9B9-F00EB366BA3F}"/>
              </a:ext>
            </a:extLst>
          </p:cNvPr>
          <p:cNvGraphicFramePr>
            <a:graphicFrameLocks noGrp="1"/>
          </p:cNvGraphicFramePr>
          <p:nvPr>
            <p:extLst>
              <p:ext uri="{D42A27DB-BD31-4B8C-83A1-F6EECF244321}">
                <p14:modId xmlns:p14="http://schemas.microsoft.com/office/powerpoint/2010/main" val="3074857599"/>
              </p:ext>
            </p:extLst>
          </p:nvPr>
        </p:nvGraphicFramePr>
        <p:xfrm>
          <a:off x="0" y="1225675"/>
          <a:ext cx="12192000" cy="5715452"/>
        </p:xfrm>
        <a:graphic>
          <a:graphicData uri="http://schemas.openxmlformats.org/drawingml/2006/table">
            <a:tbl>
              <a:tblPr>
                <a:tableStyleId>{69CF1AB2-1976-4502-BF36-3FF5EA218861}</a:tableStyleId>
              </a:tblPr>
              <a:tblGrid>
                <a:gridCol w="1684575">
                  <a:extLst>
                    <a:ext uri="{9D8B030D-6E8A-4147-A177-3AD203B41FA5}">
                      <a16:colId xmlns:a16="http://schemas.microsoft.com/office/drawing/2014/main" val="3721293480"/>
                    </a:ext>
                  </a:extLst>
                </a:gridCol>
                <a:gridCol w="1221780">
                  <a:extLst>
                    <a:ext uri="{9D8B030D-6E8A-4147-A177-3AD203B41FA5}">
                      <a16:colId xmlns:a16="http://schemas.microsoft.com/office/drawing/2014/main" val="2457789046"/>
                    </a:ext>
                  </a:extLst>
                </a:gridCol>
                <a:gridCol w="1129221">
                  <a:extLst>
                    <a:ext uri="{9D8B030D-6E8A-4147-A177-3AD203B41FA5}">
                      <a16:colId xmlns:a16="http://schemas.microsoft.com/office/drawing/2014/main" val="505342807"/>
                    </a:ext>
                  </a:extLst>
                </a:gridCol>
                <a:gridCol w="8156424">
                  <a:extLst>
                    <a:ext uri="{9D8B030D-6E8A-4147-A177-3AD203B41FA5}">
                      <a16:colId xmlns:a16="http://schemas.microsoft.com/office/drawing/2014/main" val="710657351"/>
                    </a:ext>
                  </a:extLst>
                </a:gridCol>
              </a:tblGrid>
              <a:tr h="458573">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Potential Proposal </a:t>
                      </a:r>
                    </a:p>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Section #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Responsibility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Page Limit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Section L – Instructions (Proposal Outline)</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extLst>
                  <a:ext uri="{0D108BD9-81ED-4DB2-BD59-A6C34878D82A}">
                    <a16:rowId xmlns:a16="http://schemas.microsoft.com/office/drawing/2014/main" val="2034514734"/>
                  </a:ext>
                </a:extLst>
              </a:tr>
              <a:tr h="337509">
                <a:tc>
                  <a:txBody>
                    <a:bodyPr/>
                    <a:lstStyle/>
                    <a:p>
                      <a:pPr algn="ctr" fontAlgn="ctr"/>
                      <a:r>
                        <a:rPr lang="en-US" sz="1400" b="1" u="none" strike="noStrike" dirty="0">
                          <a:effectLst/>
                          <a:latin typeface="Arial" panose="020B0604020202020204" pitchFamily="34" charset="0"/>
                          <a:cs typeface="Arial" panose="020B0604020202020204" pitchFamily="34" charset="0"/>
                        </a:rPr>
                        <a:t>Section 2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b="1"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b="1" u="none" strike="noStrike" dirty="0">
                          <a:effectLst/>
                          <a:latin typeface="Arial" panose="020B0604020202020204" pitchFamily="34" charset="0"/>
                          <a:cs typeface="Arial" panose="020B0604020202020204" pitchFamily="34" charset="0"/>
                        </a:rPr>
                        <a:t> Performance</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980059322"/>
                  </a:ext>
                </a:extLst>
              </a:tr>
              <a:tr h="685103">
                <a:tc>
                  <a:txBody>
                    <a:bodyPr/>
                    <a:lstStyle/>
                    <a:p>
                      <a:pPr algn="ctr" fontAlgn="t"/>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tc>
                <a:tc>
                  <a:txBody>
                    <a:bodyPr/>
                    <a:lstStyle/>
                    <a:p>
                      <a:pPr algn="ctr" fontAlgn="t"/>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tc>
                  <a:txBody>
                    <a:bodyPr/>
                    <a:lstStyle/>
                    <a:p>
                      <a:pPr algn="ctr" fontAlgn="t"/>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tc>
                  <a:txBody>
                    <a:bodyPr/>
                    <a:lstStyle/>
                    <a:p>
                      <a:pPr algn="l" fontAlgn="t"/>
                      <a:r>
                        <a:rPr lang="en-US" sz="1400" u="none" strike="noStrike" dirty="0">
                          <a:effectLst/>
                          <a:latin typeface="Arial" panose="020B0604020202020204" pitchFamily="34" charset="0"/>
                          <a:cs typeface="Arial" panose="020B0604020202020204" pitchFamily="34" charset="0"/>
                        </a:rPr>
                        <a:t>The Offeror shall provide a specific narrative explanation of each contract listed in Section 1, Contract Description, describing the objectives achieved and detailing how the effort is relevant to the requirement of this RFP.</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extLst>
                  <a:ext uri="{0D108BD9-81ED-4DB2-BD59-A6C34878D82A}">
                    <a16:rowId xmlns:a16="http://schemas.microsoft.com/office/drawing/2014/main" val="2578495911"/>
                  </a:ext>
                </a:extLst>
              </a:tr>
              <a:tr h="1823970">
                <a:tc>
                  <a:txBody>
                    <a:bodyPr/>
                    <a:lstStyle/>
                    <a:p>
                      <a:pPr algn="ctr" fontAlgn="ctr"/>
                      <a:r>
                        <a:rPr lang="en-US" sz="1400" u="none" strike="noStrike" dirty="0">
                          <a:effectLst/>
                          <a:latin typeface="Arial" panose="020B0604020202020204" pitchFamily="34" charset="0"/>
                          <a:cs typeface="Arial" panose="020B0604020202020204" pitchFamily="34" charset="0"/>
                        </a:rPr>
                        <a:t>2.1</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For any contracts that did not/do not meet original schedule or technical performance requirements, provide a </a:t>
                      </a:r>
                      <a:r>
                        <a:rPr lang="en-US" sz="1400" u="none" strike="noStrike" dirty="0" err="1">
                          <a:effectLst/>
                          <a:latin typeface="Arial" panose="020B0604020202020204" pitchFamily="34" charset="0"/>
                          <a:cs typeface="Arial" panose="020B0604020202020204" pitchFamily="34" charset="0"/>
                        </a:rPr>
                        <a:t>briefexplanation</a:t>
                      </a:r>
                      <a:r>
                        <a:rPr lang="en-US" sz="1400" u="none" strike="noStrike" dirty="0">
                          <a:effectLst/>
                          <a:latin typeface="Arial" panose="020B0604020202020204" pitchFamily="34" charset="0"/>
                          <a:cs typeface="Arial" panose="020B0604020202020204" pitchFamily="34" charset="0"/>
                        </a:rPr>
                        <a:t> </a:t>
                      </a:r>
                      <a:r>
                        <a:rPr lang="en-US" sz="1400" u="none" strike="noStrike" dirty="0" err="1">
                          <a:effectLst/>
                          <a:latin typeface="Arial" panose="020B0604020202020204" pitchFamily="34" charset="0"/>
                          <a:cs typeface="Arial" panose="020B0604020202020204" pitchFamily="34" charset="0"/>
                        </a:rPr>
                        <a:t>ofthe</a:t>
                      </a:r>
                      <a:r>
                        <a:rPr lang="en-US" sz="1400" u="none" strike="noStrike" dirty="0">
                          <a:effectLst/>
                          <a:latin typeface="Arial" panose="020B0604020202020204" pitchFamily="34" charset="0"/>
                          <a:cs typeface="Arial" panose="020B0604020202020204" pitchFamily="34" charset="0"/>
                        </a:rPr>
                        <a:t> reason(s) for the shortcomings and any corrective action(s) taken to avoid recurrence. The Offeror shall list each time the delivery schedule was revised and provide an explanation of why the revision was necessary. All Requests for Deviation and Requests for Waiver shall be addressed with respect to causes and corrective actions. The Offeror shall also provide copy of any Cure Notices or Show Cause Letters received on each contract listed and a description of any corrective action implemented by the Offeror or proposed subcontractor. The Offeror shall indicate if any of the contracts listed were terminated and the type and reasons for the termination.</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extLst>
                  <a:ext uri="{0D108BD9-81ED-4DB2-BD59-A6C34878D82A}">
                    <a16:rowId xmlns:a16="http://schemas.microsoft.com/office/drawing/2014/main" val="3453032260"/>
                  </a:ext>
                </a:extLst>
              </a:tr>
              <a:tr h="912876">
                <a:tc>
                  <a:txBody>
                    <a:bodyPr/>
                    <a:lstStyle/>
                    <a:p>
                      <a:pPr algn="ctr" fontAlgn="ctr"/>
                      <a:r>
                        <a:rPr lang="en-US" sz="1400" u="none" strike="noStrike">
                          <a:effectLst/>
                          <a:latin typeface="Arial" panose="020B0604020202020204" pitchFamily="34" charset="0"/>
                          <a:cs typeface="Arial" panose="020B0604020202020204" pitchFamily="34" charset="0"/>
                        </a:rPr>
                        <a:t>2.2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For all contracts, the Offeror shall provide data on all manufacturing warranty returns. Data shall delineate total number of warranty returns, number of Could Not Duplicate (CND), number of failures attributable to GFE component failures, and number and nature of failures attributable to the Offerors' delivered product.</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extLst>
                  <a:ext uri="{0D108BD9-81ED-4DB2-BD59-A6C34878D82A}">
                    <a16:rowId xmlns:a16="http://schemas.microsoft.com/office/drawing/2014/main" val="1956539089"/>
                  </a:ext>
                </a:extLst>
              </a:tr>
              <a:tr h="356771">
                <a:tc>
                  <a:txBody>
                    <a:bodyPr/>
                    <a:lstStyle/>
                    <a:p>
                      <a:pPr algn="ctr" fontAlgn="ctr"/>
                      <a:r>
                        <a:rPr lang="en-US" sz="1400" b="1" u="none" strike="noStrike" dirty="0">
                          <a:effectLst/>
                          <a:latin typeface="Arial" panose="020B0604020202020204" pitchFamily="34" charset="0"/>
                          <a:cs typeface="Arial" panose="020B0604020202020204" pitchFamily="34" charset="0"/>
                        </a:rPr>
                        <a:t>Section3</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b="1"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b="1" u="none" strike="noStrike" dirty="0">
                          <a:effectLst/>
                          <a:latin typeface="Arial" panose="020B0604020202020204" pitchFamily="34" charset="0"/>
                          <a:cs typeface="Arial" panose="020B0604020202020204" pitchFamily="34" charset="0"/>
                        </a:rPr>
                        <a:t>New Corporate Entities</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2211809203"/>
                  </a:ext>
                </a:extLst>
              </a:tr>
              <a:tr h="1140650">
                <a:tc>
                  <a:txBody>
                    <a:bodyPr/>
                    <a:lstStyle/>
                    <a:p>
                      <a:pPr algn="ctr" fontAlgn="ctr"/>
                      <a:r>
                        <a:rPr lang="en-US" sz="1400" u="none" strike="noStrike">
                          <a:effectLst/>
                          <a:latin typeface="Arial" panose="020B0604020202020204" pitchFamily="34" charset="0"/>
                          <a:cs typeface="Arial" panose="020B0604020202020204" pitchFamily="34" charset="0"/>
                        </a:rPr>
                        <a:t>3.0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New corporate entities may submit data on prior contracts involving its offices and employees. However, in addition to the other requirements in this section, the Offeror shall discuss in detail the role performed by such persons in the prior contracts cited. Information should be included in the files described in the sections above. </a:t>
                      </a:r>
                      <a:br>
                        <a:rPr lang="en-US" sz="1400" u="none" strike="noStrike" dirty="0">
                          <a:effectLst/>
                          <a:latin typeface="Arial" panose="020B0604020202020204" pitchFamily="34" charset="0"/>
                          <a:cs typeface="Arial" panose="020B0604020202020204" pitchFamily="34" charset="0"/>
                        </a:rPr>
                      </a:br>
                      <a:r>
                        <a:rPr lang="en-US" sz="1400" u="none" strike="noStrike" dirty="0">
                          <a:effectLst/>
                          <a:latin typeface="Arial" panose="020B0604020202020204" pitchFamily="34" charset="0"/>
                          <a:cs typeface="Arial" panose="020B0604020202020204" pitchFamily="34" charset="0"/>
                        </a:rPr>
                        <a:t>Letters of Commitment shall be included in the proposal for these employees in order to be considered.</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2325809012"/>
                  </a:ext>
                </a:extLst>
              </a:tr>
            </a:tbl>
          </a:graphicData>
        </a:graphic>
      </p:graphicFrame>
    </p:spTree>
    <p:extLst>
      <p:ext uri="{BB962C8B-B14F-4D97-AF65-F5344CB8AC3E}">
        <p14:creationId xmlns:p14="http://schemas.microsoft.com/office/powerpoint/2010/main" val="4031132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7125-F00F-477F-95EE-E4D35C7F355F}"/>
              </a:ext>
            </a:extLst>
          </p:cNvPr>
          <p:cNvSpPr>
            <a:spLocks noGrp="1"/>
          </p:cNvSpPr>
          <p:nvPr>
            <p:ph type="title"/>
          </p:nvPr>
        </p:nvSpPr>
        <p:spPr>
          <a:xfrm>
            <a:off x="372533" y="0"/>
            <a:ext cx="9057794" cy="1075509"/>
          </a:xfrm>
        </p:spPr>
        <p:txBody>
          <a:bodyPr>
            <a:normAutofit/>
          </a:bodyPr>
          <a:lstStyle/>
          <a:p>
            <a:r>
              <a:rPr lang="en-US" sz="2000" dirty="0">
                <a:latin typeface="Arial" panose="020B0604020202020204" pitchFamily="34" charset="0"/>
                <a:cs typeface="Arial" panose="020B0604020202020204" pitchFamily="34" charset="0"/>
              </a:rPr>
              <a:t>Requirements Directed Outline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Vol. II: Past Performance</a:t>
            </a:r>
          </a:p>
        </p:txBody>
      </p:sp>
      <p:graphicFrame>
        <p:nvGraphicFramePr>
          <p:cNvPr id="4" name="Table 3">
            <a:extLst>
              <a:ext uri="{FF2B5EF4-FFF2-40B4-BE49-F238E27FC236}">
                <a16:creationId xmlns:a16="http://schemas.microsoft.com/office/drawing/2014/main" id="{AED9DAAD-648F-43C0-B9B9-F00EB366BA3F}"/>
              </a:ext>
            </a:extLst>
          </p:cNvPr>
          <p:cNvGraphicFramePr>
            <a:graphicFrameLocks noGrp="1"/>
          </p:cNvGraphicFramePr>
          <p:nvPr>
            <p:extLst>
              <p:ext uri="{D42A27DB-BD31-4B8C-83A1-F6EECF244321}">
                <p14:modId xmlns:p14="http://schemas.microsoft.com/office/powerpoint/2010/main" val="1565850436"/>
              </p:ext>
            </p:extLst>
          </p:nvPr>
        </p:nvGraphicFramePr>
        <p:xfrm>
          <a:off x="0" y="1145309"/>
          <a:ext cx="12166256" cy="5712691"/>
        </p:xfrm>
        <a:graphic>
          <a:graphicData uri="http://schemas.openxmlformats.org/drawingml/2006/table">
            <a:tbl>
              <a:tblPr>
                <a:tableStyleId>{69CF1AB2-1976-4502-BF36-3FF5EA218861}</a:tableStyleId>
              </a:tblPr>
              <a:tblGrid>
                <a:gridCol w="1681018">
                  <a:extLst>
                    <a:ext uri="{9D8B030D-6E8A-4147-A177-3AD203B41FA5}">
                      <a16:colId xmlns:a16="http://schemas.microsoft.com/office/drawing/2014/main" val="3721293480"/>
                    </a:ext>
                  </a:extLst>
                </a:gridCol>
                <a:gridCol w="1219200">
                  <a:extLst>
                    <a:ext uri="{9D8B030D-6E8A-4147-A177-3AD203B41FA5}">
                      <a16:colId xmlns:a16="http://schemas.microsoft.com/office/drawing/2014/main" val="2457789046"/>
                    </a:ext>
                  </a:extLst>
                </a:gridCol>
                <a:gridCol w="1126837">
                  <a:extLst>
                    <a:ext uri="{9D8B030D-6E8A-4147-A177-3AD203B41FA5}">
                      <a16:colId xmlns:a16="http://schemas.microsoft.com/office/drawing/2014/main" val="505342807"/>
                    </a:ext>
                  </a:extLst>
                </a:gridCol>
                <a:gridCol w="8139201">
                  <a:extLst>
                    <a:ext uri="{9D8B030D-6E8A-4147-A177-3AD203B41FA5}">
                      <a16:colId xmlns:a16="http://schemas.microsoft.com/office/drawing/2014/main" val="710657351"/>
                    </a:ext>
                  </a:extLst>
                </a:gridCol>
              </a:tblGrid>
              <a:tr h="589470">
                <a:tc>
                  <a:txBody>
                    <a:bodyPr/>
                    <a:lstStyle/>
                    <a:p>
                      <a:pPr algn="ctr" fontAlgn="ctr"/>
                      <a:r>
                        <a:rPr lang="en-US" sz="1400" b="1" u="none" strike="noStrike" dirty="0">
                          <a:solidFill>
                            <a:schemeClr val="tx1"/>
                          </a:solidFill>
                          <a:effectLst/>
                        </a:rPr>
                        <a:t>Potential Proposal </a:t>
                      </a:r>
                    </a:p>
                    <a:p>
                      <a:pPr algn="ctr" fontAlgn="ctr"/>
                      <a:r>
                        <a:rPr lang="en-US" sz="1400" b="1" u="none" strike="noStrike" dirty="0">
                          <a:solidFill>
                            <a:schemeClr val="tx1"/>
                          </a:solidFill>
                          <a:effectLst/>
                        </a:rPr>
                        <a:t>Section #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rPr>
                        <a:t>Responsibility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rPr>
                        <a:t>Page Limit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rPr>
                        <a:t>Section L – Instructions (Proposal Outline)</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extLst>
                  <a:ext uri="{0D108BD9-81ED-4DB2-BD59-A6C34878D82A}">
                    <a16:rowId xmlns:a16="http://schemas.microsoft.com/office/drawing/2014/main" val="2034514734"/>
                  </a:ext>
                </a:extLst>
              </a:tr>
              <a:tr h="233786">
                <a:tc>
                  <a:txBody>
                    <a:bodyPr/>
                    <a:lstStyle/>
                    <a:p>
                      <a:pPr algn="ctr" fontAlgn="ctr"/>
                      <a:r>
                        <a:rPr lang="en-US" sz="1400" b="1" u="none" strike="noStrike" dirty="0">
                          <a:effectLst/>
                        </a:rPr>
                        <a:t>Section4</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b="1" u="none" strike="noStrike" dirty="0">
                          <a:effectLst/>
                        </a:rPr>
                        <a:t>Niki</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b="1" u="none" strike="noStrike" dirty="0">
                          <a:effectLst/>
                          <a:latin typeface="Arial" panose="020B0604020202020204" pitchFamily="34" charset="0"/>
                          <a:cs typeface="Arial" panose="020B0604020202020204" pitchFamily="34" charset="0"/>
                        </a:rPr>
                        <a:t>Past Performance Questionnaires (PPQ)</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1551206900"/>
                  </a:ext>
                </a:extLst>
              </a:tr>
              <a:tr h="233786">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tc>
                <a:tc>
                  <a:txBody>
                    <a:bodyPr/>
                    <a:lstStyle/>
                    <a:p>
                      <a:pPr algn="ctr" fontAlgn="t"/>
                      <a:r>
                        <a:rPr lang="en-US" sz="1400" u="none" strike="noStrike">
                          <a:effectLst/>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tc>
                <a:tc>
                  <a:txBody>
                    <a:bodyPr/>
                    <a:lstStyle/>
                    <a:p>
                      <a:pPr algn="ctr" fontAlgn="t"/>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tc>
                <a:tc>
                  <a:txBody>
                    <a:bodyPr/>
                    <a:lstStyle/>
                    <a:p>
                      <a:pPr algn="l" fontAlgn="t"/>
                      <a:r>
                        <a:rPr lang="en-US" sz="1400" u="none" strike="noStrike" dirty="0">
                          <a:effectLst/>
                          <a:latin typeface="Arial" panose="020B0604020202020204" pitchFamily="34" charset="0"/>
                          <a:cs typeface="Arial" panose="020B0604020202020204" pitchFamily="34" charset="0"/>
                        </a:rPr>
                        <a:t>Attachment 5 </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1670" marR="1670" marT="1670" marB="0"/>
                </a:tc>
                <a:extLst>
                  <a:ext uri="{0D108BD9-81ED-4DB2-BD59-A6C34878D82A}">
                    <a16:rowId xmlns:a16="http://schemas.microsoft.com/office/drawing/2014/main" val="1094221432"/>
                  </a:ext>
                </a:extLst>
              </a:tr>
              <a:tr h="1625607">
                <a:tc rowSpan="3">
                  <a:txBody>
                    <a:bodyPr/>
                    <a:lstStyle/>
                    <a:p>
                      <a:pPr algn="ctr" fontAlgn="ctr"/>
                      <a:r>
                        <a:rPr lang="en-US" sz="1400" u="none" strike="noStrike">
                          <a:effectLst/>
                        </a:rPr>
                        <a:t>4.0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rowSpan="3">
                  <a:txBody>
                    <a:bodyPr/>
                    <a:lstStyle/>
                    <a:p>
                      <a:pPr algn="ctr" fontAlgn="t"/>
                      <a:r>
                        <a:rPr lang="en-US" sz="1400" u="none" strike="noStrike" dirty="0">
                          <a:effectLst/>
                        </a:rPr>
                        <a:t> </a:t>
                      </a:r>
                    </a:p>
                    <a:p>
                      <a:pPr algn="ctr" fontAlgn="t"/>
                      <a:r>
                        <a:rPr lang="en-US" sz="1400" u="none" strike="noStrike" dirty="0">
                          <a:effectLst/>
                        </a:rPr>
                        <a:t> </a:t>
                      </a:r>
                    </a:p>
                    <a:p>
                      <a:pPr algn="ctr" fontAlgn="ctr"/>
                      <a:r>
                        <a:rPr lang="en-US" sz="1400" u="none" strike="noStrike" dirty="0">
                          <a:effectLst/>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tc rowSpan="3">
                  <a:txBody>
                    <a:bodyPr/>
                    <a:lstStyle/>
                    <a:p>
                      <a:pPr algn="ctr" fontAlgn="t"/>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tc>
                  <a:txBody>
                    <a:bodyPr/>
                    <a:lstStyle/>
                    <a:p>
                      <a:pPr algn="l" fontAlgn="t"/>
                      <a:r>
                        <a:rPr lang="en-US" sz="1400" u="none" strike="noStrike" dirty="0">
                          <a:effectLst/>
                          <a:latin typeface="Arial" panose="020B0604020202020204" pitchFamily="34" charset="0"/>
                          <a:cs typeface="Arial" panose="020B0604020202020204" pitchFamily="34" charset="0"/>
                        </a:rPr>
                        <a:t>For all contracts identified in Section 1, Contract Descriptions, a PPQ shall be completed and submitted. The Offeror shall complete Part I </a:t>
                      </a:r>
                      <a:r>
                        <a:rPr lang="en-US" sz="1400" u="none" strike="noStrike" dirty="0" err="1">
                          <a:effectLst/>
                          <a:latin typeface="Arial" panose="020B0604020202020204" pitchFamily="34" charset="0"/>
                          <a:cs typeface="Arial" panose="020B0604020202020204" pitchFamily="34" charset="0"/>
                        </a:rPr>
                        <a:t>ofthe</a:t>
                      </a:r>
                      <a:r>
                        <a:rPr lang="en-US" sz="1400" u="none" strike="noStrike" dirty="0">
                          <a:effectLst/>
                          <a:latin typeface="Arial" panose="020B0604020202020204" pitchFamily="34" charset="0"/>
                          <a:cs typeface="Arial" panose="020B0604020202020204" pitchFamily="34" charset="0"/>
                        </a:rPr>
                        <a:t> Past Performance Questionnaire and e-mail the questionnaire to both the Government contracting activity and technical representative responsible for the past/current contract. The POCs shall be instructed to electronically complete Part II </a:t>
                      </a:r>
                      <a:r>
                        <a:rPr lang="en-US" sz="1400" u="none" strike="noStrike" dirty="0" err="1">
                          <a:effectLst/>
                          <a:latin typeface="Arial" panose="020B0604020202020204" pitchFamily="34" charset="0"/>
                          <a:cs typeface="Arial" panose="020B0604020202020204" pitchFamily="34" charset="0"/>
                        </a:rPr>
                        <a:t>ofthe</a:t>
                      </a:r>
                      <a:r>
                        <a:rPr lang="en-US" sz="1400" u="none" strike="noStrike" dirty="0">
                          <a:effectLst/>
                          <a:latin typeface="Arial" panose="020B0604020202020204" pitchFamily="34" charset="0"/>
                          <a:cs typeface="Arial" panose="020B0604020202020204" pitchFamily="34" charset="0"/>
                        </a:rPr>
                        <a:t> questionnaire, providing detailed description on all ratings other than Satisfactory Confidence; when detailed information is not provided, the rating will be considered Satisfactory Confidence for evaluation purposes. </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extLst>
                  <a:ext uri="{0D108BD9-81ED-4DB2-BD59-A6C34878D82A}">
                    <a16:rowId xmlns:a16="http://schemas.microsoft.com/office/drawing/2014/main" val="2461154440"/>
                  </a:ext>
                </a:extLst>
              </a:tr>
              <a:tr h="465755">
                <a:tc vMerge="1">
                  <a:txBody>
                    <a:bodyPr/>
                    <a:lstStyle/>
                    <a:p>
                      <a:endParaRPr lang="en-US"/>
                    </a:p>
                  </a:txBody>
                  <a:tcPr/>
                </a:tc>
                <a:tc vMerge="1">
                  <a:txBody>
                    <a:bodyPr/>
                    <a:lstStyle/>
                    <a:p>
                      <a:pPr algn="ctr" fontAlgn="t"/>
                      <a:r>
                        <a:rPr lang="en-US" sz="1400" u="none" strike="noStrike" dirty="0">
                          <a:effectLst/>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tc vMerge="1">
                  <a:txBody>
                    <a:bodyPr/>
                    <a:lstStyle/>
                    <a:p>
                      <a:pPr algn="ctr" fontAlgn="t"/>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tc>
                  <a:txBody>
                    <a:bodyPr/>
                    <a:lstStyle/>
                    <a:p>
                      <a:pPr algn="l" fontAlgn="t"/>
                      <a:r>
                        <a:rPr lang="en-US" sz="1400" u="none" strike="noStrike" dirty="0">
                          <a:effectLst/>
                          <a:latin typeface="Arial" panose="020B0604020202020204" pitchFamily="34" charset="0"/>
                          <a:cs typeface="Arial" panose="020B0604020202020204" pitchFamily="34" charset="0"/>
                        </a:rPr>
                        <a:t>The entire questionnaire shall be e-mailed to the Contract Specialist at jacgueline.d.ramsey.civ@mail.mil no later than the proposal due date. </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extLst>
                  <a:ext uri="{0D108BD9-81ED-4DB2-BD59-A6C34878D82A}">
                    <a16:rowId xmlns:a16="http://schemas.microsoft.com/office/drawing/2014/main" val="2784558592"/>
                  </a:ext>
                </a:extLst>
              </a:tr>
              <a:tr h="1161666">
                <a:tc vMerge="1">
                  <a:txBody>
                    <a:bodyPr/>
                    <a:lstStyle/>
                    <a:p>
                      <a:endParaRPr lang="en-US"/>
                    </a:p>
                  </a:txBody>
                  <a:tcPr/>
                </a:tc>
                <a:tc vMerge="1">
                  <a:txBody>
                    <a:bodyPr/>
                    <a:lstStyle/>
                    <a:p>
                      <a:pPr algn="ctr" fontAlgn="ctr"/>
                      <a:r>
                        <a:rPr lang="en-US" sz="1400" u="none" strike="noStrike" dirty="0">
                          <a:effectLst/>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vMerge="1">
                  <a:txBody>
                    <a:bodyPr/>
                    <a:lstStyle/>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The Offeror shall also e-mail to the Contract Specialist a list </a:t>
                      </a:r>
                      <a:r>
                        <a:rPr lang="en-US" sz="1400" u="none" strike="noStrike" dirty="0" err="1">
                          <a:effectLst/>
                          <a:latin typeface="Arial" panose="020B0604020202020204" pitchFamily="34" charset="0"/>
                          <a:cs typeface="Arial" panose="020B0604020202020204" pitchFamily="34" charset="0"/>
                        </a:rPr>
                        <a:t>ofall</a:t>
                      </a:r>
                      <a:r>
                        <a:rPr lang="en-US" sz="1400" u="none" strike="noStrike" dirty="0">
                          <a:effectLst/>
                          <a:latin typeface="Arial" panose="020B0604020202020204" pitchFamily="34" charset="0"/>
                          <a:cs typeface="Arial" panose="020B0604020202020204" pitchFamily="34" charset="0"/>
                        </a:rPr>
                        <a:t> the POCs who were sent a questionnaire. The Government must receive this list no later than the proposal due date. The POC List shall be submitted in Word for Windows Table Format to include the following fields: Solicitation Number; Company Name; Contract Number; Government Agency; POC Last Name, First Name; POC Title; POC Telephone Number; POC E-mail Address; and Date E-Mail to POC (month/day).</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extLst>
                  <a:ext uri="{0D108BD9-81ED-4DB2-BD59-A6C34878D82A}">
                    <a16:rowId xmlns:a16="http://schemas.microsoft.com/office/drawing/2014/main" val="3375191229"/>
                  </a:ext>
                </a:extLst>
              </a:tr>
              <a:tr h="240955">
                <a:tc>
                  <a:txBody>
                    <a:bodyPr/>
                    <a:lstStyle/>
                    <a:p>
                      <a:pPr algn="ctr" fontAlgn="ctr"/>
                      <a:r>
                        <a:rPr lang="en-US" sz="1400" b="1" u="none" strike="noStrike">
                          <a:effectLst/>
                          <a:latin typeface="Arial" panose="020B0604020202020204" pitchFamily="34" charset="0"/>
                          <a:cs typeface="Arial" panose="020B0604020202020204" pitchFamily="34" charset="0"/>
                        </a:rPr>
                        <a:t>Section 5</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r>
                        <a:rPr lang="en-US" sz="1400" b="1"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ctr"/>
                      <a:r>
                        <a:rPr lang="en-US" sz="1400" b="1" u="none" strike="noStrike" dirty="0">
                          <a:effectLst/>
                          <a:latin typeface="Arial" panose="020B0604020202020204" pitchFamily="34" charset="0"/>
                          <a:cs typeface="Arial" panose="020B0604020202020204" pitchFamily="34" charset="0"/>
                        </a:rPr>
                        <a:t>Submissions</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extLst>
                  <a:ext uri="{0D108BD9-81ED-4DB2-BD59-A6C34878D82A}">
                    <a16:rowId xmlns:a16="http://schemas.microsoft.com/office/drawing/2014/main" val="1270518006"/>
                  </a:ext>
                </a:extLst>
              </a:tr>
              <a:tr h="1161666">
                <a:tc>
                  <a:txBody>
                    <a:bodyPr/>
                    <a:lstStyle/>
                    <a:p>
                      <a:pPr algn="ctr" fontAlgn="t"/>
                      <a:r>
                        <a:rPr lang="en-US" sz="1400" u="none" strike="noStrike">
                          <a:effectLst/>
                        </a:rPr>
                        <a:t>Acknowledgement Statement</a:t>
                      </a:r>
                      <a:endParaRPr lang="en-US" sz="1400" b="1" i="0" u="none" strike="noStrike">
                        <a:solidFill>
                          <a:srgbClr val="FF0000"/>
                        </a:solidFill>
                        <a:effectLst/>
                        <a:latin typeface="Arial" panose="020B0604020202020204" pitchFamily="34" charset="0"/>
                        <a:cs typeface="Arial" panose="020B0604020202020204" pitchFamily="34" charset="0"/>
                      </a:endParaRPr>
                    </a:p>
                  </a:txBody>
                  <a:tcPr marL="1670" marR="1670" marT="1670" marB="0"/>
                </a:tc>
                <a:tc>
                  <a:txBody>
                    <a:bodyPr/>
                    <a:lstStyle/>
                    <a:p>
                      <a:pPr algn="ctr" fontAlgn="ctr"/>
                      <a:r>
                        <a:rPr lang="en-US" sz="1400" u="none" strike="noStrike" dirty="0">
                          <a:effectLst/>
                        </a:rPr>
                        <a:t>Kathylynn</a:t>
                      </a: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The Offeror is discouraged from providing points </a:t>
                      </a:r>
                      <a:r>
                        <a:rPr lang="en-US" sz="1400" u="none" strike="noStrike" dirty="0" err="1">
                          <a:effectLst/>
                          <a:latin typeface="Arial" panose="020B0604020202020204" pitchFamily="34" charset="0"/>
                          <a:cs typeface="Arial" panose="020B0604020202020204" pitchFamily="34" charset="0"/>
                        </a:rPr>
                        <a:t>ofcontact</a:t>
                      </a:r>
                      <a:r>
                        <a:rPr lang="en-US" sz="1400" u="none" strike="noStrike" dirty="0">
                          <a:effectLst/>
                          <a:latin typeface="Arial" panose="020B0604020202020204" pitchFamily="34" charset="0"/>
                          <a:cs typeface="Arial" panose="020B0604020202020204" pitchFamily="34" charset="0"/>
                        </a:rPr>
                        <a:t> with another contractors' facility, i.e., in case the Offeror (or one </a:t>
                      </a:r>
                      <a:r>
                        <a:rPr lang="en-US" sz="1400" u="none" strike="noStrike" dirty="0" err="1">
                          <a:effectLst/>
                          <a:latin typeface="Arial" panose="020B0604020202020204" pitchFamily="34" charset="0"/>
                          <a:cs typeface="Arial" panose="020B0604020202020204" pitchFamily="34" charset="0"/>
                        </a:rPr>
                        <a:t>ofhis</a:t>
                      </a:r>
                      <a:r>
                        <a:rPr lang="en-US" sz="1400" u="none" strike="noStrike" dirty="0">
                          <a:effectLst/>
                          <a:latin typeface="Arial" panose="020B0604020202020204" pitchFamily="34" charset="0"/>
                          <a:cs typeface="Arial" panose="020B0604020202020204" pitchFamily="34" charset="0"/>
                        </a:rPr>
                        <a:t>/her team members) is in a subcontract with another contractor who has submitted a proposal on the same requirement. The Offeror shall provide and submit the prime contract number and all Governmental agency POCs in lieu </a:t>
                      </a:r>
                      <a:r>
                        <a:rPr lang="en-US" sz="1400" u="none" strike="noStrike" dirty="0" err="1">
                          <a:effectLst/>
                          <a:latin typeface="Arial" panose="020B0604020202020204" pitchFamily="34" charset="0"/>
                          <a:cs typeface="Arial" panose="020B0604020202020204" pitchFamily="34" charset="0"/>
                        </a:rPr>
                        <a:t>ofsubcontract</a:t>
                      </a:r>
                      <a:r>
                        <a:rPr lang="en-US" sz="1400" u="none" strike="noStrike" dirty="0">
                          <a:effectLst/>
                          <a:latin typeface="Arial" panose="020B0604020202020204" pitchFamily="34" charset="0"/>
                          <a:cs typeface="Arial" panose="020B0604020202020204" pitchFamily="34" charset="0"/>
                        </a:rPr>
                        <a:t> numbers or prime contract POCs in situations as described above.</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1670" marR="1670" marT="1670" marB="0"/>
                </a:tc>
                <a:extLst>
                  <a:ext uri="{0D108BD9-81ED-4DB2-BD59-A6C34878D82A}">
                    <a16:rowId xmlns:a16="http://schemas.microsoft.com/office/drawing/2014/main" val="4188585819"/>
                  </a:ext>
                </a:extLst>
              </a:tr>
            </a:tbl>
          </a:graphicData>
        </a:graphic>
      </p:graphicFrame>
    </p:spTree>
    <p:extLst>
      <p:ext uri="{BB962C8B-B14F-4D97-AF65-F5344CB8AC3E}">
        <p14:creationId xmlns:p14="http://schemas.microsoft.com/office/powerpoint/2010/main" val="1406222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7125-F00F-477F-95EE-E4D35C7F355F}"/>
              </a:ext>
            </a:extLst>
          </p:cNvPr>
          <p:cNvSpPr>
            <a:spLocks noGrp="1"/>
          </p:cNvSpPr>
          <p:nvPr>
            <p:ph type="title"/>
          </p:nvPr>
        </p:nvSpPr>
        <p:spPr>
          <a:xfrm>
            <a:off x="372533" y="0"/>
            <a:ext cx="9057794" cy="1075509"/>
          </a:xfrm>
        </p:spPr>
        <p:txBody>
          <a:bodyPr>
            <a:normAutofit/>
          </a:bodyPr>
          <a:lstStyle/>
          <a:p>
            <a:r>
              <a:rPr lang="en-US" sz="2000" dirty="0">
                <a:latin typeface="Arial" panose="020B0604020202020204" pitchFamily="34" charset="0"/>
                <a:cs typeface="Arial" panose="020B0604020202020204" pitchFamily="34" charset="0"/>
              </a:rPr>
              <a:t>Requirements Directed Outline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Volume III: Price</a:t>
            </a:r>
          </a:p>
        </p:txBody>
      </p:sp>
      <p:graphicFrame>
        <p:nvGraphicFramePr>
          <p:cNvPr id="3" name="Table 2">
            <a:extLst>
              <a:ext uri="{FF2B5EF4-FFF2-40B4-BE49-F238E27FC236}">
                <a16:creationId xmlns:a16="http://schemas.microsoft.com/office/drawing/2014/main" id="{C18E18FC-66D5-47AD-9475-68A5788A0763}"/>
              </a:ext>
            </a:extLst>
          </p:cNvPr>
          <p:cNvGraphicFramePr>
            <a:graphicFrameLocks noGrp="1"/>
          </p:cNvGraphicFramePr>
          <p:nvPr>
            <p:extLst>
              <p:ext uri="{D42A27DB-BD31-4B8C-83A1-F6EECF244321}">
                <p14:modId xmlns:p14="http://schemas.microsoft.com/office/powerpoint/2010/main" val="3366072122"/>
              </p:ext>
            </p:extLst>
          </p:nvPr>
        </p:nvGraphicFramePr>
        <p:xfrm>
          <a:off x="0" y="974538"/>
          <a:ext cx="12192000" cy="5883462"/>
        </p:xfrm>
        <a:graphic>
          <a:graphicData uri="http://schemas.openxmlformats.org/drawingml/2006/table">
            <a:tbl>
              <a:tblPr>
                <a:tableStyleId>{69CF1AB2-1976-4502-BF36-3FF5EA218861}</a:tableStyleId>
              </a:tblPr>
              <a:tblGrid>
                <a:gridCol w="1782618">
                  <a:extLst>
                    <a:ext uri="{9D8B030D-6E8A-4147-A177-3AD203B41FA5}">
                      <a16:colId xmlns:a16="http://schemas.microsoft.com/office/drawing/2014/main" val="3999289031"/>
                    </a:ext>
                  </a:extLst>
                </a:gridCol>
                <a:gridCol w="1921164">
                  <a:extLst>
                    <a:ext uri="{9D8B030D-6E8A-4147-A177-3AD203B41FA5}">
                      <a16:colId xmlns:a16="http://schemas.microsoft.com/office/drawing/2014/main" val="393404371"/>
                    </a:ext>
                  </a:extLst>
                </a:gridCol>
                <a:gridCol w="1311563">
                  <a:extLst>
                    <a:ext uri="{9D8B030D-6E8A-4147-A177-3AD203B41FA5}">
                      <a16:colId xmlns:a16="http://schemas.microsoft.com/office/drawing/2014/main" val="69744784"/>
                    </a:ext>
                  </a:extLst>
                </a:gridCol>
                <a:gridCol w="7176655">
                  <a:extLst>
                    <a:ext uri="{9D8B030D-6E8A-4147-A177-3AD203B41FA5}">
                      <a16:colId xmlns:a16="http://schemas.microsoft.com/office/drawing/2014/main" val="618068172"/>
                    </a:ext>
                  </a:extLst>
                </a:gridCol>
              </a:tblGrid>
              <a:tr h="418508">
                <a:tc>
                  <a:txBody>
                    <a:bodyPr/>
                    <a:lstStyle/>
                    <a:p>
                      <a:pPr algn="ctr" fontAlgn="ctr"/>
                      <a:r>
                        <a:rPr lang="en-US" sz="1400" b="1" u="none" strike="noStrike" dirty="0">
                          <a:solidFill>
                            <a:schemeClr val="tx1"/>
                          </a:solidFill>
                          <a:effectLst/>
                        </a:rPr>
                        <a:t>Potential Proposal </a:t>
                      </a:r>
                    </a:p>
                    <a:p>
                      <a:pPr algn="ctr" fontAlgn="ctr"/>
                      <a:r>
                        <a:rPr lang="en-US" sz="1400" b="1" u="none" strike="noStrike" dirty="0">
                          <a:solidFill>
                            <a:schemeClr val="tx1"/>
                          </a:solidFill>
                          <a:effectLst/>
                        </a:rPr>
                        <a:t>Section #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rPr>
                        <a:t>Responsibility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rPr>
                        <a:t>Page Limit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rPr>
                        <a:t>Section L – Instructions (Proposal Outline)</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extLst>
                  <a:ext uri="{0D108BD9-81ED-4DB2-BD59-A6C34878D82A}">
                    <a16:rowId xmlns:a16="http://schemas.microsoft.com/office/drawing/2014/main" val="803390002"/>
                  </a:ext>
                </a:extLst>
              </a:tr>
              <a:tr h="301478">
                <a:tc>
                  <a:txBody>
                    <a:bodyPr/>
                    <a:lstStyle/>
                    <a:p>
                      <a:pPr algn="ctr" fontAlgn="ctr"/>
                      <a:r>
                        <a:rPr lang="en-US" sz="1400" b="1" u="none" strike="noStrike" dirty="0">
                          <a:effectLst/>
                        </a:rPr>
                        <a:t>Volume III</a:t>
                      </a:r>
                      <a:endParaRPr lang="en-US" sz="1400" b="1" i="0" u="none" strike="noStrike" dirty="0">
                        <a:solidFill>
                          <a:srgbClr val="000000"/>
                        </a:solidFill>
                        <a:effectLst/>
                        <a:latin typeface="Arial" panose="020B0604020202020204" pitchFamily="34" charset="0"/>
                      </a:endParaRPr>
                    </a:p>
                  </a:txBody>
                  <a:tcPr marL="6010" marR="6010" marT="6010" marB="0" anchor="ctr"/>
                </a:tc>
                <a:tc>
                  <a:txBody>
                    <a:bodyPr/>
                    <a:lstStyle/>
                    <a:p>
                      <a:pPr algn="ctr" fontAlgn="ctr"/>
                      <a:r>
                        <a:rPr lang="en-US" sz="1400" b="1" u="none" strike="noStrike" dirty="0">
                          <a:effectLst/>
                        </a:rPr>
                        <a:t> </a:t>
                      </a:r>
                      <a:endParaRPr lang="en-US" sz="1400" b="1" i="0" u="none" strike="noStrike" dirty="0">
                        <a:solidFill>
                          <a:srgbClr val="000000"/>
                        </a:solidFill>
                        <a:effectLst/>
                        <a:latin typeface="Arial" panose="020B0604020202020204" pitchFamily="34" charset="0"/>
                      </a:endParaRPr>
                    </a:p>
                  </a:txBody>
                  <a:tcPr marL="6010" marR="6010" marT="6010" marB="0" anchor="ctr"/>
                </a:tc>
                <a:tc>
                  <a:txBody>
                    <a:bodyPr/>
                    <a:lstStyle/>
                    <a:p>
                      <a:pPr algn="ctr" fontAlgn="ctr"/>
                      <a:r>
                        <a:rPr lang="en-US" sz="1400" b="1" u="none" strike="noStrike">
                          <a:effectLst/>
                        </a:rPr>
                        <a:t>No Limit</a:t>
                      </a:r>
                      <a:endParaRPr lang="en-US" sz="1400" b="1" i="0" u="none" strike="noStrike">
                        <a:solidFill>
                          <a:srgbClr val="000000"/>
                        </a:solidFill>
                        <a:effectLst/>
                        <a:latin typeface="Arial" panose="020B0604020202020204" pitchFamily="34" charset="0"/>
                      </a:endParaRPr>
                    </a:p>
                  </a:txBody>
                  <a:tcPr marL="6010" marR="6010" marT="6010" marB="0" anchor="ctr"/>
                </a:tc>
                <a:tc>
                  <a:txBody>
                    <a:bodyPr/>
                    <a:lstStyle/>
                    <a:p>
                      <a:pPr algn="l" fontAlgn="ctr"/>
                      <a:r>
                        <a:rPr lang="en-US" sz="1400" b="1" u="none" strike="noStrike" dirty="0">
                          <a:effectLst/>
                        </a:rPr>
                        <a:t>Price</a:t>
                      </a:r>
                      <a:endParaRPr lang="en-US" sz="1400" b="1" i="0" u="none" strike="noStrike" dirty="0">
                        <a:solidFill>
                          <a:srgbClr val="000000"/>
                        </a:solidFill>
                        <a:effectLst/>
                        <a:latin typeface="Arial" panose="020B0604020202020204" pitchFamily="34" charset="0"/>
                      </a:endParaRPr>
                    </a:p>
                  </a:txBody>
                  <a:tcPr marL="6010" marR="6010" marT="6010" marB="0" anchor="ctr"/>
                </a:tc>
                <a:extLst>
                  <a:ext uri="{0D108BD9-81ED-4DB2-BD59-A6C34878D82A}">
                    <a16:rowId xmlns:a16="http://schemas.microsoft.com/office/drawing/2014/main" val="1139803753"/>
                  </a:ext>
                </a:extLst>
              </a:tr>
              <a:tr h="1965807">
                <a:tc>
                  <a:txBody>
                    <a:bodyPr/>
                    <a:lstStyle/>
                    <a:p>
                      <a:pPr algn="ctr" fontAlgn="t"/>
                      <a:r>
                        <a:rPr lang="en-US" sz="1200" u="none" strike="noStrike" dirty="0">
                          <a:effectLst/>
                        </a:rPr>
                        <a:t>1.0</a:t>
                      </a:r>
                      <a:endParaRPr lang="en-US" sz="1200" b="0" i="0" u="none" strike="noStrike" dirty="0">
                        <a:solidFill>
                          <a:srgbClr val="000000"/>
                        </a:solidFill>
                        <a:effectLst/>
                        <a:latin typeface="Arial" panose="020B0604020202020204" pitchFamily="34" charset="0"/>
                      </a:endParaRPr>
                    </a:p>
                  </a:txBody>
                  <a:tcPr marL="6010" marR="6010" marT="6010" marB="0"/>
                </a:tc>
                <a:tc>
                  <a:txBody>
                    <a:bodyPr/>
                    <a:lstStyle/>
                    <a:p>
                      <a:pPr algn="ctr" fontAlgn="ctr"/>
                      <a:r>
                        <a:rPr lang="en-US" sz="1200" u="none" strike="noStrike" dirty="0">
                          <a:effectLst/>
                        </a:rPr>
                        <a:t>Daniela</a:t>
                      </a: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txBody>
                  <a:tcPr marL="6010" marR="6010" marT="6010" marB="0" anchor="ctr"/>
                </a:tc>
                <a:tc>
                  <a:txBody>
                    <a:bodyPr/>
                    <a:lstStyle/>
                    <a:p>
                      <a:pPr algn="ctr" fontAlgn="ctr"/>
                      <a:r>
                        <a:rPr lang="en-US" sz="1200" u="none" strike="noStrike" dirty="0">
                          <a:effectLst/>
                        </a:rPr>
                        <a:t> </a:t>
                      </a:r>
                      <a:endParaRPr lang="en-US" sz="1200" b="1" i="0" u="none" strike="noStrike" dirty="0">
                        <a:solidFill>
                          <a:srgbClr val="000000"/>
                        </a:solidFill>
                        <a:effectLst/>
                        <a:latin typeface="Arial" panose="020B0604020202020204" pitchFamily="34" charset="0"/>
                      </a:endParaRPr>
                    </a:p>
                  </a:txBody>
                  <a:tcPr marL="6010" marR="6010" marT="6010" marB="0" anchor="ctr"/>
                </a:tc>
                <a:tc>
                  <a:txBody>
                    <a:bodyPr/>
                    <a:lstStyle/>
                    <a:p>
                      <a:pPr algn="l" fontAlgn="t"/>
                      <a:r>
                        <a:rPr lang="en-US" sz="1200" u="none" strike="noStrike" dirty="0">
                          <a:effectLst/>
                        </a:rPr>
                        <a:t>(1)  The Offeror shall complete the pricing page </a:t>
                      </a:r>
                      <a:r>
                        <a:rPr lang="en-US" sz="1200" u="none" strike="noStrike" dirty="0" err="1">
                          <a:effectLst/>
                        </a:rPr>
                        <a:t>ofthe</a:t>
                      </a:r>
                      <a:r>
                        <a:rPr lang="en-US" sz="1200" u="none" strike="noStrike" dirty="0">
                          <a:effectLst/>
                        </a:rPr>
                        <a:t> Exhibit A(l), Building 14 Renovation TO RFP, and not on the SF1442. Fill-in an amount for each Contract Line Item Number (CLIN) including Options. Offeror shall provide a complete breakdown </a:t>
                      </a:r>
                      <a:r>
                        <a:rPr lang="en-US" sz="1200" u="none" strike="noStrike" dirty="0" err="1">
                          <a:effectLst/>
                        </a:rPr>
                        <a:t>ofCLIN</a:t>
                      </a:r>
                      <a:r>
                        <a:rPr lang="en-US" sz="1200" u="none" strike="noStrike" dirty="0">
                          <a:effectLst/>
                        </a:rPr>
                        <a:t> pricing with the offer including labor categories, hourly labor rates, number </a:t>
                      </a:r>
                      <a:r>
                        <a:rPr lang="en-US" sz="1200" u="none" strike="noStrike" dirty="0" err="1">
                          <a:effectLst/>
                        </a:rPr>
                        <a:t>oflabor</a:t>
                      </a:r>
                      <a:r>
                        <a:rPr lang="en-US" sz="1200" u="none" strike="noStrike" dirty="0">
                          <a:effectLst/>
                        </a:rPr>
                        <a:t> hours, materials, supplies, equipment, other direct costs (quantity and unit price), profit, and indirect costs in sufficient detail to provide thorough evaluation per Federal Acquisition Regulation (FAR) 52.215-20 Alt I in electronic Excel spreadsheet format. When subcontractors are used, provide evidence </a:t>
                      </a:r>
                      <a:r>
                        <a:rPr lang="en-US" sz="1200" u="none" strike="noStrike" dirty="0" err="1">
                          <a:effectLst/>
                        </a:rPr>
                        <a:t>ofcompetitive</a:t>
                      </a:r>
                      <a:r>
                        <a:rPr lang="en-US" sz="1200" u="none" strike="noStrike" dirty="0">
                          <a:effectLst/>
                        </a:rPr>
                        <a:t> award; if subcontract is not competitively awarded provide subcontractor's detailed pricing as previously described.</a:t>
                      </a:r>
                      <a:endParaRPr lang="en-US" sz="1200" b="0" i="0" u="none" strike="noStrike" dirty="0">
                        <a:solidFill>
                          <a:srgbClr val="000000"/>
                        </a:solidFill>
                        <a:effectLst/>
                        <a:latin typeface="Arial" panose="020B0604020202020204" pitchFamily="34" charset="0"/>
                      </a:endParaRPr>
                    </a:p>
                  </a:txBody>
                  <a:tcPr marL="6010" marR="6010" marT="6010" marB="0"/>
                </a:tc>
                <a:extLst>
                  <a:ext uri="{0D108BD9-81ED-4DB2-BD59-A6C34878D82A}">
                    <a16:rowId xmlns:a16="http://schemas.microsoft.com/office/drawing/2014/main" val="4077217114"/>
                  </a:ext>
                </a:extLst>
              </a:tr>
              <a:tr h="1482810">
                <a:tc>
                  <a:txBody>
                    <a:bodyPr/>
                    <a:lstStyle/>
                    <a:p>
                      <a:pPr algn="ctr" fontAlgn="t"/>
                      <a:r>
                        <a:rPr lang="en-US" sz="1200" u="none" strike="noStrike" dirty="0">
                          <a:effectLst/>
                        </a:rPr>
                        <a:t>2.0</a:t>
                      </a:r>
                      <a:endParaRPr lang="en-US" sz="1200" b="0" i="0" u="none" strike="noStrike" dirty="0">
                        <a:solidFill>
                          <a:srgbClr val="000000"/>
                        </a:solidFill>
                        <a:effectLst/>
                        <a:latin typeface="Arial" panose="020B0604020202020204" pitchFamily="34" charset="0"/>
                      </a:endParaRPr>
                    </a:p>
                  </a:txBody>
                  <a:tcPr marL="6010" marR="6010" marT="6010" marB="0"/>
                </a:tc>
                <a:tc>
                  <a:txBody>
                    <a:bodyPr/>
                    <a:lstStyle/>
                    <a:p>
                      <a:pPr algn="ctr" fontAlgn="ctr"/>
                      <a:r>
                        <a:rPr lang="en-US" sz="1200" u="none" strike="noStrike" dirty="0">
                          <a:effectLst/>
                        </a:rPr>
                        <a:t>Kathylynn</a:t>
                      </a: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txBody>
                  <a:tcPr marL="6010" marR="6010" marT="6010" marB="0" anchor="ctr"/>
                </a:tc>
                <a:tc>
                  <a:txBody>
                    <a:bodyPr/>
                    <a:lstStyle/>
                    <a:p>
                      <a:pPr algn="ctr" fontAlgn="ctr"/>
                      <a:r>
                        <a:rPr lang="en-US" sz="1200" u="none" strike="noStrike" dirty="0">
                          <a:effectLst/>
                        </a:rPr>
                        <a:t> </a:t>
                      </a:r>
                      <a:endParaRPr lang="en-US" sz="1200" b="1" i="0" u="none" strike="noStrike" dirty="0">
                        <a:solidFill>
                          <a:srgbClr val="000000"/>
                        </a:solidFill>
                        <a:effectLst/>
                        <a:latin typeface="Arial" panose="020B0604020202020204" pitchFamily="34" charset="0"/>
                      </a:endParaRPr>
                    </a:p>
                  </a:txBody>
                  <a:tcPr marL="6010" marR="6010" marT="6010" marB="0" anchor="ctr"/>
                </a:tc>
                <a:tc>
                  <a:txBody>
                    <a:bodyPr/>
                    <a:lstStyle/>
                    <a:p>
                      <a:pPr algn="l" fontAlgn="t"/>
                      <a:r>
                        <a:rPr lang="en-US" sz="1200" u="none" strike="noStrike">
                          <a:effectLst/>
                        </a:rPr>
                        <a:t>(2) Compliance. Include Acknowledgement Statement:  Failure to comply with the RFP requirements for cost information may result in an adverse assessment ofthe Offeror's proposal and remove the proposal from evaluation due to being non-responsive. The Offeror shall ensure that the information presented in this volume is consistent and correlates with the information contained in the other proposal volumes. Also, the Offeror shall ensure that the information submitted in this volume is consistent with and fully supports the amounts set forth in the Exhibit A(l) Bldg 14 Renovation TO RFP.</a:t>
                      </a:r>
                      <a:endParaRPr lang="en-US" sz="1200" b="0" i="0" u="none" strike="noStrike">
                        <a:solidFill>
                          <a:srgbClr val="000000"/>
                        </a:solidFill>
                        <a:effectLst/>
                        <a:latin typeface="Arial" panose="020B0604020202020204" pitchFamily="34" charset="0"/>
                      </a:endParaRPr>
                    </a:p>
                  </a:txBody>
                  <a:tcPr marL="6010" marR="6010" marT="6010" marB="0"/>
                </a:tc>
                <a:extLst>
                  <a:ext uri="{0D108BD9-81ED-4DB2-BD59-A6C34878D82A}">
                    <a16:rowId xmlns:a16="http://schemas.microsoft.com/office/drawing/2014/main" val="3904089097"/>
                  </a:ext>
                </a:extLst>
              </a:tr>
              <a:tr h="1613888">
                <a:tc>
                  <a:txBody>
                    <a:bodyPr/>
                    <a:lstStyle/>
                    <a:p>
                      <a:pPr algn="ctr" fontAlgn="t"/>
                      <a:r>
                        <a:rPr lang="en-US" sz="1200" u="none" strike="noStrike">
                          <a:effectLst/>
                        </a:rPr>
                        <a:t>3.0</a:t>
                      </a:r>
                      <a:endParaRPr lang="en-US" sz="1200" b="0" i="0" u="none" strike="noStrike">
                        <a:solidFill>
                          <a:srgbClr val="000000"/>
                        </a:solidFill>
                        <a:effectLst/>
                        <a:latin typeface="Arial" panose="020B0604020202020204" pitchFamily="34" charset="0"/>
                      </a:endParaRPr>
                    </a:p>
                  </a:txBody>
                  <a:tcPr marL="6010" marR="6010" marT="6010" marB="0"/>
                </a:tc>
                <a:tc>
                  <a:txBody>
                    <a:bodyPr/>
                    <a:lstStyle/>
                    <a:p>
                      <a:pPr algn="ctr" fontAlgn="ctr"/>
                      <a:r>
                        <a:rPr lang="en-US" sz="1200" u="none" strike="noStrike" dirty="0">
                          <a:effectLst/>
                        </a:rPr>
                        <a:t>Kathylynn</a:t>
                      </a: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p>
                      <a:pPr algn="ctr" fontAlgn="ctr"/>
                      <a:endParaRPr lang="en-US" sz="1200" b="1" i="0" u="none" strike="noStrike" dirty="0">
                        <a:solidFill>
                          <a:srgbClr val="000000"/>
                        </a:solidFill>
                        <a:effectLst/>
                        <a:latin typeface="Arial" panose="020B0604020202020204" pitchFamily="34" charset="0"/>
                      </a:endParaRPr>
                    </a:p>
                  </a:txBody>
                  <a:tcPr marL="6010" marR="6010" marT="6010" marB="0" anchor="ctr"/>
                </a:tc>
                <a:tc>
                  <a:txBody>
                    <a:bodyPr/>
                    <a:lstStyle/>
                    <a:p>
                      <a:pPr algn="ctr" fontAlgn="ctr"/>
                      <a:r>
                        <a:rPr lang="en-US" sz="1200" u="none" strike="noStrike">
                          <a:effectLst/>
                        </a:rPr>
                        <a:t> </a:t>
                      </a:r>
                      <a:endParaRPr lang="en-US" sz="1200" b="1" i="0" u="none" strike="noStrike">
                        <a:solidFill>
                          <a:srgbClr val="000000"/>
                        </a:solidFill>
                        <a:effectLst/>
                        <a:latin typeface="Arial" panose="020B0604020202020204" pitchFamily="34" charset="0"/>
                      </a:endParaRPr>
                    </a:p>
                  </a:txBody>
                  <a:tcPr marL="6010" marR="6010" marT="6010" marB="0" anchor="ctr"/>
                </a:tc>
                <a:tc>
                  <a:txBody>
                    <a:bodyPr/>
                    <a:lstStyle/>
                    <a:p>
                      <a:pPr algn="l" fontAlgn="t"/>
                      <a:r>
                        <a:rPr lang="en-US" sz="1200" u="none" strike="noStrike" dirty="0">
                          <a:effectLst/>
                        </a:rPr>
                        <a:t>(3)  General Instructions. Acknowledgement Statement: In accordance with Federal Acquisition Regulation (FAR) 15.402 and 15.403-1, certified cost or pricing data are not required based on the fact that adequate competition is expected for this procurement. Information other than certified cost or pricing data shall be provided in accordance with FAR 52.215- 20 Alt I. Additionally, in the event that adequate competition is not obtained, the Contracting Officer may request a Certificate </a:t>
                      </a:r>
                      <a:r>
                        <a:rPr lang="en-US" sz="1200" u="none" strike="noStrike" dirty="0" err="1">
                          <a:effectLst/>
                        </a:rPr>
                        <a:t>ofCurrent</a:t>
                      </a:r>
                      <a:r>
                        <a:rPr lang="en-US" sz="1200" u="none" strike="noStrike" dirty="0">
                          <a:effectLst/>
                        </a:rPr>
                        <a:t> Cost or Pricing Data. There are no page limitations for this volume. Proposal information included in this volume which is not directly related to Cost will be disregarded.</a:t>
                      </a:r>
                      <a:endParaRPr lang="en-US" sz="1200" b="0" i="0" u="none" strike="noStrike" dirty="0">
                        <a:solidFill>
                          <a:srgbClr val="000000"/>
                        </a:solidFill>
                        <a:effectLst/>
                        <a:latin typeface="Arial" panose="020B0604020202020204" pitchFamily="34" charset="0"/>
                      </a:endParaRPr>
                    </a:p>
                  </a:txBody>
                  <a:tcPr marL="6010" marR="6010" marT="6010" marB="0"/>
                </a:tc>
                <a:extLst>
                  <a:ext uri="{0D108BD9-81ED-4DB2-BD59-A6C34878D82A}">
                    <a16:rowId xmlns:a16="http://schemas.microsoft.com/office/drawing/2014/main" val="1671168937"/>
                  </a:ext>
                </a:extLst>
              </a:tr>
            </a:tbl>
          </a:graphicData>
        </a:graphic>
      </p:graphicFrame>
    </p:spTree>
    <p:extLst>
      <p:ext uri="{BB962C8B-B14F-4D97-AF65-F5344CB8AC3E}">
        <p14:creationId xmlns:p14="http://schemas.microsoft.com/office/powerpoint/2010/main" val="3434288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7125-F00F-477F-95EE-E4D35C7F355F}"/>
              </a:ext>
            </a:extLst>
          </p:cNvPr>
          <p:cNvSpPr>
            <a:spLocks noGrp="1"/>
          </p:cNvSpPr>
          <p:nvPr>
            <p:ph type="title"/>
          </p:nvPr>
        </p:nvSpPr>
        <p:spPr>
          <a:xfrm>
            <a:off x="372533" y="0"/>
            <a:ext cx="9057794" cy="1075509"/>
          </a:xfrm>
        </p:spPr>
        <p:txBody>
          <a:bodyPr>
            <a:normAutofit/>
          </a:bodyPr>
          <a:lstStyle/>
          <a:p>
            <a:r>
              <a:rPr lang="en-US" sz="2000" dirty="0">
                <a:latin typeface="Arial" panose="020B0604020202020204" pitchFamily="34" charset="0"/>
                <a:cs typeface="Arial" panose="020B0604020202020204" pitchFamily="34" charset="0"/>
              </a:rPr>
              <a:t>Requirements Directed Outline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Volume III: Price</a:t>
            </a:r>
          </a:p>
        </p:txBody>
      </p:sp>
      <p:graphicFrame>
        <p:nvGraphicFramePr>
          <p:cNvPr id="4" name="Table 3">
            <a:extLst>
              <a:ext uri="{FF2B5EF4-FFF2-40B4-BE49-F238E27FC236}">
                <a16:creationId xmlns:a16="http://schemas.microsoft.com/office/drawing/2014/main" id="{01F2FE8A-8634-4536-81A9-5D7B6D2A27E7}"/>
              </a:ext>
            </a:extLst>
          </p:cNvPr>
          <p:cNvGraphicFramePr>
            <a:graphicFrameLocks noGrp="1"/>
          </p:cNvGraphicFramePr>
          <p:nvPr>
            <p:extLst>
              <p:ext uri="{D42A27DB-BD31-4B8C-83A1-F6EECF244321}">
                <p14:modId xmlns:p14="http://schemas.microsoft.com/office/powerpoint/2010/main" val="619722855"/>
              </p:ext>
            </p:extLst>
          </p:nvPr>
        </p:nvGraphicFramePr>
        <p:xfrm>
          <a:off x="0" y="1075509"/>
          <a:ext cx="12192000" cy="5782490"/>
        </p:xfrm>
        <a:graphic>
          <a:graphicData uri="http://schemas.openxmlformats.org/drawingml/2006/table">
            <a:tbl>
              <a:tblPr>
                <a:tableStyleId>{69CF1AB2-1976-4502-BF36-3FF5EA218861}</a:tableStyleId>
              </a:tblPr>
              <a:tblGrid>
                <a:gridCol w="2041236">
                  <a:extLst>
                    <a:ext uri="{9D8B030D-6E8A-4147-A177-3AD203B41FA5}">
                      <a16:colId xmlns:a16="http://schemas.microsoft.com/office/drawing/2014/main" val="2925186920"/>
                    </a:ext>
                  </a:extLst>
                </a:gridCol>
                <a:gridCol w="1754909">
                  <a:extLst>
                    <a:ext uri="{9D8B030D-6E8A-4147-A177-3AD203B41FA5}">
                      <a16:colId xmlns:a16="http://schemas.microsoft.com/office/drawing/2014/main" val="31010074"/>
                    </a:ext>
                  </a:extLst>
                </a:gridCol>
                <a:gridCol w="1200787">
                  <a:extLst>
                    <a:ext uri="{9D8B030D-6E8A-4147-A177-3AD203B41FA5}">
                      <a16:colId xmlns:a16="http://schemas.microsoft.com/office/drawing/2014/main" val="2364541120"/>
                    </a:ext>
                  </a:extLst>
                </a:gridCol>
                <a:gridCol w="7195068">
                  <a:extLst>
                    <a:ext uri="{9D8B030D-6E8A-4147-A177-3AD203B41FA5}">
                      <a16:colId xmlns:a16="http://schemas.microsoft.com/office/drawing/2014/main" val="1059237288"/>
                    </a:ext>
                  </a:extLst>
                </a:gridCol>
              </a:tblGrid>
              <a:tr h="582003">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Potential Proposal </a:t>
                      </a:r>
                    </a:p>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Section #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Responsibility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Page Limit	</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tc>
                  <a:txBody>
                    <a:bodyPr/>
                    <a:lstStyle/>
                    <a:p>
                      <a:pPr algn="ctr" fontAlgn="ctr"/>
                      <a:r>
                        <a:rPr lang="en-US" sz="1400" b="1" u="none" strike="noStrike" dirty="0">
                          <a:solidFill>
                            <a:schemeClr val="tx1"/>
                          </a:solidFill>
                          <a:effectLst/>
                          <a:latin typeface="Arial" panose="020B0604020202020204" pitchFamily="34" charset="0"/>
                          <a:cs typeface="Arial" panose="020B0604020202020204" pitchFamily="34" charset="0"/>
                        </a:rPr>
                        <a:t>Section L – Instructions (Proposal Outline)</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2834" marR="2834" marT="2834" marB="0" anchor="ctr">
                    <a:solidFill>
                      <a:schemeClr val="bg1">
                        <a:lumMod val="50000"/>
                        <a:lumOff val="50000"/>
                      </a:schemeClr>
                    </a:solidFill>
                  </a:tcPr>
                </a:tc>
                <a:extLst>
                  <a:ext uri="{0D108BD9-81ED-4DB2-BD59-A6C34878D82A}">
                    <a16:rowId xmlns:a16="http://schemas.microsoft.com/office/drawing/2014/main" val="1180805658"/>
                  </a:ext>
                </a:extLst>
              </a:tr>
              <a:tr h="872079">
                <a:tc>
                  <a:txBody>
                    <a:bodyPr/>
                    <a:lstStyle/>
                    <a:p>
                      <a:pPr algn="ctr" fontAlgn="ctr"/>
                      <a:r>
                        <a:rPr lang="en-US" sz="1400" b="1" u="none" strike="noStrike" dirty="0">
                          <a:effectLst/>
                          <a:latin typeface="Arial" panose="020B0604020202020204" pitchFamily="34" charset="0"/>
                          <a:cs typeface="Arial" panose="020B0604020202020204" pitchFamily="34" charset="0"/>
                        </a:rPr>
                        <a:t>Volume IV</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nchor="ctr"/>
                </a:tc>
                <a:tc>
                  <a:txBody>
                    <a:bodyPr/>
                    <a:lstStyle/>
                    <a:p>
                      <a:pPr algn="ctr" fontAlgn="ctr"/>
                      <a:r>
                        <a:rPr lang="en-US" sz="1400" b="1"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nchor="ctr"/>
                </a:tc>
                <a:tc>
                  <a:txBody>
                    <a:bodyPr/>
                    <a:lstStyle/>
                    <a:p>
                      <a:pPr algn="ctr" fontAlgn="ctr"/>
                      <a:r>
                        <a:rPr lang="en-US" sz="1400" b="1" u="none" strike="noStrike" dirty="0">
                          <a:effectLst/>
                          <a:latin typeface="Arial" panose="020B0604020202020204" pitchFamily="34" charset="0"/>
                          <a:cs typeface="Arial" panose="020B0604020202020204" pitchFamily="34" charset="0"/>
                        </a:rPr>
                        <a:t>No Limit</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nchor="ctr"/>
                </a:tc>
                <a:tc>
                  <a:txBody>
                    <a:bodyPr/>
                    <a:lstStyle/>
                    <a:p>
                      <a:pPr algn="l" fontAlgn="ctr"/>
                      <a:r>
                        <a:rPr lang="en-US" sz="1400" b="1" u="none" strike="noStrike" dirty="0">
                          <a:effectLst/>
                          <a:latin typeface="Arial" panose="020B0604020202020204" pitchFamily="34" charset="0"/>
                          <a:cs typeface="Arial" panose="020B0604020202020204" pitchFamily="34" charset="0"/>
                        </a:rPr>
                        <a:t>Solicitation, Offer and Award Documents and Certifications/Representations and Submittals</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nchor="ctr"/>
                </a:tc>
                <a:extLst>
                  <a:ext uri="{0D108BD9-81ED-4DB2-BD59-A6C34878D82A}">
                    <a16:rowId xmlns:a16="http://schemas.microsoft.com/office/drawing/2014/main" val="1057811468"/>
                  </a:ext>
                </a:extLst>
              </a:tr>
              <a:tr h="1520052">
                <a:tc>
                  <a:txBody>
                    <a:bodyPr/>
                    <a:lstStyle/>
                    <a:p>
                      <a:pPr algn="ctr" fontAlgn="t"/>
                      <a:r>
                        <a:rPr lang="en-US" sz="1400" u="none" strike="noStrike">
                          <a:effectLst/>
                          <a:latin typeface="Arial" panose="020B0604020202020204" pitchFamily="34" charset="0"/>
                          <a:cs typeface="Arial" panose="020B0604020202020204" pitchFamily="34" charset="0"/>
                        </a:rPr>
                        <a:t>1.0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017" marR="9017" marT="9017" marB="0"/>
                </a:tc>
                <a:tc>
                  <a:txBody>
                    <a:bodyPr/>
                    <a:lstStyle/>
                    <a:p>
                      <a:pPr algn="ctr" fontAlgn="ctr"/>
                      <a:r>
                        <a:rPr lang="en-US" sz="1400" u="none" strike="noStrike" dirty="0">
                          <a:effectLst/>
                          <a:latin typeface="Arial" panose="020B0604020202020204" pitchFamily="34" charset="0"/>
                          <a:cs typeface="Arial" panose="020B0604020202020204" pitchFamily="34" charset="0"/>
                        </a:rPr>
                        <a:t>Kathylynn</a:t>
                      </a: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(1)  Section A- Standard Form 1442 (SF 1442), Solicitation, Offer and Award - An authorized official of the firm shall sign the SF 1442 and all certifications requiring original signature. An Acrobat PDF file shall be created to capture the signatures for submission. All Amendments must be acknowledged on SF 1442.</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tc>
                <a:extLst>
                  <a:ext uri="{0D108BD9-81ED-4DB2-BD59-A6C34878D82A}">
                    <a16:rowId xmlns:a16="http://schemas.microsoft.com/office/drawing/2014/main" val="3817924113"/>
                  </a:ext>
                </a:extLst>
              </a:tr>
              <a:tr h="1104957">
                <a:tc>
                  <a:txBody>
                    <a:bodyPr/>
                    <a:lstStyle/>
                    <a:p>
                      <a:pPr algn="ctr" fontAlgn="t"/>
                      <a:r>
                        <a:rPr lang="en-US" sz="1400" u="none" strike="noStrike">
                          <a:effectLst/>
                          <a:latin typeface="Arial" panose="020B0604020202020204" pitchFamily="34" charset="0"/>
                          <a:cs typeface="Arial" panose="020B0604020202020204" pitchFamily="34" charset="0"/>
                        </a:rPr>
                        <a:t>2.0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017" marR="9017" marT="9017" marB="0"/>
                </a:tc>
                <a:tc>
                  <a:txBody>
                    <a:bodyPr/>
                    <a:lstStyle/>
                    <a:p>
                      <a:pPr algn="ctr" fontAlgn="ctr"/>
                      <a:r>
                        <a:rPr lang="en-US" sz="1400" u="none" strike="noStrike" dirty="0">
                          <a:effectLst/>
                          <a:latin typeface="Arial" panose="020B0604020202020204" pitchFamily="34" charset="0"/>
                          <a:cs typeface="Arial" panose="020B0604020202020204" pitchFamily="34" charset="0"/>
                        </a:rPr>
                        <a:t>Kathylynn</a:t>
                      </a: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p>
                      <a:pPr algn="ctr" fontAlgn="ct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(2)  Section K- Certifications and Representations- Each Offeror shall complete (fill-in and signatures) the solicitation sections indicated below using the file (without modification to the file) provided with the MATOC RFP.</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tc>
                <a:extLst>
                  <a:ext uri="{0D108BD9-81ED-4DB2-BD59-A6C34878D82A}">
                    <a16:rowId xmlns:a16="http://schemas.microsoft.com/office/drawing/2014/main" val="2899491215"/>
                  </a:ext>
                </a:extLst>
              </a:tr>
              <a:tr h="897139">
                <a:tc>
                  <a:txBody>
                    <a:bodyPr/>
                    <a:lstStyle/>
                    <a:p>
                      <a:pPr algn="ctr" fontAlgn="t"/>
                      <a:r>
                        <a:rPr lang="en-US" sz="1400" u="none" strike="noStrike">
                          <a:effectLst/>
                          <a:latin typeface="Arial" panose="020B0604020202020204" pitchFamily="34" charset="0"/>
                          <a:cs typeface="Arial" panose="020B0604020202020204" pitchFamily="34" charset="0"/>
                        </a:rPr>
                        <a:t>3.0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017" marR="9017" marT="9017" marB="0"/>
                </a:tc>
                <a:tc>
                  <a:txBody>
                    <a:bodyPr/>
                    <a:lstStyle/>
                    <a:p>
                      <a:pPr algn="ctr" fontAlgn="ctr"/>
                      <a:r>
                        <a:rPr lang="en-US" sz="1400" u="none" strike="noStrike" dirty="0">
                          <a:effectLst/>
                          <a:latin typeface="Arial" panose="020B0604020202020204" pitchFamily="34" charset="0"/>
                          <a:cs typeface="Arial" panose="020B0604020202020204" pitchFamily="34" charset="0"/>
                        </a:rPr>
                        <a:t>Harry</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017" marR="9017" marT="9017"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(3)  Joint Venture (JV) Offerors: The Offerors shall provide a copy </a:t>
                      </a:r>
                      <a:r>
                        <a:rPr lang="en-US" sz="1400" u="none" strike="noStrike" dirty="0" err="1">
                          <a:effectLst/>
                          <a:latin typeface="Arial" panose="020B0604020202020204" pitchFamily="34" charset="0"/>
                          <a:cs typeface="Arial" panose="020B0604020202020204" pitchFamily="34" charset="0"/>
                        </a:rPr>
                        <a:t>ofthe</a:t>
                      </a:r>
                      <a:r>
                        <a:rPr lang="en-US" sz="1400" u="none" strike="noStrike" dirty="0">
                          <a:effectLst/>
                          <a:latin typeface="Arial" panose="020B0604020202020204" pitchFamily="34" charset="0"/>
                          <a:cs typeface="Arial" panose="020B0604020202020204" pitchFamily="34" charset="0"/>
                        </a:rPr>
                        <a:t> signed joint venture agreement with the proposal.</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tc>
                <a:extLst>
                  <a:ext uri="{0D108BD9-81ED-4DB2-BD59-A6C34878D82A}">
                    <a16:rowId xmlns:a16="http://schemas.microsoft.com/office/drawing/2014/main" val="1811887784"/>
                  </a:ext>
                </a:extLst>
              </a:tr>
              <a:tr h="806260">
                <a:tc>
                  <a:txBody>
                    <a:bodyPr/>
                    <a:lstStyle/>
                    <a:p>
                      <a:pPr algn="ctr" fontAlgn="t"/>
                      <a:r>
                        <a:rPr lang="en-US" sz="1400" u="none" strike="noStrike">
                          <a:effectLst/>
                          <a:latin typeface="Arial" panose="020B0604020202020204" pitchFamily="34" charset="0"/>
                          <a:cs typeface="Arial" panose="020B0604020202020204" pitchFamily="34" charset="0"/>
                        </a:rPr>
                        <a:t>4.0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017" marR="9017" marT="9017" marB="0"/>
                </a:tc>
                <a:tc>
                  <a:txBody>
                    <a:bodyPr/>
                    <a:lstStyle/>
                    <a:p>
                      <a:pPr algn="ctr" fontAlgn="ctr"/>
                      <a:r>
                        <a:rPr lang="en-US" sz="1400" u="none" strike="noStrike">
                          <a:effectLst/>
                          <a:latin typeface="Arial" panose="020B0604020202020204" pitchFamily="34" charset="0"/>
                          <a:cs typeface="Arial" panose="020B0604020202020204" pitchFamily="34" charset="0"/>
                        </a:rPr>
                        <a:t>Daniela/Harry</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017" marR="9017" marT="9017"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 </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017" marR="9017" marT="9017" marB="0" anchor="ctr"/>
                </a:tc>
                <a:tc>
                  <a:txBody>
                    <a:bodyPr/>
                    <a:lstStyle/>
                    <a:p>
                      <a:pPr algn="l" fontAlgn="t"/>
                      <a:r>
                        <a:rPr lang="en-US" sz="1400" u="none" strike="noStrike" dirty="0">
                          <a:effectLst/>
                          <a:latin typeface="Arial" panose="020B0604020202020204" pitchFamily="34" charset="0"/>
                          <a:cs typeface="Arial" panose="020B0604020202020204" pitchFamily="34" charset="0"/>
                        </a:rPr>
                        <a:t>(4) Exhibit A- Building 14 Renovation TO</a:t>
                      </a:r>
                      <a:br>
                        <a:rPr lang="en-US" sz="1400" u="none" strike="noStrike" dirty="0">
                          <a:effectLst/>
                          <a:latin typeface="Arial" panose="020B0604020202020204" pitchFamily="34" charset="0"/>
                          <a:cs typeface="Arial" panose="020B0604020202020204" pitchFamily="34" charset="0"/>
                        </a:rPr>
                      </a:br>
                      <a:r>
                        <a:rPr lang="en-US" sz="1400" u="none" strike="noStrike" dirty="0">
                          <a:effectLst/>
                          <a:latin typeface="Arial" panose="020B0604020202020204" pitchFamily="34" charset="0"/>
                          <a:cs typeface="Arial" panose="020B0604020202020204" pitchFamily="34" charset="0"/>
                        </a:rPr>
                        <a:t>Bid Guarantee for Building 14 TO must be included with proposal.</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017" marR="9017" marT="9017" marB="0"/>
                </a:tc>
                <a:extLst>
                  <a:ext uri="{0D108BD9-81ED-4DB2-BD59-A6C34878D82A}">
                    <a16:rowId xmlns:a16="http://schemas.microsoft.com/office/drawing/2014/main" val="349711325"/>
                  </a:ext>
                </a:extLst>
              </a:tr>
            </a:tbl>
          </a:graphicData>
        </a:graphic>
      </p:graphicFrame>
    </p:spTree>
    <p:extLst>
      <p:ext uri="{BB962C8B-B14F-4D97-AF65-F5344CB8AC3E}">
        <p14:creationId xmlns:p14="http://schemas.microsoft.com/office/powerpoint/2010/main" val="470432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EBD097-8973-4E21-82BE-BD8C0CC05899}"/>
              </a:ext>
            </a:extLst>
          </p:cNvPr>
          <p:cNvSpPr>
            <a:spLocks noGrp="1"/>
          </p:cNvSpPr>
          <p:nvPr>
            <p:ph idx="1"/>
          </p:nvPr>
        </p:nvSpPr>
        <p:spPr>
          <a:xfrm>
            <a:off x="475717" y="1171304"/>
            <a:ext cx="9057794" cy="3880773"/>
          </a:xfrm>
        </p:spPr>
        <p:txBody>
          <a:bodyPr>
            <a:normAutofit/>
          </a:bodyPr>
          <a:lstStyle/>
          <a:p>
            <a:r>
              <a:rPr lang="en-US" sz="1400" dirty="0">
                <a:latin typeface="Arial" panose="020B0604020202020204" pitchFamily="34" charset="0"/>
                <a:cs typeface="Arial" panose="020B0604020202020204" pitchFamily="34" charset="0"/>
              </a:rPr>
              <a:t>Awards will be made based on the best overall (i.e. best value) proposals that are determined to be the most beneficial to the Government, with appropriate consideration given to the following three evaluation factors: Technical, Past Performance, and Price</a:t>
            </a:r>
          </a:p>
          <a:p>
            <a:r>
              <a:rPr lang="en-US" sz="1600" b="1" dirty="0">
                <a:latin typeface="Arial" panose="020B0604020202020204" pitchFamily="34" charset="0"/>
                <a:cs typeface="Arial" panose="020B0604020202020204" pitchFamily="34" charset="0"/>
              </a:rPr>
              <a:t>Factor 1. Technical Factor</a:t>
            </a:r>
          </a:p>
          <a:p>
            <a:pPr lvl="1">
              <a:lnSpc>
                <a:spcPct val="120000"/>
              </a:lnSpc>
              <a:spcBef>
                <a:spcPts val="0"/>
              </a:spcBef>
            </a:pPr>
            <a:r>
              <a:rPr lang="en-US" sz="1400" dirty="0">
                <a:latin typeface="Arial" panose="020B0604020202020204" pitchFamily="34" charset="0"/>
                <a:cs typeface="Arial" panose="020B0604020202020204" pitchFamily="34" charset="0"/>
              </a:rPr>
              <a:t>Subfactor a – Bonding Capacity</a:t>
            </a:r>
          </a:p>
          <a:p>
            <a:pPr lvl="1">
              <a:lnSpc>
                <a:spcPct val="120000"/>
              </a:lnSpc>
              <a:spcBef>
                <a:spcPts val="0"/>
              </a:spcBef>
            </a:pPr>
            <a:r>
              <a:rPr lang="en-US" sz="1400" dirty="0">
                <a:latin typeface="Arial" panose="020B0604020202020204" pitchFamily="34" charset="0"/>
                <a:cs typeface="Arial" panose="020B0604020202020204" pitchFamily="34" charset="0"/>
              </a:rPr>
              <a:t>Subfactor b – Safety Program</a:t>
            </a:r>
          </a:p>
          <a:p>
            <a:pPr lvl="1">
              <a:lnSpc>
                <a:spcPct val="120000"/>
              </a:lnSpc>
              <a:spcBef>
                <a:spcPts val="0"/>
              </a:spcBef>
            </a:pPr>
            <a:r>
              <a:rPr lang="en-US" sz="1400" dirty="0">
                <a:latin typeface="Arial" panose="020B0604020202020204" pitchFamily="34" charset="0"/>
                <a:cs typeface="Arial" panose="020B0604020202020204" pitchFamily="34" charset="0"/>
              </a:rPr>
              <a:t>Subfactor c - Quality Control Approach</a:t>
            </a:r>
          </a:p>
          <a:p>
            <a:pPr lvl="1">
              <a:lnSpc>
                <a:spcPct val="120000"/>
              </a:lnSpc>
              <a:spcBef>
                <a:spcPts val="0"/>
              </a:spcBef>
            </a:pPr>
            <a:r>
              <a:rPr lang="en-US" sz="1400" dirty="0">
                <a:latin typeface="Arial" panose="020B0604020202020204" pitchFamily="34" charset="0"/>
                <a:cs typeface="Arial" panose="020B0604020202020204" pitchFamily="34" charset="0"/>
              </a:rPr>
              <a:t>Subfactor d – Contract Management Plan</a:t>
            </a:r>
          </a:p>
          <a:p>
            <a:r>
              <a:rPr lang="en-US" sz="1600" b="1" dirty="0">
                <a:latin typeface="Arial" panose="020B0604020202020204" pitchFamily="34" charset="0"/>
                <a:cs typeface="Arial" panose="020B0604020202020204" pitchFamily="34" charset="0"/>
              </a:rPr>
              <a:t>Factor 2. Past Performance</a:t>
            </a:r>
          </a:p>
          <a:p>
            <a:pPr lvl="1"/>
            <a:r>
              <a:rPr lang="en-US" sz="1400" dirty="0">
                <a:latin typeface="Arial" panose="020B0604020202020204" pitchFamily="34" charset="0"/>
                <a:cs typeface="Arial" panose="020B0604020202020204" pitchFamily="34" charset="0"/>
              </a:rPr>
              <a:t>Each Offerors' past performance will be reviewed to determine relevancy and confidence assessment. </a:t>
            </a:r>
          </a:p>
          <a:p>
            <a:r>
              <a:rPr lang="en-US" sz="1600" b="1" dirty="0">
                <a:latin typeface="Arial" panose="020B0604020202020204" pitchFamily="34" charset="0"/>
                <a:cs typeface="Arial" panose="020B0604020202020204" pitchFamily="34" charset="0"/>
              </a:rPr>
              <a:t>Factor 3. Price</a:t>
            </a:r>
          </a:p>
          <a:p>
            <a:pPr lvl="1"/>
            <a:endParaRPr lang="en-US" dirty="0"/>
          </a:p>
        </p:txBody>
      </p:sp>
      <p:sp>
        <p:nvSpPr>
          <p:cNvPr id="7" name="Title 1">
            <a:extLst>
              <a:ext uri="{FF2B5EF4-FFF2-40B4-BE49-F238E27FC236}">
                <a16:creationId xmlns:a16="http://schemas.microsoft.com/office/drawing/2014/main" id="{BDCA5C0E-B50F-4400-9A95-04D8A8ADCF0A}"/>
              </a:ext>
            </a:extLst>
          </p:cNvPr>
          <p:cNvSpPr>
            <a:spLocks noGrp="1"/>
          </p:cNvSpPr>
          <p:nvPr>
            <p:ph type="title"/>
          </p:nvPr>
        </p:nvSpPr>
        <p:spPr>
          <a:xfrm>
            <a:off x="342273" y="95795"/>
            <a:ext cx="9057794" cy="1075509"/>
          </a:xfrm>
        </p:spPr>
        <p:txBody>
          <a:bodyPr>
            <a:normAutofit/>
          </a:bodyPr>
          <a:lstStyle/>
          <a:p>
            <a:r>
              <a:rPr lang="en-US" sz="2000" dirty="0">
                <a:latin typeface="Arial" panose="020B0604020202020204" pitchFamily="34" charset="0"/>
                <a:cs typeface="Arial" panose="020B0604020202020204" pitchFamily="34" charset="0"/>
              </a:rPr>
              <a:t>Basis of Award</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(Section M)</a:t>
            </a:r>
          </a:p>
        </p:txBody>
      </p:sp>
    </p:spTree>
    <p:extLst>
      <p:ext uri="{BB962C8B-B14F-4D97-AF65-F5344CB8AC3E}">
        <p14:creationId xmlns:p14="http://schemas.microsoft.com/office/powerpoint/2010/main" val="3131578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DCA5C0E-B50F-4400-9A95-04D8A8ADCF0A}"/>
              </a:ext>
            </a:extLst>
          </p:cNvPr>
          <p:cNvSpPr>
            <a:spLocks noGrp="1"/>
          </p:cNvSpPr>
          <p:nvPr>
            <p:ph type="title"/>
          </p:nvPr>
        </p:nvSpPr>
        <p:spPr>
          <a:xfrm>
            <a:off x="350982" y="104797"/>
            <a:ext cx="9057794" cy="1075509"/>
          </a:xfrm>
        </p:spPr>
        <p:txBody>
          <a:bodyPr>
            <a:normAutofit/>
          </a:bodyPr>
          <a:lstStyle/>
          <a:p>
            <a:r>
              <a:rPr lang="en-US" sz="2000" dirty="0">
                <a:latin typeface="Arial" panose="020B0604020202020204" pitchFamily="34" charset="0"/>
                <a:cs typeface="Arial" panose="020B0604020202020204" pitchFamily="34" charset="0"/>
              </a:rPr>
              <a:t>Evaluation Criteria –Factor 1: Technical</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grpSp>
        <p:nvGrpSpPr>
          <p:cNvPr id="13" name="Group 12">
            <a:extLst>
              <a:ext uri="{FF2B5EF4-FFF2-40B4-BE49-F238E27FC236}">
                <a16:creationId xmlns:a16="http://schemas.microsoft.com/office/drawing/2014/main" id="{E0A467EE-C377-47F8-869D-F7B40D5F19CC}"/>
              </a:ext>
            </a:extLst>
          </p:cNvPr>
          <p:cNvGrpSpPr/>
          <p:nvPr/>
        </p:nvGrpSpPr>
        <p:grpSpPr>
          <a:xfrm>
            <a:off x="1892630" y="1285104"/>
            <a:ext cx="6650074" cy="4546663"/>
            <a:chOff x="877562" y="871537"/>
            <a:chExt cx="6650074" cy="4546663"/>
          </a:xfrm>
        </p:grpSpPr>
        <p:pic>
          <p:nvPicPr>
            <p:cNvPr id="10" name="Picture 9">
              <a:extLst>
                <a:ext uri="{FF2B5EF4-FFF2-40B4-BE49-F238E27FC236}">
                  <a16:creationId xmlns:a16="http://schemas.microsoft.com/office/drawing/2014/main" id="{915BF8E7-1055-4C1B-9AC4-5546EB955946}"/>
                </a:ext>
              </a:extLst>
            </p:cNvPr>
            <p:cNvPicPr>
              <a:picLocks noChangeAspect="1"/>
            </p:cNvPicPr>
            <p:nvPr/>
          </p:nvPicPr>
          <p:blipFill>
            <a:blip r:embed="rId2"/>
            <a:stretch>
              <a:fillRect/>
            </a:stretch>
          </p:blipFill>
          <p:spPr>
            <a:xfrm>
              <a:off x="877562" y="4481570"/>
              <a:ext cx="6650074" cy="936630"/>
            </a:xfrm>
            <a:prstGeom prst="rect">
              <a:avLst/>
            </a:prstGeom>
          </p:spPr>
        </p:pic>
        <p:pic>
          <p:nvPicPr>
            <p:cNvPr id="12" name="Picture 11" descr="Table&#10;&#10;Description automatically generated">
              <a:extLst>
                <a:ext uri="{FF2B5EF4-FFF2-40B4-BE49-F238E27FC236}">
                  <a16:creationId xmlns:a16="http://schemas.microsoft.com/office/drawing/2014/main" id="{263F9A34-0506-46A6-8B4B-431841C59D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562" y="871537"/>
              <a:ext cx="6650074" cy="3831641"/>
            </a:xfrm>
            <a:prstGeom prst="rect">
              <a:avLst/>
            </a:prstGeom>
          </p:spPr>
        </p:pic>
      </p:grpSp>
    </p:spTree>
    <p:extLst>
      <p:ext uri="{BB962C8B-B14F-4D97-AF65-F5344CB8AC3E}">
        <p14:creationId xmlns:p14="http://schemas.microsoft.com/office/powerpoint/2010/main" val="1952462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0E3AEA-FD77-4210-8D51-4AE622359C71}"/>
              </a:ext>
            </a:extLst>
          </p:cNvPr>
          <p:cNvSpPr txBox="1"/>
          <p:nvPr/>
        </p:nvSpPr>
        <p:spPr>
          <a:xfrm>
            <a:off x="440337" y="1039235"/>
            <a:ext cx="8879081" cy="2277547"/>
          </a:xfrm>
          <a:prstGeom prst="rect">
            <a:avLst/>
          </a:prstGeom>
          <a:noFill/>
        </p:spPr>
        <p:txBody>
          <a:bodyPr wrap="square" rtlCol="0">
            <a:spAutoFit/>
          </a:bodyPr>
          <a:lstStyle/>
          <a:p>
            <a:pPr>
              <a:spcBef>
                <a:spcPts val="600"/>
              </a:spcBef>
            </a:pPr>
            <a:r>
              <a:rPr lang="en-US" sz="1400" b="1" dirty="0">
                <a:solidFill>
                  <a:srgbClr val="92D050"/>
                </a:solidFill>
                <a:latin typeface="Arial" panose="020B0604020202020204" pitchFamily="34" charset="0"/>
                <a:cs typeface="Arial" panose="020B0604020202020204" pitchFamily="34" charset="0"/>
              </a:rPr>
              <a:t>Subfactor a: Bonding Capacity - </a:t>
            </a:r>
          </a:p>
          <a:p>
            <a:pPr marL="285750" indent="-285750">
              <a:spcBef>
                <a:spcPts val="600"/>
              </a:spcBef>
              <a:buFont typeface="Wingdings" panose="05000000000000000000" pitchFamily="2" charset="2"/>
              <a:buChar char="Ø"/>
            </a:pPr>
            <a:r>
              <a:rPr lang="en-US" sz="1400" dirty="0">
                <a:latin typeface="Arial" panose="020B0604020202020204" pitchFamily="34" charset="0"/>
                <a:cs typeface="Arial" panose="020B0604020202020204" pitchFamily="34" charset="0"/>
              </a:rPr>
              <a:t>Evaluates the Offerors' proposed Bonding Capacity for the base contract. An adjectival rating will be given for this subfactor.</a:t>
            </a:r>
          </a:p>
          <a:p>
            <a:pPr marL="285750" indent="-285750">
              <a:spcBef>
                <a:spcPts val="600"/>
              </a:spcBef>
              <a:buFont typeface="Wingdings" panose="05000000000000000000" pitchFamily="2" charset="2"/>
              <a:buChar char="Ø"/>
            </a:pPr>
            <a:r>
              <a:rPr lang="en-US" sz="1400" dirty="0">
                <a:latin typeface="Arial" panose="020B0604020202020204" pitchFamily="34" charset="0"/>
                <a:cs typeface="Arial" panose="020B0604020202020204" pitchFamily="34" charset="0"/>
              </a:rPr>
              <a:t>The Offeror will provide information to substantiate the following: The Government will evaluate the Offerors' ability to provide documentation from a certified and approved Surety demonstrating that it currently has or can obtain $5M </a:t>
            </a:r>
            <a:r>
              <a:rPr lang="en-US" sz="1400" dirty="0" err="1">
                <a:latin typeface="Arial" panose="020B0604020202020204" pitchFamily="34" charset="0"/>
                <a:cs typeface="Arial" panose="020B0604020202020204" pitchFamily="34" charset="0"/>
              </a:rPr>
              <a:t>ofpayment</a:t>
            </a:r>
            <a:r>
              <a:rPr lang="en-US" sz="1400" dirty="0">
                <a:latin typeface="Arial" panose="020B0604020202020204" pitchFamily="34" charset="0"/>
                <a:cs typeface="Arial" panose="020B0604020202020204" pitchFamily="34" charset="0"/>
              </a:rPr>
              <a:t> and performance bonds per year specifically for this contract.</a:t>
            </a:r>
          </a:p>
          <a:p>
            <a:endParaRPr lang="en-US" sz="1400" dirty="0">
              <a:latin typeface="Arial" panose="020B0604020202020204" pitchFamily="34" charset="0"/>
              <a:cs typeface="Arial" panose="020B0604020202020204" pitchFamily="34" charset="0"/>
            </a:endParaRPr>
          </a:p>
          <a:p>
            <a:r>
              <a:rPr lang="en-US" sz="1000" b="1" dirty="0">
                <a:latin typeface="Arial" panose="020B0604020202020204" pitchFamily="34" charset="0"/>
                <a:cs typeface="Arial" panose="020B0604020202020204" pitchFamily="34" charset="0"/>
              </a:rPr>
              <a:t>NOTE: Surety companies utilized for the proposal and contract must be listed on the U.S. Department of the Treasury website.</a:t>
            </a:r>
          </a:p>
          <a:p>
            <a:r>
              <a:rPr lang="en-US" sz="1000" b="1" dirty="0">
                <a:latin typeface="Arial" panose="020B0604020202020204" pitchFamily="34" charset="0"/>
                <a:cs typeface="Arial" panose="020B0604020202020204" pitchFamily="34" charset="0"/>
              </a:rPr>
              <a:t>Reference </a:t>
            </a:r>
            <a:r>
              <a:rPr lang="en-US" sz="1000" b="1" dirty="0">
                <a:latin typeface="Arial" panose="020B0604020202020204" pitchFamily="34" charset="0"/>
                <a:cs typeface="Arial" panose="020B0604020202020204" pitchFamily="34" charset="0"/>
                <a:hlinkClick r:id="rId2"/>
              </a:rPr>
              <a:t>https://www.fiscal.treasuzy.gov/surety-bonds/list-certified- companies.html</a:t>
            </a:r>
            <a:endParaRPr lang="en-US" sz="1000" b="1" dirty="0">
              <a:latin typeface="Arial" panose="020B0604020202020204" pitchFamily="34" charset="0"/>
              <a:cs typeface="Arial" panose="020B0604020202020204" pitchFamily="34" charset="0"/>
            </a:endParaRPr>
          </a:p>
          <a:p>
            <a:endParaRPr lang="en-US" sz="14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88B9D0C-80D3-4A78-800F-8A669DDA5388}"/>
              </a:ext>
            </a:extLst>
          </p:cNvPr>
          <p:cNvSpPr txBox="1"/>
          <p:nvPr/>
        </p:nvSpPr>
        <p:spPr>
          <a:xfrm>
            <a:off x="440337" y="3128107"/>
            <a:ext cx="8678496" cy="3123932"/>
          </a:xfrm>
          <a:prstGeom prst="rect">
            <a:avLst/>
          </a:prstGeom>
          <a:noFill/>
        </p:spPr>
        <p:txBody>
          <a:bodyPr wrap="square" rtlCol="0">
            <a:spAutoFit/>
          </a:bodyPr>
          <a:lstStyle/>
          <a:p>
            <a:pPr>
              <a:spcBef>
                <a:spcPts val="600"/>
              </a:spcBef>
            </a:pPr>
            <a:r>
              <a:rPr lang="en-US" sz="1400" b="1" dirty="0">
                <a:solidFill>
                  <a:srgbClr val="92D050"/>
                </a:solidFill>
                <a:latin typeface="Arial" panose="020B0604020202020204" pitchFamily="34" charset="0"/>
                <a:cs typeface="Arial" panose="020B0604020202020204" pitchFamily="34" charset="0"/>
              </a:rPr>
              <a:t>Subfactor b: Safety Program - </a:t>
            </a:r>
          </a:p>
          <a:p>
            <a:pPr marL="285750" indent="-285750">
              <a:spcBef>
                <a:spcPts val="600"/>
              </a:spcBef>
              <a:buFont typeface="Wingdings" panose="05000000000000000000" pitchFamily="2" charset="2"/>
              <a:buChar char="Ø"/>
            </a:pPr>
            <a:r>
              <a:rPr lang="en-US" sz="1400" dirty="0">
                <a:latin typeface="Arial" panose="020B0604020202020204" pitchFamily="34" charset="0"/>
                <a:cs typeface="Arial" panose="020B0604020202020204" pitchFamily="34" charset="0"/>
              </a:rPr>
              <a:t>This rating will consist of the rating for Key Point #1 and depend on the Offeror receiving Acceptable ratings for both Key Point #2 and #3. An unacceptable rating in either may result in an unsatisfactory rating for this subfactor. Evaluators will rate:</a:t>
            </a:r>
          </a:p>
          <a:p>
            <a:pPr marL="628650" lvl="1"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1400" b="1" dirty="0">
                <a:latin typeface="Arial" panose="020B0604020202020204" pitchFamily="34" charset="0"/>
                <a:cs typeface="Arial" panose="020B0604020202020204" pitchFamily="34" charset="0"/>
              </a:rPr>
              <a:t>KEY POINT #1</a:t>
            </a:r>
            <a:r>
              <a:rPr lang="en-US" sz="1400" dirty="0">
                <a:latin typeface="Arial" panose="020B0604020202020204" pitchFamily="34" charset="0"/>
                <a:cs typeface="Arial" panose="020B0604020202020204" pitchFamily="34" charset="0"/>
              </a:rPr>
              <a:t>: The Government will evaluate the Offerors' Accident Prevention Plan (APP) written for the Building 14Renovation TO, using the Statement of Work (SOW) in Exhibit A(2). The APP will be evaluated using a two-step approach. </a:t>
            </a:r>
          </a:p>
          <a:p>
            <a:pPr lvl="2"/>
            <a:endParaRPr lang="en-US" sz="1200" dirty="0">
              <a:latin typeface="Arial" panose="020B0604020202020204" pitchFamily="34" charset="0"/>
              <a:cs typeface="Arial" panose="020B0604020202020204" pitchFamily="34" charset="0"/>
            </a:endParaRPr>
          </a:p>
          <a:p>
            <a:pPr marL="1143000" lvl="2" indent="-228600">
              <a:buAutoNum type="arabicPeriod"/>
            </a:pPr>
            <a:r>
              <a:rPr lang="en-US" sz="1000" dirty="0">
                <a:latin typeface="Arial" panose="020B0604020202020204" pitchFamily="34" charset="0"/>
                <a:cs typeface="Arial" panose="020B0604020202020204" pitchFamily="34" charset="0"/>
              </a:rPr>
              <a:t>Government will evaluate the numerical headings listed in Attachment 3 to ensure they are addressed and written to provide the Government confidence the Offeror has a clear understanding of the mandatory requirements stated in the UFGS and USACE EM385 Standards. If information is missing, the proposal may be removed from further evaluation. </a:t>
            </a:r>
          </a:p>
          <a:p>
            <a:pPr marL="1143000" lvl="2" indent="-228600">
              <a:buAutoNum type="arabicPeriod"/>
            </a:pPr>
            <a:endParaRPr lang="en-US" sz="1000" dirty="0">
              <a:latin typeface="Arial" panose="020B0604020202020204" pitchFamily="34" charset="0"/>
              <a:cs typeface="Arial" panose="020B0604020202020204" pitchFamily="34" charset="0"/>
            </a:endParaRPr>
          </a:p>
          <a:p>
            <a:pPr marL="1143000" lvl="2" indent="-228600">
              <a:buAutoNum type="arabicPeriod"/>
            </a:pPr>
            <a:r>
              <a:rPr lang="en-US" sz="1000" dirty="0">
                <a:latin typeface="Arial" panose="020B0604020202020204" pitchFamily="34" charset="0"/>
                <a:cs typeface="Arial" panose="020B0604020202020204" pitchFamily="34" charset="0"/>
              </a:rPr>
              <a:t>Step two, the Government will credit the Offeror for details provided using the alphabetical sub criteria listed in the attachment. This detail will be evaluated for added strength in the APP based on the information provided and the confidence the Government has that the Offeror has a clear understanding </a:t>
            </a:r>
            <a:r>
              <a:rPr lang="en-US" sz="1000" dirty="0" err="1">
                <a:latin typeface="Arial" panose="020B0604020202020204" pitchFamily="34" charset="0"/>
                <a:cs typeface="Arial" panose="020B0604020202020204" pitchFamily="34" charset="0"/>
              </a:rPr>
              <a:t>ofthe</a:t>
            </a:r>
            <a:r>
              <a:rPr lang="en-US" sz="1000" dirty="0">
                <a:latin typeface="Arial" panose="020B0604020202020204" pitchFamily="34" charset="0"/>
                <a:cs typeface="Arial" panose="020B0604020202020204" pitchFamily="34" charset="0"/>
              </a:rPr>
              <a:t> requirement.</a:t>
            </a:r>
          </a:p>
        </p:txBody>
      </p:sp>
      <p:sp>
        <p:nvSpPr>
          <p:cNvPr id="9" name="Title 1">
            <a:extLst>
              <a:ext uri="{FF2B5EF4-FFF2-40B4-BE49-F238E27FC236}">
                <a16:creationId xmlns:a16="http://schemas.microsoft.com/office/drawing/2014/main" id="{3C3460AF-AF82-4170-823E-326DF12638A3}"/>
              </a:ext>
            </a:extLst>
          </p:cNvPr>
          <p:cNvSpPr txBox="1">
            <a:spLocks/>
          </p:cNvSpPr>
          <p:nvPr/>
        </p:nvSpPr>
        <p:spPr>
          <a:xfrm>
            <a:off x="503382" y="152400"/>
            <a:ext cx="9057794" cy="107550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latin typeface="Arial" panose="020B0604020202020204" pitchFamily="34" charset="0"/>
                <a:cs typeface="Arial" panose="020B0604020202020204" pitchFamily="34" charset="0"/>
              </a:rPr>
              <a:t>Evaluation Criteria – Factor 1: Technical</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3935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DCA5C0E-B50F-4400-9A95-04D8A8ADCF0A}"/>
              </a:ext>
            </a:extLst>
          </p:cNvPr>
          <p:cNvSpPr>
            <a:spLocks noGrp="1"/>
          </p:cNvSpPr>
          <p:nvPr>
            <p:ph type="title"/>
          </p:nvPr>
        </p:nvSpPr>
        <p:spPr>
          <a:xfrm>
            <a:off x="350982" y="182136"/>
            <a:ext cx="9057794" cy="1075509"/>
          </a:xfrm>
        </p:spPr>
        <p:txBody>
          <a:bodyPr>
            <a:normAutofit/>
          </a:bodyPr>
          <a:lstStyle/>
          <a:p>
            <a:r>
              <a:rPr lang="en-US" sz="2000" dirty="0">
                <a:latin typeface="Arial" panose="020B0604020202020204" pitchFamily="34" charset="0"/>
                <a:cs typeface="Arial" panose="020B0604020202020204" pitchFamily="34" charset="0"/>
              </a:rPr>
              <a:t>Evaluation Criteria – Factor 1: Technical</a:t>
            </a:r>
          </a:p>
        </p:txBody>
      </p:sp>
      <p:sp>
        <p:nvSpPr>
          <p:cNvPr id="3" name="TextBox 2">
            <a:extLst>
              <a:ext uri="{FF2B5EF4-FFF2-40B4-BE49-F238E27FC236}">
                <a16:creationId xmlns:a16="http://schemas.microsoft.com/office/drawing/2014/main" id="{388B9D0C-80D3-4A78-800F-8A669DDA5388}"/>
              </a:ext>
            </a:extLst>
          </p:cNvPr>
          <p:cNvSpPr txBox="1"/>
          <p:nvPr/>
        </p:nvSpPr>
        <p:spPr>
          <a:xfrm>
            <a:off x="350982" y="719891"/>
            <a:ext cx="9280698" cy="3154710"/>
          </a:xfrm>
          <a:prstGeom prst="rect">
            <a:avLst/>
          </a:prstGeom>
          <a:noFill/>
        </p:spPr>
        <p:txBody>
          <a:bodyPr wrap="square" rtlCol="0">
            <a:spAutoFit/>
          </a:bodyPr>
          <a:lstStyle/>
          <a:p>
            <a:r>
              <a:rPr lang="en-US" sz="1400" b="1" dirty="0">
                <a:solidFill>
                  <a:srgbClr val="92D050"/>
                </a:solidFill>
                <a:latin typeface="Arial" panose="020B0604020202020204" pitchFamily="34" charset="0"/>
                <a:cs typeface="Arial" panose="020B0604020202020204" pitchFamily="34" charset="0"/>
              </a:rPr>
              <a:t>Subfactor b: Safety Program (cont’d) </a:t>
            </a:r>
          </a:p>
          <a:p>
            <a:pPr marL="400050" lvl="1" indent="-230188">
              <a:spcBef>
                <a:spcPts val="600"/>
              </a:spcBef>
              <a:buFont typeface="Arial" panose="020B0604020202020204" pitchFamily="34" charset="0"/>
              <a:buChar char="•"/>
            </a:pPr>
            <a:r>
              <a:rPr lang="en-US" sz="1400" b="1" dirty="0">
                <a:latin typeface="Arial" panose="020B0604020202020204" pitchFamily="34" charset="0"/>
                <a:cs typeface="Arial" panose="020B0604020202020204" pitchFamily="34" charset="0"/>
              </a:rPr>
              <a:t>KEY POINT #2:</a:t>
            </a:r>
            <a:r>
              <a:rPr lang="en-US" sz="1400" dirty="0">
                <a:latin typeface="Arial" panose="020B0604020202020204" pitchFamily="34" charset="0"/>
                <a:cs typeface="Arial" panose="020B0604020202020204" pitchFamily="34" charset="0"/>
              </a:rPr>
              <a:t> The Government will evaluate the Offerors' Experience Modification Rate (EMR) for the previous three (3) full year operating period from issue date of RFP. This key point will be evaluated acceptable/unacceptable based on meeting minimum requirements.</a:t>
            </a:r>
          </a:p>
          <a:p>
            <a:pPr marL="400050" lvl="1" indent="-230188">
              <a:spcBef>
                <a:spcPts val="600"/>
              </a:spcBef>
            </a:pPr>
            <a:r>
              <a:rPr lang="en-US" sz="1400" dirty="0">
                <a:latin typeface="Arial" panose="020B0604020202020204" pitchFamily="34" charset="0"/>
                <a:cs typeface="Arial" panose="020B0604020202020204" pitchFamily="34" charset="0"/>
              </a:rPr>
              <a:t>	NOTE: An EMR of greater than 1.0 during any portion of the previous three (3) full year operating period from issue date 	of the RFP will be considered unacceptable.</a:t>
            </a:r>
          </a:p>
          <a:p>
            <a:pPr marL="400050" lvl="1" indent="-230188">
              <a:spcBef>
                <a:spcPts val="600"/>
              </a:spcBef>
            </a:pP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KEY POINT #3</a:t>
            </a:r>
            <a:r>
              <a:rPr lang="en-US" sz="1400" dirty="0">
                <a:latin typeface="Arial" panose="020B0604020202020204" pitchFamily="34" charset="0"/>
                <a:cs typeface="Arial" panose="020B0604020202020204" pitchFamily="34" charset="0"/>
              </a:rPr>
              <a:t>: The Government will evaluate the DART rate for the previous three (3) full year operating period from issue date of RFP. Evaluation will be of the Offerors' record of safe and regulatory compliant operations based </a:t>
            </a:r>
            <a:r>
              <a:rPr lang="en-US" sz="1200" dirty="0">
                <a:latin typeface="Arial" panose="020B0604020202020204" pitchFamily="34" charset="0"/>
                <a:cs typeface="Arial" panose="020B0604020202020204" pitchFamily="34" charset="0"/>
              </a:rPr>
              <a:t>on its OSHA recordable injuries/illnesses reports and its DART rate. </a:t>
            </a:r>
          </a:p>
          <a:p>
            <a:pPr marL="857250" lvl="2" indent="-230188">
              <a:spcBef>
                <a:spcPts val="600"/>
              </a:spcBef>
              <a:buFont typeface="Arial" panose="020B0604020202020204" pitchFamily="34" charset="0"/>
              <a:buChar char="•"/>
            </a:pPr>
            <a:r>
              <a:rPr lang="en-US" sz="1200" dirty="0">
                <a:latin typeface="Arial" panose="020B0604020202020204" pitchFamily="34" charset="0"/>
                <a:cs typeface="Arial" panose="020B0604020202020204" pitchFamily="34" charset="0"/>
              </a:rPr>
              <a:t>The Offerors' OSHA DART rate shall be at or below 1.4- 2017; 1.4- 2018 and 1.1 - 2019 for each of the previous three (3) full year operating periods from issue date of RFP.</a:t>
            </a:r>
          </a:p>
          <a:p>
            <a:pPr marL="857250" lvl="2" indent="-230188">
              <a:spcBef>
                <a:spcPts val="600"/>
              </a:spcBef>
              <a:buFont typeface="Arial" panose="020B0604020202020204" pitchFamily="34" charset="0"/>
              <a:buChar char="•"/>
            </a:pPr>
            <a:r>
              <a:rPr lang="en-US" sz="1200" b="1" dirty="0">
                <a:latin typeface="Arial" panose="020B0604020202020204" pitchFamily="34" charset="0"/>
                <a:cs typeface="Arial" panose="020B0604020202020204" pitchFamily="34" charset="0"/>
              </a:rPr>
              <a:t>This key point will be evaluated acceptable/unacceptable based on meeting minimum requirements. A DART rate below the rates stated above for any one (1) year will be rated unacceptable.</a:t>
            </a:r>
          </a:p>
        </p:txBody>
      </p:sp>
      <p:sp>
        <p:nvSpPr>
          <p:cNvPr id="6" name="TextBox 5">
            <a:extLst>
              <a:ext uri="{FF2B5EF4-FFF2-40B4-BE49-F238E27FC236}">
                <a16:creationId xmlns:a16="http://schemas.microsoft.com/office/drawing/2014/main" id="{001D0EB2-636D-40D2-8620-82C13F4C8910}"/>
              </a:ext>
            </a:extLst>
          </p:cNvPr>
          <p:cNvSpPr txBox="1"/>
          <p:nvPr/>
        </p:nvSpPr>
        <p:spPr>
          <a:xfrm>
            <a:off x="-96002" y="3874601"/>
            <a:ext cx="9585794" cy="2710999"/>
          </a:xfrm>
          <a:prstGeom prst="rect">
            <a:avLst/>
          </a:prstGeom>
          <a:noFill/>
        </p:spPr>
        <p:txBody>
          <a:bodyPr wrap="square">
            <a:spAutoFit/>
          </a:bodyPr>
          <a:lstStyle/>
          <a:p>
            <a:pPr marL="591820" marR="750570" indent="2540">
              <a:spcBef>
                <a:spcPts val="0"/>
              </a:spcBef>
              <a:spcAft>
                <a:spcPts val="0"/>
              </a:spcAft>
            </a:pPr>
            <a:r>
              <a:rPr lang="en-US" sz="1400" b="1" dirty="0">
                <a:solidFill>
                  <a:srgbClr val="92D050"/>
                </a:solidFill>
                <a:latin typeface="Arial" panose="020B0604020202020204" pitchFamily="34" charset="0"/>
                <a:cs typeface="Arial" panose="020B0604020202020204" pitchFamily="34" charset="0"/>
              </a:rPr>
              <a:t>Subfactor c: Quality Control Plan.</a:t>
            </a:r>
          </a:p>
          <a:p>
            <a:pPr marL="877570" marR="750570" indent="-285750">
              <a:spcBef>
                <a:spcPts val="0"/>
              </a:spcBef>
              <a:spcAft>
                <a:spcPts val="0"/>
              </a:spcAft>
              <a:buFont typeface="Arial" panose="020B0604020202020204" pitchFamily="34" charset="0"/>
              <a:buChar char="•"/>
            </a:pPr>
            <a:r>
              <a:rPr lang="en-US" sz="1400" b="1" dirty="0">
                <a:effectLst/>
                <a:latin typeface="Arial" panose="020B0604020202020204" pitchFamily="34" charset="0"/>
                <a:ea typeface="Times New Roman" panose="02020603050405020304" pitchFamily="18" charset="0"/>
                <a:cs typeface="Arial" panose="020B0604020202020204" pitchFamily="34" charset="0"/>
              </a:rPr>
              <a:t>KEY POINT </a:t>
            </a:r>
            <a:r>
              <a:rPr lang="en-US" sz="1400" dirty="0">
                <a:effectLst/>
                <a:latin typeface="Arial" panose="020B0604020202020204" pitchFamily="34" charset="0"/>
                <a:ea typeface="Times New Roman" panose="02020603050405020304" pitchFamily="18" charset="0"/>
                <a:cs typeface="Arial" panose="020B0604020202020204" pitchFamily="34" charset="0"/>
              </a:rPr>
              <a:t>- The Government will evaluate the Offeror Quality Control Plan (QCP) for the</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Building</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14 Renovation</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TO,</a:t>
            </a:r>
            <a:r>
              <a:rPr lang="en-US" sz="1400" spc="5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using the</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SOW</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in Exhibit</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A(2),</a:t>
            </a:r>
            <a:r>
              <a:rPr lang="en-US" sz="1400" spc="4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in</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accordance</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with</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UFGS</a:t>
            </a:r>
            <a:r>
              <a:rPr lang="en-US" sz="1400" spc="2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and</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US</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Army</a:t>
            </a:r>
            <a:r>
              <a:rPr lang="en-US" sz="1400" spc="3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Corp</a:t>
            </a:r>
            <a:r>
              <a:rPr lang="en-US" sz="1400" spc="5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of Engineer</a:t>
            </a:r>
            <a:r>
              <a:rPr lang="en-US" sz="1400" spc="-2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a:t>
            </a:r>
            <a:r>
              <a:rPr lang="en-US" sz="1400" spc="-8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Construction</a:t>
            </a:r>
            <a:r>
              <a:rPr lang="en-US" sz="1400" spc="4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Quality</a:t>
            </a:r>
            <a:r>
              <a:rPr lang="en-US" sz="1400" spc="4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Control</a:t>
            </a:r>
            <a:r>
              <a:rPr lang="en-US" sz="1400" spc="2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Management</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(USACE-CQCM)</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Standards. </a:t>
            </a:r>
          </a:p>
          <a:p>
            <a:pPr marL="1334770" marR="750570" lvl="1" indent="-285750">
              <a:spcBef>
                <a:spcPts val="600"/>
              </a:spcBef>
              <a:buFont typeface="Arial" panose="020B0604020202020204" pitchFamily="34" charset="0"/>
              <a:buChar char="•"/>
            </a:pPr>
            <a:r>
              <a:rPr lang="en-US" sz="1200" dirty="0">
                <a:effectLst/>
                <a:latin typeface="Arial" panose="020B0604020202020204" pitchFamily="34" charset="0"/>
                <a:ea typeface="Times New Roman" panose="02020603050405020304" pitchFamily="18" charset="0"/>
                <a:cs typeface="Arial" panose="020B0604020202020204" pitchFamily="34" charset="0"/>
              </a:rPr>
              <a:t>The QCP will be evaluated using a two-step approach. Step one, the Government will</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evaluate the numerical</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headings</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listed in Attachment</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4 to</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ensure</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they are addressed</a:t>
            </a:r>
            <a:r>
              <a:rPr lang="en-US" sz="1200"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and</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written</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to</a:t>
            </a:r>
            <a:r>
              <a:rPr lang="en-US" sz="1200" spc="-2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provide</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Government</a:t>
            </a:r>
            <a:r>
              <a:rPr lang="en-US" sz="1200" spc="5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confidence</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Offeror</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has</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clear</a:t>
            </a:r>
            <a:r>
              <a:rPr lang="en-US" sz="1200" spc="4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understanding</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 the mandatory</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requirements stated in</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UFGS and</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USACE-CQCM</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Standards.</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If information</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is missing</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or</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unclear, the proposal may be removed from further evaluation. Step two, the Government will</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credit the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Offeror</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for</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details</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provided</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using</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alphabetical</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sub</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criteria</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listed</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in</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attachment.</a:t>
            </a:r>
          </a:p>
          <a:p>
            <a:pPr marL="1376363" marR="753110">
              <a:spcBef>
                <a:spcPts val="495"/>
              </a:spcBef>
              <a:spcAft>
                <a:spcPts val="0"/>
              </a:spcAft>
            </a:pPr>
            <a:br>
              <a:rPr lang="en-US" sz="1400" dirty="0">
                <a:effectLst/>
                <a:latin typeface="Arial" panose="020B0604020202020204" pitchFamily="34" charset="0"/>
                <a:ea typeface="Times New Roman" panose="02020603050405020304" pitchFamily="18" charset="0"/>
                <a:cs typeface="Arial" panose="020B0604020202020204" pitchFamily="34" charset="0"/>
              </a:rPr>
            </a:br>
            <a:r>
              <a:rPr lang="en-US" sz="1000" dirty="0">
                <a:effectLst/>
                <a:latin typeface="Arial" panose="020B0604020202020204" pitchFamily="34" charset="0"/>
                <a:ea typeface="Times New Roman" panose="02020603050405020304" pitchFamily="18" charset="0"/>
                <a:cs typeface="Arial" panose="020B0604020202020204" pitchFamily="34" charset="0"/>
              </a:rPr>
              <a:t>This</a:t>
            </a:r>
            <a:r>
              <a:rPr lang="en-US" sz="1000" spc="-1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detail</a:t>
            </a:r>
            <a:r>
              <a:rPr lang="en-US" sz="1000" spc="-1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will</a:t>
            </a:r>
            <a:r>
              <a:rPr lang="en-US" sz="1000" spc="-1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be</a:t>
            </a:r>
            <a:r>
              <a:rPr lang="en-US" sz="1000" spc="-20"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evaluated</a:t>
            </a:r>
            <a:r>
              <a:rPr lang="en-US" sz="1000" spc="-1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for</a:t>
            </a:r>
            <a:r>
              <a:rPr lang="en-US" sz="1000" spc="-10"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added</a:t>
            </a:r>
            <a:r>
              <a:rPr lang="en-US" sz="1000" spc="-20"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strength</a:t>
            </a:r>
            <a:r>
              <a:rPr lang="en-US" sz="1000" spc="-1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in</a:t>
            </a:r>
            <a:r>
              <a:rPr lang="en-US" sz="1000" spc="-20"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the QCP</a:t>
            </a:r>
            <a:r>
              <a:rPr lang="en-US" sz="1000" spc="-2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based</a:t>
            </a:r>
            <a:r>
              <a:rPr lang="en-US" sz="1000" spc="-2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on the</a:t>
            </a:r>
            <a:r>
              <a:rPr lang="en-US" sz="1000" spc="-1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information provided</a:t>
            </a:r>
            <a:r>
              <a:rPr lang="en-US" sz="1000" spc="-2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and</a:t>
            </a:r>
            <a:r>
              <a:rPr lang="en-US" sz="1000" spc="-23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the</a:t>
            </a:r>
            <a:r>
              <a:rPr lang="en-US" sz="1000" spc="-10"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confidence</a:t>
            </a:r>
            <a:r>
              <a:rPr lang="en-US" sz="1000" spc="20"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the</a:t>
            </a:r>
            <a:r>
              <a:rPr lang="en-US" sz="1000" spc="1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Government</a:t>
            </a:r>
            <a:r>
              <a:rPr lang="en-US" sz="1000" spc="-10"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has</a:t>
            </a:r>
            <a:r>
              <a:rPr lang="en-US" sz="1000" spc="1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that</a:t>
            </a:r>
            <a:r>
              <a:rPr lang="en-US" sz="1000" spc="20"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the Offeror</a:t>
            </a:r>
            <a:r>
              <a:rPr lang="en-US" sz="1000" spc="-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has</a:t>
            </a:r>
            <a:r>
              <a:rPr lang="en-US" sz="1000" spc="10"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a</a:t>
            </a:r>
            <a:r>
              <a:rPr lang="en-US" sz="1000" spc="1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clear</a:t>
            </a:r>
            <a:r>
              <a:rPr lang="en-US" sz="1000" spc="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understanding</a:t>
            </a:r>
            <a:r>
              <a:rPr lang="en-US" sz="1000" spc="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of the</a:t>
            </a:r>
            <a:r>
              <a:rPr lang="en-US" sz="1000" spc="-25" dirty="0">
                <a:effectLst/>
                <a:latin typeface="Arial" panose="020B0604020202020204" pitchFamily="34" charset="0"/>
                <a:ea typeface="Times New Roman" panose="02020603050405020304" pitchFamily="18" charset="0"/>
                <a:cs typeface="Arial" panose="020B0604020202020204" pitchFamily="34" charset="0"/>
              </a:rPr>
              <a:t> </a:t>
            </a:r>
            <a:r>
              <a:rPr lang="en-US" sz="1000" dirty="0">
                <a:effectLst/>
                <a:latin typeface="Arial" panose="020B0604020202020204" pitchFamily="34" charset="0"/>
                <a:ea typeface="Times New Roman" panose="02020603050405020304" pitchFamily="18" charset="0"/>
                <a:cs typeface="Arial" panose="020B0604020202020204" pitchFamily="34" charset="0"/>
              </a:rPr>
              <a:t>requirement.</a:t>
            </a:r>
          </a:p>
        </p:txBody>
      </p:sp>
    </p:spTree>
    <p:extLst>
      <p:ext uri="{BB962C8B-B14F-4D97-AF65-F5344CB8AC3E}">
        <p14:creationId xmlns:p14="http://schemas.microsoft.com/office/powerpoint/2010/main" val="3058254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DCA5C0E-B50F-4400-9A95-04D8A8ADCF0A}"/>
              </a:ext>
            </a:extLst>
          </p:cNvPr>
          <p:cNvSpPr>
            <a:spLocks noGrp="1"/>
          </p:cNvSpPr>
          <p:nvPr>
            <p:ph type="title"/>
          </p:nvPr>
        </p:nvSpPr>
        <p:spPr>
          <a:xfrm>
            <a:off x="342273" y="259080"/>
            <a:ext cx="9057794" cy="1075509"/>
          </a:xfrm>
        </p:spPr>
        <p:txBody>
          <a:bodyPr>
            <a:normAutofit/>
          </a:bodyPr>
          <a:lstStyle/>
          <a:p>
            <a:r>
              <a:rPr lang="en-US" sz="2000" dirty="0">
                <a:latin typeface="Arial" panose="020B0604020202020204" pitchFamily="34" charset="0"/>
                <a:cs typeface="Arial" panose="020B0604020202020204" pitchFamily="34" charset="0"/>
              </a:rPr>
              <a:t>Evaluation Criteria – Factor 1: Technical</a:t>
            </a:r>
          </a:p>
        </p:txBody>
      </p:sp>
      <p:sp>
        <p:nvSpPr>
          <p:cNvPr id="3" name="TextBox 2">
            <a:extLst>
              <a:ext uri="{FF2B5EF4-FFF2-40B4-BE49-F238E27FC236}">
                <a16:creationId xmlns:a16="http://schemas.microsoft.com/office/drawing/2014/main" id="{388B9D0C-80D3-4A78-800F-8A669DDA5388}"/>
              </a:ext>
            </a:extLst>
          </p:cNvPr>
          <p:cNvSpPr txBox="1"/>
          <p:nvPr/>
        </p:nvSpPr>
        <p:spPr>
          <a:xfrm>
            <a:off x="246480" y="944881"/>
            <a:ext cx="9528562" cy="5316840"/>
          </a:xfrm>
          <a:prstGeom prst="rect">
            <a:avLst/>
          </a:prstGeom>
          <a:noFill/>
        </p:spPr>
        <p:txBody>
          <a:bodyPr wrap="square" rtlCol="0">
            <a:spAutoFit/>
          </a:bodyPr>
          <a:lstStyle/>
          <a:p>
            <a:pPr marL="339725" marR="746760" indent="-3175">
              <a:spcBef>
                <a:spcPts val="0"/>
              </a:spcBef>
              <a:spcAft>
                <a:spcPts val="0"/>
              </a:spcAft>
            </a:pPr>
            <a:r>
              <a:rPr lang="en-US" sz="1400" b="1" dirty="0">
                <a:solidFill>
                  <a:srgbClr val="92D050"/>
                </a:solidFill>
                <a:effectLst/>
                <a:latin typeface="Arial" panose="020B0604020202020204" pitchFamily="34" charset="0"/>
                <a:ea typeface="Times New Roman" panose="02020603050405020304" pitchFamily="18" charset="0"/>
                <a:cs typeface="Arial" panose="020B0604020202020204" pitchFamily="34" charset="0"/>
              </a:rPr>
              <a:t>Subfactor d: </a:t>
            </a:r>
            <a:r>
              <a:rPr lang="en-US" sz="1400" dirty="0">
                <a:solidFill>
                  <a:srgbClr val="92D050"/>
                </a:solidFill>
                <a:effectLst/>
                <a:latin typeface="Arial" panose="020B0604020202020204" pitchFamily="34" charset="0"/>
                <a:ea typeface="Times New Roman" panose="02020603050405020304" pitchFamily="18" charset="0"/>
                <a:cs typeface="Arial" panose="020B0604020202020204" pitchFamily="34" charset="0"/>
              </a:rPr>
              <a:t>This sub-factor evaluates the Offerors' </a:t>
            </a:r>
            <a:r>
              <a:rPr lang="en-US" sz="1400" u="sng" dirty="0">
                <a:solidFill>
                  <a:srgbClr val="92D050"/>
                </a:solidFill>
                <a:effectLst/>
                <a:latin typeface="Arial" panose="020B0604020202020204" pitchFamily="34" charset="0"/>
                <a:ea typeface="Times New Roman" panose="02020603050405020304" pitchFamily="18" charset="0"/>
                <a:cs typeface="Arial" panose="020B0604020202020204" pitchFamily="34" charset="0"/>
              </a:rPr>
              <a:t>Contract Management Plan (CMP)</a:t>
            </a:r>
            <a:r>
              <a:rPr lang="en-US" sz="1400" dirty="0">
                <a:solidFill>
                  <a:srgbClr val="92D050"/>
                </a:solidFill>
                <a:effectLst/>
                <a:latin typeface="Arial" panose="020B0604020202020204" pitchFamily="34" charset="0"/>
                <a:ea typeface="Times New Roman" panose="02020603050405020304" pitchFamily="18" charset="0"/>
                <a:cs typeface="Arial" panose="020B0604020202020204" pitchFamily="34" charset="0"/>
              </a:rPr>
              <a:t>.</a:t>
            </a:r>
            <a:r>
              <a:rPr lang="en-US" sz="1400" dirty="0">
                <a:solidFill>
                  <a:srgbClr val="92D050"/>
                </a:solidFill>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marL="627063" marR="750570" indent="-285750">
              <a:spcBef>
                <a:spcPts val="600"/>
              </a:spcBef>
              <a:spcAft>
                <a:spcPts val="0"/>
              </a:spcAft>
              <a:buFont typeface="Arial" panose="020B0604020202020204" pitchFamily="34" charset="0"/>
              <a:buChar char="•"/>
            </a:pPr>
            <a:r>
              <a:rPr lang="en-US" sz="1400" u="sng" dirty="0">
                <a:effectLst/>
                <a:latin typeface="Arial" panose="020B0604020202020204" pitchFamily="34" charset="0"/>
                <a:ea typeface="Times New Roman" panose="02020603050405020304" pitchFamily="18" charset="0"/>
                <a:cs typeface="Arial" panose="020B0604020202020204" pitchFamily="34" charset="0"/>
              </a:rPr>
              <a:t>KEY POINT</a:t>
            </a:r>
            <a:r>
              <a:rPr lang="en-US" sz="1400" dirty="0">
                <a:effectLst/>
                <a:latin typeface="Arial" panose="020B0604020202020204" pitchFamily="34" charset="0"/>
                <a:ea typeface="Times New Roman" panose="02020603050405020304" pitchFamily="18" charset="0"/>
                <a:cs typeface="Arial" panose="020B0604020202020204" pitchFamily="34" charset="0"/>
              </a:rPr>
              <a:t> - The Government will evaluate the Offerors' ability to perform based on its submitted information in</a:t>
            </a:r>
            <a:r>
              <a:rPr lang="en-US" sz="1400" spc="-23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the</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CMP</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for</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the</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rPr>
              <a:t>following items:</a:t>
            </a:r>
          </a:p>
          <a:p>
            <a:pPr marL="1257300" marR="929005" lvl="2" indent="-342900">
              <a:spcBef>
                <a:spcPts val="600"/>
              </a:spcBef>
              <a:buSzPts val="1000"/>
              <a:buFont typeface="Times New Roman" panose="02020603050405020304" pitchFamily="18" charset="0"/>
              <a:buChar char="•"/>
              <a:tabLst>
                <a:tab pos="1504315" algn="l"/>
                <a:tab pos="1504950" algn="l"/>
              </a:tabLst>
            </a:pPr>
            <a:r>
              <a:rPr lang="en-US" sz="1200" dirty="0">
                <a:effectLst/>
                <a:latin typeface="Arial" panose="020B0604020202020204" pitchFamily="34" charset="0"/>
                <a:ea typeface="Times New Roman" panose="02020603050405020304" pitchFamily="18" charset="0"/>
                <a:cs typeface="Arial" panose="020B0604020202020204" pitchFamily="34" charset="0"/>
              </a:rPr>
              <a:t>Did</a:t>
            </a:r>
            <a:r>
              <a:rPr lang="en-US" sz="1200"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Offeror</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describe</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overall</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company</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structure,</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experience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and</a:t>
            </a:r>
            <a:r>
              <a:rPr lang="en-US" sz="1200" spc="-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capability</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related</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to</a:t>
            </a:r>
            <a:r>
              <a:rPr lang="en-US" sz="1200" spc="-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2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requirements</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described</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for</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NAICS Code</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236220?</a:t>
            </a:r>
          </a:p>
          <a:p>
            <a:pPr marL="1257300" lvl="2" indent="-342900">
              <a:lnSpc>
                <a:spcPts val="1180"/>
              </a:lnSpc>
              <a:spcBef>
                <a:spcPts val="600"/>
              </a:spcBef>
              <a:buSzPts val="1000"/>
              <a:buFont typeface="Times New Roman" panose="02020603050405020304" pitchFamily="18" charset="0"/>
              <a:buChar char="•"/>
              <a:tabLst>
                <a:tab pos="1504315" algn="l"/>
                <a:tab pos="1504950" algn="l"/>
              </a:tabLst>
            </a:pPr>
            <a:r>
              <a:rPr lang="en-US" sz="1200" dirty="0">
                <a:effectLst/>
                <a:latin typeface="Arial" panose="020B0604020202020204" pitchFamily="34" charset="0"/>
                <a:ea typeface="Times New Roman" panose="02020603050405020304" pitchFamily="18" charset="0"/>
                <a:cs typeface="Arial" panose="020B0604020202020204" pitchFamily="34" charset="0"/>
              </a:rPr>
              <a:t>Did</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Offeror</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provide</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general</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overview</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 planned contract</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execution?</a:t>
            </a:r>
          </a:p>
          <a:p>
            <a:pPr marL="1257300" marR="1244600" lvl="2" indent="-342900">
              <a:spcBef>
                <a:spcPts val="600"/>
              </a:spcBef>
              <a:buSzPts val="1000"/>
              <a:buFont typeface="Times New Roman" panose="02020603050405020304" pitchFamily="18" charset="0"/>
              <a:buChar char="•"/>
              <a:tabLst>
                <a:tab pos="1504315" algn="l"/>
                <a:tab pos="1504950" algn="l"/>
              </a:tabLst>
            </a:pPr>
            <a:r>
              <a:rPr lang="en-US" sz="1200" dirty="0">
                <a:effectLst/>
                <a:latin typeface="Arial" panose="020B0604020202020204" pitchFamily="34" charset="0"/>
                <a:ea typeface="Times New Roman" panose="02020603050405020304" pitchFamily="18" charset="0"/>
                <a:cs typeface="Arial" panose="020B0604020202020204" pitchFamily="34" charset="0"/>
              </a:rPr>
              <a:t>Did</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Offeror</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provide</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scheduling</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methodology</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and</a:t>
            </a:r>
            <a:r>
              <a:rPr lang="en-US" sz="1200"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criteria</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for</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selecting</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and</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qualifying</a:t>
            </a:r>
            <a:r>
              <a:rPr lang="en-US" sz="1200" spc="-2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subcontractors?</a:t>
            </a:r>
          </a:p>
          <a:p>
            <a:pPr marL="1257300" marR="944245" lvl="2" indent="-342900">
              <a:spcBef>
                <a:spcPts val="600"/>
              </a:spcBef>
              <a:buSzPts val="1000"/>
              <a:buFont typeface="Times New Roman" panose="02020603050405020304" pitchFamily="18" charset="0"/>
              <a:buChar char="•"/>
              <a:tabLst>
                <a:tab pos="1503680" algn="l"/>
                <a:tab pos="1504315" algn="l"/>
              </a:tabLst>
            </a:pPr>
            <a:r>
              <a:rPr lang="en-US" sz="1200" dirty="0">
                <a:effectLst/>
                <a:latin typeface="Arial" panose="020B0604020202020204" pitchFamily="34" charset="0"/>
                <a:ea typeface="Times New Roman" panose="02020603050405020304" pitchFamily="18" charset="0"/>
                <a:cs typeface="Arial" panose="020B0604020202020204" pitchFamily="34" charset="0"/>
              </a:rPr>
              <a:t>Organization:</a:t>
            </a:r>
            <a:r>
              <a:rPr lang="en-US" sz="1200" spc="4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Did</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Offeror</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describe</a:t>
            </a:r>
            <a:r>
              <a:rPr lang="en-US" sz="1200"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their</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Organization</a:t>
            </a:r>
            <a:r>
              <a:rPr lang="en-US" sz="1200" spc="-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and</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Method</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for</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managing</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3</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ongoing</a:t>
            </a:r>
            <a:r>
              <a:rPr lang="en-US" sz="1200" spc="-2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task</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orders</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and</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multiple</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projects</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simultaneously?</a:t>
            </a:r>
          </a:p>
          <a:p>
            <a:pPr marL="1257300" marR="807085" lvl="2" indent="-342900">
              <a:spcBef>
                <a:spcPts val="600"/>
              </a:spcBef>
              <a:buSzPts val="1000"/>
              <a:buFont typeface="Times New Roman" panose="02020603050405020304" pitchFamily="18" charset="0"/>
              <a:buChar char="•"/>
              <a:tabLst>
                <a:tab pos="1504315" algn="l"/>
                <a:tab pos="1504950" algn="l"/>
              </a:tabLst>
            </a:pPr>
            <a:r>
              <a:rPr lang="en-US" sz="1200" dirty="0">
                <a:effectLst/>
                <a:latin typeface="Arial" panose="020B0604020202020204" pitchFamily="34" charset="0"/>
                <a:ea typeface="Times New Roman" panose="02020603050405020304" pitchFamily="18" charset="0"/>
                <a:cs typeface="Arial" panose="020B0604020202020204" pitchFamily="34" charset="0"/>
              </a:rPr>
              <a:t>Did the Offeror include a plan for providing additional resources, manpower and technical</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expertise</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for</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support</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err="1">
                <a:effectLst/>
                <a:latin typeface="Arial" panose="020B0604020202020204" pitchFamily="34" charset="0"/>
                <a:ea typeface="Times New Roman" panose="02020603050405020304" pitchFamily="18" charset="0"/>
                <a:cs typeface="Arial" panose="020B0604020202020204" pitchFamily="34" charset="0"/>
              </a:rPr>
              <a:t>ofthe</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field office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to</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cover</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peak</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workloads,</a:t>
            </a:r>
            <a:r>
              <a:rPr lang="en-US" sz="1200" spc="5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special</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projects and</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urgently</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required</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projects?</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Does</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Offeror</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acknowledge</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response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time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shall</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be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not</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more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than</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one</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hour</a:t>
            </a:r>
            <a:r>
              <a:rPr lang="en-US" sz="1200" spc="-2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from</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notification</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 emergency projects?</a:t>
            </a:r>
          </a:p>
          <a:p>
            <a:pPr marL="1257300" marR="934085" lvl="2" indent="-342900">
              <a:spcBef>
                <a:spcPts val="600"/>
              </a:spcBef>
              <a:buSzPts val="1000"/>
              <a:buFont typeface="Times New Roman" panose="02020603050405020304" pitchFamily="18" charset="0"/>
              <a:buChar char="•"/>
              <a:tabLst>
                <a:tab pos="1504315" algn="l"/>
                <a:tab pos="1504950" algn="l"/>
              </a:tabLst>
            </a:pPr>
            <a:r>
              <a:rPr lang="en-US" sz="1200" dirty="0">
                <a:effectLst/>
                <a:latin typeface="Arial" panose="020B0604020202020204" pitchFamily="34" charset="0"/>
                <a:ea typeface="Times New Roman" panose="02020603050405020304" pitchFamily="18" charset="0"/>
                <a:cs typeface="Arial" panose="020B0604020202020204" pitchFamily="34" charset="0"/>
              </a:rPr>
              <a:t>Does the Offeror provide documentation and discussion of how the Offeror has the ability to or</a:t>
            </a:r>
            <a:r>
              <a:rPr lang="en-US" sz="1200" spc="-2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plans to provide a sufficient quantity of qualified personnel, i.e. U.S. Citizens, who can obtain</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mobility</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access</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badges</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for the security</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areas</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 Tobyhanna</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Anny</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Depot?</a:t>
            </a:r>
          </a:p>
          <a:p>
            <a:pPr marL="1257300" marR="1086485" lvl="2" indent="-342900">
              <a:spcBef>
                <a:spcPts val="600"/>
              </a:spcBef>
              <a:buSzPts val="1000"/>
              <a:buFont typeface="Times New Roman" panose="02020603050405020304" pitchFamily="18" charset="0"/>
              <a:buChar char="•"/>
              <a:tabLst>
                <a:tab pos="1504315" algn="l"/>
                <a:tab pos="1504950" algn="l"/>
              </a:tabLst>
            </a:pPr>
            <a:r>
              <a:rPr lang="en-US" sz="1200" dirty="0">
                <a:effectLst/>
                <a:latin typeface="Arial" panose="020B0604020202020204" pitchFamily="34" charset="0"/>
                <a:ea typeface="Times New Roman" panose="02020603050405020304" pitchFamily="18" charset="0"/>
                <a:cs typeface="Arial" panose="020B0604020202020204" pitchFamily="34" charset="0"/>
              </a:rPr>
              <a:t>Did the Offeror</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describe</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method</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 evaluating</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and</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selecting A/E</a:t>
            </a:r>
            <a:r>
              <a:rPr lang="en-US" sz="1200"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firm</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on</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Design/Build</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Task</a:t>
            </a:r>
            <a:r>
              <a:rPr lang="en-US" sz="1200" spc="-2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Orders?</a:t>
            </a:r>
          </a:p>
          <a:p>
            <a:pPr marL="1254125" marR="752475">
              <a:spcBef>
                <a:spcPts val="915"/>
              </a:spcBef>
              <a:spcAft>
                <a:spcPts val="0"/>
              </a:spcAft>
            </a:pPr>
            <a:r>
              <a:rPr lang="en-US" sz="1200" b="1" dirty="0">
                <a:effectLst/>
                <a:latin typeface="Arial" panose="020B0604020202020204" pitchFamily="34" charset="0"/>
                <a:ea typeface="Times New Roman" panose="02020603050405020304" pitchFamily="18" charset="0"/>
                <a:cs typeface="Arial" panose="020B0604020202020204" pitchFamily="34" charset="0"/>
              </a:rPr>
              <a:t>In accordance</a:t>
            </a:r>
            <a:r>
              <a:rPr lang="en-US" sz="1200" b="1"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with the</a:t>
            </a:r>
            <a:r>
              <a:rPr lang="en-US" sz="1200" b="1"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Anny</a:t>
            </a:r>
            <a:r>
              <a:rPr lang="en-US" sz="1200" b="1"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Source</a:t>
            </a:r>
            <a:r>
              <a:rPr lang="en-US" sz="1200" b="1"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Selection</a:t>
            </a:r>
            <a:r>
              <a:rPr lang="en-US" sz="1200" b="1"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Supplement</a:t>
            </a:r>
            <a:r>
              <a:rPr lang="en-US" sz="1200" b="1"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(AS3),</a:t>
            </a:r>
            <a:r>
              <a:rPr lang="en-US" sz="1200" b="1" spc="4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Section 3.1,</a:t>
            </a:r>
            <a:r>
              <a:rPr lang="en-US" sz="1200" b="1" spc="4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the Anny</a:t>
            </a:r>
            <a:r>
              <a:rPr lang="en-US" sz="1200" b="1"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methodology for</a:t>
            </a:r>
            <a:r>
              <a:rPr lang="en-US" sz="1200" b="1" spc="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evaluating Technical Approach and Related Risk is the Combined Technical/Risk Rating, (see Table 1 below). This</a:t>
            </a:r>
            <a:r>
              <a:rPr lang="en-US" sz="1200" b="1" spc="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methodology</a:t>
            </a:r>
            <a:r>
              <a:rPr lang="en-US" sz="1200" b="1" spc="-6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considers</a:t>
            </a:r>
            <a:r>
              <a:rPr lang="en-US" sz="1200" b="1"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risk,</a:t>
            </a:r>
            <a:r>
              <a:rPr lang="en-US" sz="1200" b="1" spc="4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in</a:t>
            </a:r>
            <a:r>
              <a:rPr lang="en-US" sz="1200" b="1"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conjunction</a:t>
            </a:r>
            <a:r>
              <a:rPr lang="en-US" sz="1200" b="1"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with</a:t>
            </a:r>
            <a:r>
              <a:rPr lang="en-US" sz="1200" b="1"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the</a:t>
            </a:r>
            <a:r>
              <a:rPr lang="en-US" sz="1200" b="1" spc="-4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strengths,</a:t>
            </a:r>
            <a:r>
              <a:rPr lang="en-US" sz="1200" b="1"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weaknesses,</a:t>
            </a:r>
            <a:r>
              <a:rPr lang="en-US" sz="1200" b="1" spc="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and</a:t>
            </a:r>
            <a:r>
              <a:rPr lang="en-US" sz="1200" b="1"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deficiencies</a:t>
            </a:r>
            <a:r>
              <a:rPr lang="en-US" sz="1200" b="1"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in</a:t>
            </a:r>
            <a:r>
              <a:rPr lang="en-US" sz="1200" b="1"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determining</a:t>
            </a:r>
            <a:r>
              <a:rPr lang="en-US" sz="1200" b="1"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technical</a:t>
            </a:r>
            <a:r>
              <a:rPr lang="en-US" sz="1200" b="1" spc="-23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ratings. The adjectival ratings for the subfactors will rolled up into a single Technical rating as long as there were no</a:t>
            </a:r>
            <a:r>
              <a:rPr lang="en-US" sz="1200" b="1" spc="-23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unacceptable</a:t>
            </a:r>
            <a:r>
              <a:rPr lang="en-US" sz="1200" b="1"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ratings</a:t>
            </a:r>
            <a:r>
              <a:rPr lang="en-US" sz="1200" b="1" spc="-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in</a:t>
            </a:r>
            <a:r>
              <a:rPr lang="en-US" sz="1200" b="1" spc="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any </a:t>
            </a:r>
            <a:r>
              <a:rPr lang="en-US" sz="1200" b="1" dirty="0" err="1">
                <a:effectLst/>
                <a:latin typeface="Arial" panose="020B0604020202020204" pitchFamily="34" charset="0"/>
                <a:ea typeface="Times New Roman" panose="02020603050405020304" pitchFamily="18" charset="0"/>
                <a:cs typeface="Arial" panose="020B0604020202020204" pitchFamily="34" charset="0"/>
              </a:rPr>
              <a:t>ofthe</a:t>
            </a:r>
            <a:r>
              <a:rPr lang="en-US" sz="1200" b="1" spc="-5"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technical</a:t>
            </a:r>
            <a:r>
              <a:rPr lang="en-US" sz="1200" b="1"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b="1" dirty="0">
                <a:effectLst/>
                <a:latin typeface="Arial" panose="020B0604020202020204" pitchFamily="34" charset="0"/>
                <a:ea typeface="Times New Roman" panose="02020603050405020304" pitchFamily="18" charset="0"/>
                <a:cs typeface="Arial" panose="020B0604020202020204" pitchFamily="34" charset="0"/>
              </a:rPr>
              <a:t>subfactors.</a:t>
            </a:r>
          </a:p>
        </p:txBody>
      </p:sp>
    </p:spTree>
    <p:extLst>
      <p:ext uri="{BB962C8B-B14F-4D97-AF65-F5344CB8AC3E}">
        <p14:creationId xmlns:p14="http://schemas.microsoft.com/office/powerpoint/2010/main" val="4176478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DCA5C0E-B50F-4400-9A95-04D8A8ADCF0A}"/>
              </a:ext>
            </a:extLst>
          </p:cNvPr>
          <p:cNvSpPr>
            <a:spLocks noGrp="1"/>
          </p:cNvSpPr>
          <p:nvPr>
            <p:ph type="title"/>
          </p:nvPr>
        </p:nvSpPr>
        <p:spPr>
          <a:xfrm>
            <a:off x="350982" y="210145"/>
            <a:ext cx="9057794" cy="792480"/>
          </a:xfrm>
        </p:spPr>
        <p:txBody>
          <a:bodyPr>
            <a:normAutofit/>
          </a:bodyPr>
          <a:lstStyle/>
          <a:p>
            <a:r>
              <a:rPr lang="en-US" sz="2000" dirty="0">
                <a:latin typeface="Arial" panose="020B0604020202020204" pitchFamily="34" charset="0"/>
                <a:cs typeface="Arial" panose="020B0604020202020204" pitchFamily="34" charset="0"/>
              </a:rPr>
              <a:t>Evaluation Criteria – Factor 2: Past Performance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(Section M)</a:t>
            </a:r>
          </a:p>
        </p:txBody>
      </p:sp>
      <p:pic>
        <p:nvPicPr>
          <p:cNvPr id="3" name="Picture 2" descr="Table&#10;&#10;Description automatically generated">
            <a:extLst>
              <a:ext uri="{FF2B5EF4-FFF2-40B4-BE49-F238E27FC236}">
                <a16:creationId xmlns:a16="http://schemas.microsoft.com/office/drawing/2014/main" id="{09A91312-8665-4E29-A69A-DD270CE09C40}"/>
              </a:ext>
            </a:extLst>
          </p:cNvPr>
          <p:cNvPicPr>
            <a:picLocks noChangeAspect="1"/>
          </p:cNvPicPr>
          <p:nvPr/>
        </p:nvPicPr>
        <p:blipFill rotWithShape="1">
          <a:blip r:embed="rId2">
            <a:extLst>
              <a:ext uri="{28A0092B-C50C-407E-A947-70E740481C1C}">
                <a14:useLocalDpi xmlns:a14="http://schemas.microsoft.com/office/drawing/2010/main" val="0"/>
              </a:ext>
            </a:extLst>
          </a:blip>
          <a:srcRect t="17425"/>
          <a:stretch/>
        </p:blipFill>
        <p:spPr>
          <a:xfrm>
            <a:off x="477693" y="1567543"/>
            <a:ext cx="8361506" cy="2634874"/>
          </a:xfrm>
          <a:prstGeom prst="rect">
            <a:avLst/>
          </a:prstGeom>
        </p:spPr>
      </p:pic>
      <p:sp>
        <p:nvSpPr>
          <p:cNvPr id="5" name="TextBox 4">
            <a:extLst>
              <a:ext uri="{FF2B5EF4-FFF2-40B4-BE49-F238E27FC236}">
                <a16:creationId xmlns:a16="http://schemas.microsoft.com/office/drawing/2014/main" id="{44A0597C-0E5B-43BC-8262-E5062D7CBC0F}"/>
              </a:ext>
            </a:extLst>
          </p:cNvPr>
          <p:cNvSpPr txBox="1"/>
          <p:nvPr/>
        </p:nvSpPr>
        <p:spPr>
          <a:xfrm>
            <a:off x="414755" y="918615"/>
            <a:ext cx="2368469" cy="369332"/>
          </a:xfrm>
          <a:prstGeom prst="rect">
            <a:avLst/>
          </a:prstGeom>
          <a:noFill/>
        </p:spPr>
        <p:txBody>
          <a:bodyPr wrap="none" rtlCol="0">
            <a:spAutoFit/>
          </a:bodyPr>
          <a:lstStyle/>
          <a:p>
            <a:r>
              <a:rPr lang="en-US" dirty="0"/>
              <a:t>Recency &amp; Relevancy</a:t>
            </a:r>
          </a:p>
        </p:txBody>
      </p:sp>
      <p:sp>
        <p:nvSpPr>
          <p:cNvPr id="8" name="Rectangle 2">
            <a:extLst>
              <a:ext uri="{FF2B5EF4-FFF2-40B4-BE49-F238E27FC236}">
                <a16:creationId xmlns:a16="http://schemas.microsoft.com/office/drawing/2014/main" id="{22D7F663-AAF1-4260-833B-3CA2C10BC4D7}"/>
              </a:ext>
            </a:extLst>
          </p:cNvPr>
          <p:cNvSpPr>
            <a:spLocks noChangeArrowheads="1"/>
          </p:cNvSpPr>
          <p:nvPr/>
        </p:nvSpPr>
        <p:spPr bwMode="auto">
          <a:xfrm>
            <a:off x="-1313895" y="4509856"/>
            <a:ext cx="582832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1" name="Rectangle 3">
            <a:extLst>
              <a:ext uri="{FF2B5EF4-FFF2-40B4-BE49-F238E27FC236}">
                <a16:creationId xmlns:a16="http://schemas.microsoft.com/office/drawing/2014/main" id="{3ADD0C0A-0BF3-4B77-B89E-7F8907599DEF}"/>
              </a:ext>
            </a:extLst>
          </p:cNvPr>
          <p:cNvSpPr>
            <a:spLocks noChangeArrowheads="1"/>
          </p:cNvSpPr>
          <p:nvPr/>
        </p:nvSpPr>
        <p:spPr bwMode="auto">
          <a:xfrm>
            <a:off x="643492" y="4466275"/>
            <a:ext cx="8195707" cy="1461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958975" algn="l"/>
              </a:tabLst>
              <a:defRPr>
                <a:solidFill>
                  <a:schemeClr val="tx1"/>
                </a:solidFill>
                <a:latin typeface="Arial" panose="020B0604020202020204" pitchFamily="34" charset="0"/>
              </a:defRPr>
            </a:lvl1pPr>
            <a:lvl2pPr eaLnBrk="0" fontAlgn="base" hangingPunct="0">
              <a:spcBef>
                <a:spcPct val="0"/>
              </a:spcBef>
              <a:spcAft>
                <a:spcPct val="0"/>
              </a:spcAft>
              <a:tabLst>
                <a:tab pos="1958975" algn="l"/>
              </a:tabLst>
              <a:defRPr>
                <a:solidFill>
                  <a:schemeClr val="tx1"/>
                </a:solidFill>
                <a:latin typeface="Arial" panose="020B0604020202020204" pitchFamily="34" charset="0"/>
              </a:defRPr>
            </a:lvl2pPr>
            <a:lvl3pPr eaLnBrk="0" fontAlgn="base" hangingPunct="0">
              <a:spcBef>
                <a:spcPct val="0"/>
              </a:spcBef>
              <a:spcAft>
                <a:spcPct val="0"/>
              </a:spcAft>
              <a:tabLst>
                <a:tab pos="1958975" algn="l"/>
              </a:tabLst>
              <a:defRPr>
                <a:solidFill>
                  <a:schemeClr val="tx1"/>
                </a:solidFill>
                <a:latin typeface="Arial" panose="020B0604020202020204" pitchFamily="34" charset="0"/>
              </a:defRPr>
            </a:lvl3pPr>
            <a:lvl4pPr eaLnBrk="0" fontAlgn="base" hangingPunct="0">
              <a:spcBef>
                <a:spcPct val="0"/>
              </a:spcBef>
              <a:spcAft>
                <a:spcPct val="0"/>
              </a:spcAft>
              <a:tabLst>
                <a:tab pos="1958975" algn="l"/>
              </a:tabLst>
              <a:defRPr>
                <a:solidFill>
                  <a:schemeClr val="tx1"/>
                </a:solidFill>
                <a:latin typeface="Arial" panose="020B0604020202020204" pitchFamily="34" charset="0"/>
              </a:defRPr>
            </a:lvl4pPr>
            <a:lvl5pPr eaLnBrk="0" fontAlgn="base" hangingPunct="0">
              <a:spcBef>
                <a:spcPct val="0"/>
              </a:spcBef>
              <a:spcAft>
                <a:spcPct val="0"/>
              </a:spcAft>
              <a:tabLst>
                <a:tab pos="1958975" algn="l"/>
              </a:tabLst>
              <a:defRPr>
                <a:solidFill>
                  <a:schemeClr val="tx1"/>
                </a:solidFill>
                <a:latin typeface="Arial" panose="020B0604020202020204" pitchFamily="34" charset="0"/>
              </a:defRPr>
            </a:lvl5pPr>
            <a:lvl6pPr eaLnBrk="0" fontAlgn="base" hangingPunct="0">
              <a:spcBef>
                <a:spcPct val="0"/>
              </a:spcBef>
              <a:spcAft>
                <a:spcPct val="0"/>
              </a:spcAft>
              <a:tabLst>
                <a:tab pos="1958975" algn="l"/>
              </a:tabLst>
              <a:defRPr>
                <a:solidFill>
                  <a:schemeClr val="tx1"/>
                </a:solidFill>
                <a:latin typeface="Arial" panose="020B0604020202020204" pitchFamily="34" charset="0"/>
              </a:defRPr>
            </a:lvl6pPr>
            <a:lvl7pPr eaLnBrk="0" fontAlgn="base" hangingPunct="0">
              <a:spcBef>
                <a:spcPct val="0"/>
              </a:spcBef>
              <a:spcAft>
                <a:spcPct val="0"/>
              </a:spcAft>
              <a:tabLst>
                <a:tab pos="1958975" algn="l"/>
              </a:tabLst>
              <a:defRPr>
                <a:solidFill>
                  <a:schemeClr val="tx1"/>
                </a:solidFill>
                <a:latin typeface="Arial" panose="020B0604020202020204" pitchFamily="34" charset="0"/>
              </a:defRPr>
            </a:lvl7pPr>
            <a:lvl8pPr eaLnBrk="0" fontAlgn="base" hangingPunct="0">
              <a:spcBef>
                <a:spcPct val="0"/>
              </a:spcBef>
              <a:spcAft>
                <a:spcPct val="0"/>
              </a:spcAft>
              <a:tabLst>
                <a:tab pos="1958975" algn="l"/>
              </a:tabLst>
              <a:defRPr>
                <a:solidFill>
                  <a:schemeClr val="tx1"/>
                </a:solidFill>
                <a:latin typeface="Arial" panose="020B0604020202020204" pitchFamily="34" charset="0"/>
              </a:defRPr>
            </a:lvl8pPr>
            <a:lvl9pPr eaLnBrk="0" fontAlgn="base" hangingPunct="0">
              <a:spcBef>
                <a:spcPct val="0"/>
              </a:spcBef>
              <a:spcAft>
                <a:spcPct val="0"/>
              </a:spcAft>
              <a:tabLst>
                <a:tab pos="195897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958975" algn="l"/>
              </a:tabLst>
            </a:pPr>
            <a:r>
              <a:rPr kumimoji="0" lang="en-US" altLang="en-US" sz="1200" b="0" i="0" u="sng" strike="noStrike" cap="none" normalizeH="0" baseline="0" dirty="0">
                <a:ln>
                  <a:noFill/>
                </a:ln>
                <a:solidFill>
                  <a:schemeClr val="tx1"/>
                </a:solidFill>
                <a:effectLst/>
                <a:latin typeface="Arial" panose="020B0604020202020204" pitchFamily="34" charset="0"/>
                <a:ea typeface="Times New Roman" panose="02020603050405020304" pitchFamily="18" charset="0"/>
              </a:rPr>
              <a:t>RECENCY</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The first aspect is to evaluate the recency of the Offerors' past performance. Recency is generally expressed as a time period during which past performance references are considered relevant and is critical to establishing the relevancy of past performance information.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600"/>
              </a:spcBef>
              <a:spcAft>
                <a:spcPct val="0"/>
              </a:spcAft>
              <a:buClrTx/>
              <a:buSzTx/>
              <a:buFontTx/>
              <a:buNone/>
              <a:tabLst>
                <a:tab pos="1958975" algn="l"/>
              </a:tabLst>
            </a:pPr>
            <a:r>
              <a:rPr kumimoji="0" lang="en-US" altLang="en-US" sz="1200" b="0" i="0" u="sng" strike="noStrike" cap="none" normalizeH="0" baseline="0" dirty="0">
                <a:ln>
                  <a:noFill/>
                </a:ln>
                <a:solidFill>
                  <a:schemeClr val="tx1"/>
                </a:solidFill>
                <a:effectLst/>
                <a:latin typeface="Arial" panose="020B0604020202020204" pitchFamily="34" charset="0"/>
                <a:ea typeface="Times New Roman" panose="02020603050405020304" pitchFamily="18" charset="0"/>
              </a:rPr>
              <a:t>RELEVANCY:</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The second aspect is to determine how relevant a recent effort accomplished by the Offeror is to the effort to be acquired through the source selection. Relevancy is not separately rated; however, the following criteria (see Table 2) will be used to establish what is relevant which shall include similarity of service/support, complexity, dollar value, contract type, and degree of subcontract/teaming.</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30528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8273652-CE5C-433E-BBAC-9DA1B9A6030B}"/>
              </a:ext>
            </a:extLst>
          </p:cNvPr>
          <p:cNvSpPr>
            <a:spLocks noGrp="1"/>
          </p:cNvSpPr>
          <p:nvPr>
            <p:ph type="ftr" sz="quarter" idx="11"/>
          </p:nvPr>
        </p:nvSpPr>
        <p:spPr/>
        <p:txBody>
          <a:bodyPr/>
          <a:lstStyle/>
          <a:p>
            <a:r>
              <a:rPr lang="en-US" dirty="0"/>
              <a:t>Confidential and Proprietary</a:t>
            </a:r>
          </a:p>
        </p:txBody>
      </p:sp>
      <p:sp>
        <p:nvSpPr>
          <p:cNvPr id="7" name="Title 1">
            <a:extLst>
              <a:ext uri="{FF2B5EF4-FFF2-40B4-BE49-F238E27FC236}">
                <a16:creationId xmlns:a16="http://schemas.microsoft.com/office/drawing/2014/main" id="{BDCA5C0E-B50F-4400-9A95-04D8A8ADCF0A}"/>
              </a:ext>
            </a:extLst>
          </p:cNvPr>
          <p:cNvSpPr>
            <a:spLocks noGrp="1"/>
          </p:cNvSpPr>
          <p:nvPr>
            <p:ph type="title"/>
          </p:nvPr>
        </p:nvSpPr>
        <p:spPr>
          <a:xfrm>
            <a:off x="350982" y="124102"/>
            <a:ext cx="9057794" cy="1075509"/>
          </a:xfrm>
        </p:spPr>
        <p:txBody>
          <a:bodyPr>
            <a:normAutofit/>
          </a:bodyPr>
          <a:lstStyle/>
          <a:p>
            <a:r>
              <a:rPr lang="en-US" sz="2000" dirty="0">
                <a:latin typeface="Arial" panose="020B0604020202020204" pitchFamily="34" charset="0"/>
                <a:cs typeface="Arial" panose="020B0604020202020204" pitchFamily="34" charset="0"/>
              </a:rPr>
              <a:t>Evaluation Criteria – Factor 2: Past Performance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(Section M)</a:t>
            </a:r>
          </a:p>
        </p:txBody>
      </p:sp>
      <p:sp>
        <p:nvSpPr>
          <p:cNvPr id="6" name="TextBox 5">
            <a:extLst>
              <a:ext uri="{FF2B5EF4-FFF2-40B4-BE49-F238E27FC236}">
                <a16:creationId xmlns:a16="http://schemas.microsoft.com/office/drawing/2014/main" id="{19C61C7B-B6CF-4D4A-BDCC-AA6575E35045}"/>
              </a:ext>
            </a:extLst>
          </p:cNvPr>
          <p:cNvSpPr txBox="1"/>
          <p:nvPr/>
        </p:nvSpPr>
        <p:spPr>
          <a:xfrm>
            <a:off x="350982" y="1014945"/>
            <a:ext cx="3955378" cy="369332"/>
          </a:xfrm>
          <a:prstGeom prst="rect">
            <a:avLst/>
          </a:prstGeom>
          <a:noFill/>
        </p:spPr>
        <p:txBody>
          <a:bodyPr wrap="none" rtlCol="0">
            <a:spAutoFit/>
          </a:bodyPr>
          <a:lstStyle/>
          <a:p>
            <a:r>
              <a:rPr lang="en-US" dirty="0"/>
              <a:t>Performance Confidence Assessment</a:t>
            </a:r>
          </a:p>
        </p:txBody>
      </p:sp>
      <p:pic>
        <p:nvPicPr>
          <p:cNvPr id="8" name="Picture 7" descr="Table&#10;&#10;Description automatically generated">
            <a:extLst>
              <a:ext uri="{FF2B5EF4-FFF2-40B4-BE49-F238E27FC236}">
                <a16:creationId xmlns:a16="http://schemas.microsoft.com/office/drawing/2014/main" id="{5BD0BF4F-ADDF-4324-BD8D-1665CCD4B089}"/>
              </a:ext>
            </a:extLst>
          </p:cNvPr>
          <p:cNvPicPr>
            <a:picLocks noChangeAspect="1"/>
          </p:cNvPicPr>
          <p:nvPr/>
        </p:nvPicPr>
        <p:blipFill rotWithShape="1">
          <a:blip r:embed="rId2">
            <a:extLst>
              <a:ext uri="{28A0092B-C50C-407E-A947-70E740481C1C}">
                <a14:useLocalDpi xmlns:a14="http://schemas.microsoft.com/office/drawing/2010/main" val="0"/>
              </a:ext>
            </a:extLst>
          </a:blip>
          <a:srcRect l="925" t="14436"/>
          <a:stretch/>
        </p:blipFill>
        <p:spPr>
          <a:xfrm>
            <a:off x="600363" y="1950720"/>
            <a:ext cx="8312727" cy="3512643"/>
          </a:xfrm>
          <a:prstGeom prst="rect">
            <a:avLst/>
          </a:prstGeom>
        </p:spPr>
      </p:pic>
    </p:spTree>
    <p:extLst>
      <p:ext uri="{BB962C8B-B14F-4D97-AF65-F5344CB8AC3E}">
        <p14:creationId xmlns:p14="http://schemas.microsoft.com/office/powerpoint/2010/main" val="2852386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DCA5C0E-B50F-4400-9A95-04D8A8ADCF0A}"/>
              </a:ext>
            </a:extLst>
          </p:cNvPr>
          <p:cNvSpPr>
            <a:spLocks noGrp="1"/>
          </p:cNvSpPr>
          <p:nvPr>
            <p:ph type="title"/>
          </p:nvPr>
        </p:nvSpPr>
        <p:spPr>
          <a:xfrm>
            <a:off x="350982" y="0"/>
            <a:ext cx="9057794" cy="1075509"/>
          </a:xfrm>
        </p:spPr>
        <p:txBody>
          <a:bodyPr>
            <a:normAutofit/>
          </a:bodyPr>
          <a:lstStyle/>
          <a:p>
            <a:r>
              <a:rPr lang="en-US" sz="2000" dirty="0">
                <a:latin typeface="Arial" panose="020B0604020202020204" pitchFamily="34" charset="0"/>
                <a:cs typeface="Arial" panose="020B0604020202020204" pitchFamily="34" charset="0"/>
              </a:rPr>
              <a:t>Evaluation Criteria – Factor 3: Price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(Section M)</a:t>
            </a:r>
          </a:p>
        </p:txBody>
      </p:sp>
      <p:sp>
        <p:nvSpPr>
          <p:cNvPr id="2" name="TextBox 1">
            <a:extLst>
              <a:ext uri="{FF2B5EF4-FFF2-40B4-BE49-F238E27FC236}">
                <a16:creationId xmlns:a16="http://schemas.microsoft.com/office/drawing/2014/main" id="{93795606-5C14-4B54-BD2E-A9E759C5BEA2}"/>
              </a:ext>
            </a:extLst>
          </p:cNvPr>
          <p:cNvSpPr txBox="1"/>
          <p:nvPr/>
        </p:nvSpPr>
        <p:spPr>
          <a:xfrm>
            <a:off x="121256" y="875212"/>
            <a:ext cx="9780391" cy="4794389"/>
          </a:xfrm>
          <a:prstGeom prst="rect">
            <a:avLst/>
          </a:prstGeom>
          <a:noFill/>
        </p:spPr>
        <p:txBody>
          <a:bodyPr wrap="square" rtlCol="0">
            <a:spAutoFit/>
          </a:bodyPr>
          <a:lstStyle/>
          <a:p>
            <a:pPr marR="755015" lvl="1">
              <a:spcBef>
                <a:spcPts val="950"/>
              </a:spcBef>
              <a:spcAft>
                <a:spcPts val="0"/>
              </a:spcAft>
              <a:buSzPts val="1000"/>
              <a:tabLst>
                <a:tab pos="1207770" algn="l"/>
              </a:tabLst>
            </a:pPr>
            <a:r>
              <a:rPr lang="en-US" sz="1400" spc="-5" dirty="0">
                <a:effectLst/>
                <a:latin typeface="Arial" panose="020B0604020202020204" pitchFamily="34" charset="0"/>
                <a:ea typeface="Times New Roman" panose="02020603050405020304" pitchFamily="18" charset="0"/>
                <a:cs typeface="Arial" panose="020B0604020202020204" pitchFamily="34" charset="0"/>
              </a:rPr>
              <a:t>Adjectival ratings shall not be used for Offerors' Price proposals. </a:t>
            </a:r>
          </a:p>
          <a:p>
            <a:pPr marR="755015" lvl="1">
              <a:spcBef>
                <a:spcPts val="950"/>
              </a:spcBef>
              <a:spcAft>
                <a:spcPts val="0"/>
              </a:spcAft>
              <a:buSzPts val="1000"/>
              <a:tabLst>
                <a:tab pos="1207770" algn="l"/>
              </a:tabLst>
            </a:pPr>
            <a:r>
              <a:rPr lang="en-US" sz="1400" spc="-5" dirty="0">
                <a:effectLst/>
                <a:latin typeface="Arial" panose="020B0604020202020204" pitchFamily="34" charset="0"/>
                <a:ea typeface="Times New Roman" panose="02020603050405020304" pitchFamily="18" charset="0"/>
                <a:cs typeface="Arial" panose="020B0604020202020204" pitchFamily="34" charset="0"/>
              </a:rPr>
              <a:t>The Government will</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fully</a:t>
            </a:r>
            <a:r>
              <a:rPr lang="en-US" sz="1400" spc="-2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evaluate</a:t>
            </a:r>
            <a:r>
              <a:rPr lang="en-US" sz="1400" spc="-3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and</a:t>
            </a:r>
            <a:r>
              <a:rPr lang="en-US" sz="1400" spc="-2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negotiate</a:t>
            </a:r>
            <a:r>
              <a:rPr lang="en-US" sz="1400" spc="-2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all</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priced</a:t>
            </a:r>
            <a:r>
              <a:rPr lang="en-US" sz="1400" spc="-2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Contract Line</a:t>
            </a:r>
            <a:r>
              <a:rPr lang="en-US" sz="1400" spc="-2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Item</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Numbers</a:t>
            </a:r>
            <a:r>
              <a:rPr lang="en-US" sz="1400" spc="-2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(CLINs)</a:t>
            </a:r>
            <a:r>
              <a:rPr lang="en-US" sz="1400" spc="-2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for</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award.</a:t>
            </a:r>
            <a:r>
              <a:rPr lang="en-US" sz="1400" spc="-40" dirty="0">
                <a:effectLst/>
                <a:latin typeface="Arial" panose="020B0604020202020204" pitchFamily="34" charset="0"/>
                <a:ea typeface="Times New Roman" panose="02020603050405020304" pitchFamily="18" charset="0"/>
                <a:cs typeface="Arial" panose="020B0604020202020204" pitchFamily="34" charset="0"/>
              </a:rPr>
              <a:t> </a:t>
            </a:r>
            <a:r>
              <a:rPr lang="en-US" sz="1200" spc="-5" dirty="0">
                <a:effectLst/>
                <a:latin typeface="Arial" panose="020B0604020202020204" pitchFamily="34" charset="0"/>
                <a:ea typeface="Times New Roman" panose="02020603050405020304" pitchFamily="18" charset="0"/>
                <a:cs typeface="Arial" panose="020B0604020202020204" pitchFamily="34" charset="0"/>
              </a:rPr>
              <a:t>For</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spc="-5" dirty="0">
                <a:effectLst/>
                <a:latin typeface="Arial" panose="020B0604020202020204" pitchFamily="34" charset="0"/>
                <a:ea typeface="Times New Roman" panose="02020603050405020304" pitchFamily="18" charset="0"/>
                <a:cs typeface="Arial" panose="020B0604020202020204" pitchFamily="34" charset="0"/>
              </a:rPr>
              <a:t>award</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spc="-5" dirty="0">
                <a:effectLst/>
                <a:latin typeface="Arial" panose="020B0604020202020204" pitchFamily="34" charset="0"/>
                <a:ea typeface="Times New Roman" panose="02020603050405020304" pitchFamily="18" charset="0"/>
                <a:cs typeface="Arial" panose="020B0604020202020204" pitchFamily="34" charset="0"/>
              </a:rPr>
              <a:t>purposes,</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spc="-5" dirty="0">
                <a:effectLst/>
                <a:latin typeface="Arial" panose="020B0604020202020204" pitchFamily="34" charset="0"/>
                <a:ea typeface="Times New Roman" panose="02020603050405020304" pitchFamily="18" charset="0"/>
                <a:cs typeface="Arial" panose="020B0604020202020204" pitchFamily="34" charset="0"/>
              </a:rPr>
              <a:t>the</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spc="-5" dirty="0">
                <a:effectLst/>
                <a:latin typeface="Arial" panose="020B0604020202020204" pitchFamily="34" charset="0"/>
                <a:ea typeface="Times New Roman" panose="02020603050405020304" pitchFamily="18" charset="0"/>
                <a:cs typeface="Arial" panose="020B0604020202020204" pitchFamily="34" charset="0"/>
              </a:rPr>
              <a:t>total</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spc="-5" dirty="0">
                <a:effectLst/>
                <a:latin typeface="Arial" panose="020B0604020202020204" pitchFamily="34" charset="0"/>
                <a:ea typeface="Times New Roman" panose="02020603050405020304" pitchFamily="18" charset="0"/>
                <a:cs typeface="Arial" panose="020B0604020202020204" pitchFamily="34" charset="0"/>
              </a:rPr>
              <a:t>proposed price for all CLINs will be added together into a total sum (contract value). The Offerors' Price proposal</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spc="-5" dirty="0">
                <a:effectLst/>
                <a:latin typeface="Arial" panose="020B0604020202020204" pitchFamily="34" charset="0"/>
                <a:ea typeface="Times New Roman" panose="02020603050405020304" pitchFamily="18" charset="0"/>
                <a:cs typeface="Arial" panose="020B0604020202020204" pitchFamily="34" charset="0"/>
              </a:rPr>
              <a:t>will</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spc="-5" dirty="0">
                <a:effectLst/>
                <a:latin typeface="Arial" panose="020B0604020202020204" pitchFamily="34" charset="0"/>
                <a:ea typeface="Times New Roman" panose="02020603050405020304" pitchFamily="18" charset="0"/>
                <a:cs typeface="Arial" panose="020B0604020202020204" pitchFamily="34" charset="0"/>
              </a:rPr>
              <a:t>be evaluated as</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spc="-5" dirty="0">
                <a:effectLst/>
                <a:latin typeface="Arial" panose="020B0604020202020204" pitchFamily="34" charset="0"/>
                <a:ea typeface="Times New Roman" panose="02020603050405020304" pitchFamily="18" charset="0"/>
                <a:cs typeface="Arial" panose="020B0604020202020204" pitchFamily="34" charset="0"/>
              </a:rPr>
              <a:t>follows.</a:t>
            </a:r>
          </a:p>
          <a:p>
            <a:pPr marL="1257300" marR="758825" lvl="2" indent="-342900">
              <a:spcBef>
                <a:spcPts val="600"/>
              </a:spcBef>
              <a:buSzPts val="1000"/>
              <a:buFont typeface="Wingdings" panose="05000000000000000000" pitchFamily="2" charset="2"/>
              <a:buChar char="Ø"/>
              <a:tabLst>
                <a:tab pos="1276350" algn="l"/>
              </a:tabLst>
            </a:pPr>
            <a:r>
              <a:rPr lang="en-US" sz="1400" u="sng" spc="-5" dirty="0">
                <a:effectLst/>
                <a:latin typeface="Arial" panose="020B0604020202020204" pitchFamily="34" charset="0"/>
                <a:ea typeface="Times New Roman" panose="02020603050405020304" pitchFamily="18" charset="0"/>
                <a:cs typeface="Arial" panose="020B0604020202020204" pitchFamily="34" charset="0"/>
              </a:rPr>
              <a:t>FFP</a:t>
            </a:r>
            <a:r>
              <a:rPr lang="en-US" sz="1400" u="sng" spc="20" dirty="0">
                <a:effectLst/>
                <a:latin typeface="Arial" panose="020B0604020202020204" pitchFamily="34" charset="0"/>
                <a:ea typeface="Times New Roman" panose="02020603050405020304" pitchFamily="18" charset="0"/>
                <a:cs typeface="Arial" panose="020B0604020202020204" pitchFamily="34" charset="0"/>
              </a:rPr>
              <a:t> </a:t>
            </a:r>
            <a:r>
              <a:rPr lang="en-US" sz="1400" u="sng" spc="-5" dirty="0">
                <a:effectLst/>
                <a:latin typeface="Arial" panose="020B0604020202020204" pitchFamily="34" charset="0"/>
                <a:ea typeface="Times New Roman" panose="02020603050405020304" pitchFamily="18" charset="0"/>
                <a:cs typeface="Arial" panose="020B0604020202020204" pitchFamily="34" charset="0"/>
              </a:rPr>
              <a:t>Evaluation</a:t>
            </a:r>
            <a:r>
              <a:rPr lang="en-US" sz="1400" spc="-5" dirty="0">
                <a:effectLst/>
                <a:latin typeface="Arial" panose="020B0604020202020204" pitchFamily="34" charset="0"/>
                <a:ea typeface="Times New Roman" panose="02020603050405020304" pitchFamily="18" charset="0"/>
                <a:cs typeface="Arial" panose="020B0604020202020204" pitchFamily="34" charset="0"/>
              </a:rPr>
              <a:t>.</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For</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price</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to</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be fair and</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reasonable,</a:t>
            </a:r>
            <a:r>
              <a:rPr lang="en-US" sz="1400" spc="3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it</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must</a:t>
            </a:r>
            <a:r>
              <a:rPr lang="en-US" sz="1400" spc="2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represent</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price to</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the</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Government that</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 prudent person would pay in the conduct of competitive business. The Offerors' proposed firm-fixed­</a:t>
            </a:r>
            <a:r>
              <a:rPr lang="en-US" sz="1400" spc="-23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price</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CLINs</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may</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be</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evaluated,</a:t>
            </a:r>
            <a:r>
              <a:rPr lang="en-US" sz="1400" spc="5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using</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one</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or</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more</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of the</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techniques</a:t>
            </a:r>
            <a:r>
              <a:rPr lang="en-US" sz="1400" spc="2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described</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in</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FAR 15.404-1</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in</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order</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to</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determine</a:t>
            </a:r>
            <a:r>
              <a:rPr lang="en-US" sz="1400" spc="-2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if they</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are fair and reasonable. Detailed,</a:t>
            </a:r>
            <a:r>
              <a:rPr lang="en-US" sz="1400" spc="4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other than</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cost and</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pricing</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data</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must</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be</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provided for evaluation to begin, only providing lump sum pricing may result in the total proposal</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being</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non-responsive.</a:t>
            </a:r>
          </a:p>
          <a:p>
            <a:pPr marL="1257300" lvl="2" indent="-342900">
              <a:lnSpc>
                <a:spcPts val="1135"/>
              </a:lnSpc>
              <a:buSzPts val="1000"/>
              <a:buFont typeface="Wingdings" panose="05000000000000000000" pitchFamily="2" charset="2"/>
              <a:buChar char="Ø"/>
              <a:tabLst>
                <a:tab pos="1275080" algn="l"/>
              </a:tabLst>
            </a:pPr>
            <a:endParaRPr lang="en-US" sz="1400" u="sng" spc="-5" dirty="0">
              <a:effectLst/>
              <a:latin typeface="Arial" panose="020B0604020202020204" pitchFamily="34" charset="0"/>
              <a:ea typeface="Times New Roman" panose="02020603050405020304" pitchFamily="18" charset="0"/>
              <a:cs typeface="Arial" panose="020B0604020202020204" pitchFamily="34" charset="0"/>
            </a:endParaRPr>
          </a:p>
          <a:p>
            <a:pPr marL="1257300" lvl="2" indent="-342900">
              <a:lnSpc>
                <a:spcPts val="1135"/>
              </a:lnSpc>
              <a:buSzPts val="1000"/>
              <a:buFont typeface="Wingdings" panose="05000000000000000000" pitchFamily="2" charset="2"/>
              <a:buChar char="Ø"/>
              <a:tabLst>
                <a:tab pos="1275080" algn="l"/>
              </a:tabLst>
            </a:pPr>
            <a:r>
              <a:rPr lang="en-US" sz="1400" u="sng" spc="-5" dirty="0">
                <a:effectLst/>
                <a:latin typeface="Arial" panose="020B0604020202020204" pitchFamily="34" charset="0"/>
                <a:ea typeface="Times New Roman" panose="02020603050405020304" pitchFamily="18" charset="0"/>
                <a:cs typeface="Arial" panose="020B0604020202020204" pitchFamily="34" charset="0"/>
              </a:rPr>
              <a:t>Overall</a:t>
            </a:r>
            <a:r>
              <a:rPr lang="en-US" sz="1400" u="sng" spc="-40" dirty="0">
                <a:effectLst/>
                <a:latin typeface="Arial" panose="020B0604020202020204" pitchFamily="34" charset="0"/>
                <a:ea typeface="Times New Roman" panose="02020603050405020304" pitchFamily="18" charset="0"/>
                <a:cs typeface="Arial" panose="020B0604020202020204" pitchFamily="34" charset="0"/>
              </a:rPr>
              <a:t> </a:t>
            </a:r>
            <a:r>
              <a:rPr lang="en-US" sz="1400" u="sng" spc="-5" dirty="0">
                <a:effectLst/>
                <a:latin typeface="Arial" panose="020B0604020202020204" pitchFamily="34" charset="0"/>
                <a:ea typeface="Times New Roman" panose="02020603050405020304" pitchFamily="18" charset="0"/>
                <a:cs typeface="Arial" panose="020B0604020202020204" pitchFamily="34" charset="0"/>
              </a:rPr>
              <a:t>Cost/Price</a:t>
            </a:r>
            <a:r>
              <a:rPr lang="en-US" sz="1400" u="sng" spc="-20" dirty="0">
                <a:effectLst/>
                <a:latin typeface="Arial" panose="020B0604020202020204" pitchFamily="34" charset="0"/>
                <a:ea typeface="Times New Roman" panose="02020603050405020304" pitchFamily="18" charset="0"/>
                <a:cs typeface="Arial" panose="020B0604020202020204" pitchFamily="34" charset="0"/>
              </a:rPr>
              <a:t> </a:t>
            </a:r>
            <a:r>
              <a:rPr lang="en-US" sz="1400" u="sng" spc="-5" dirty="0">
                <a:effectLst/>
                <a:latin typeface="Arial" panose="020B0604020202020204" pitchFamily="34" charset="0"/>
                <a:ea typeface="Times New Roman" panose="02020603050405020304" pitchFamily="18" charset="0"/>
                <a:cs typeface="Arial" panose="020B0604020202020204" pitchFamily="34" charset="0"/>
              </a:rPr>
              <a:t>Proposal</a:t>
            </a:r>
            <a:r>
              <a:rPr lang="en-US" sz="1400" u="sng"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u="sng" spc="-5" dirty="0">
                <a:effectLst/>
                <a:latin typeface="Arial" panose="020B0604020202020204" pitchFamily="34" charset="0"/>
                <a:ea typeface="Times New Roman" panose="02020603050405020304" pitchFamily="18" charset="0"/>
                <a:cs typeface="Arial" panose="020B0604020202020204" pitchFamily="34" charset="0"/>
              </a:rPr>
              <a:t>Evaluation:</a:t>
            </a:r>
            <a:r>
              <a:rPr lang="en-US" sz="1400" spc="5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The</a:t>
            </a:r>
            <a:r>
              <a:rPr lang="en-US" sz="1400" spc="-3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overall</a:t>
            </a:r>
            <a:r>
              <a:rPr lang="en-US" sz="1400" spc="-2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Price</a:t>
            </a:r>
            <a:r>
              <a:rPr lang="en-US" sz="1400" spc="-3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proposal</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will</a:t>
            </a:r>
            <a:r>
              <a:rPr lang="en-US" sz="1400" spc="-2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evaluated</a:t>
            </a:r>
            <a:r>
              <a:rPr lang="en-US" sz="1400" spc="-4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for</a:t>
            </a:r>
            <a:r>
              <a:rPr lang="en-US" sz="1400" spc="-4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the</a:t>
            </a:r>
            <a:r>
              <a:rPr lang="en-US" sz="1400" spc="-2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following:</a:t>
            </a:r>
          </a:p>
          <a:p>
            <a:pPr marL="1657350" marR="775970" lvl="3" indent="-285750">
              <a:spcBef>
                <a:spcPts val="5"/>
              </a:spcBef>
              <a:buSzPts val="1000"/>
              <a:buFont typeface="Times New Roman" panose="02020603050405020304" pitchFamily="18" charset="0"/>
              <a:buAutoNum type="arabicPeriod"/>
              <a:tabLst>
                <a:tab pos="1733550" algn="l"/>
              </a:tabLst>
            </a:pPr>
            <a:r>
              <a:rPr lang="en-US" sz="1400" spc="-5" dirty="0">
                <a:effectLst/>
                <a:latin typeface="Arial" panose="020B0604020202020204" pitchFamily="34" charset="0"/>
                <a:ea typeface="Times New Roman" panose="02020603050405020304" pitchFamily="18" charset="0"/>
                <a:cs typeface="Arial" panose="020B0604020202020204" pitchFamily="34" charset="0"/>
              </a:rPr>
              <a:t>Compliance: The Cost/Price proposal submitted by the Offeror will be evaluated for</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compliance based upon the submission requirements contained in the Section L Price</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instructions to include other than cost and pricing data as described in FAR 52.215-20 Alt I,</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using an</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Excel spreadsheet.</a:t>
            </a:r>
            <a:r>
              <a:rPr lang="en-US" sz="1400" spc="22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When</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subcontractors</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are used,</a:t>
            </a:r>
            <a:r>
              <a:rPr lang="en-US" sz="1400" spc="4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provide</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evidence of competitive</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award;</a:t>
            </a:r>
            <a:r>
              <a:rPr lang="en-US" sz="1400" spc="5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if subcontract</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is</a:t>
            </a:r>
            <a:r>
              <a:rPr lang="en-US" sz="1400" spc="2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not</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competitively</a:t>
            </a:r>
            <a:r>
              <a:rPr lang="en-US" sz="1400" spc="2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awarded</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provide</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subcontractor's</a:t>
            </a:r>
            <a:r>
              <a:rPr lang="en-US" sz="1400" spc="1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detailed</a:t>
            </a:r>
            <a:r>
              <a:rPr lang="en-US" sz="1400" spc="1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pricing</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as</a:t>
            </a:r>
            <a:r>
              <a:rPr lang="en-US" sz="1400" spc="-23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previously</a:t>
            </a:r>
            <a:r>
              <a:rPr lang="en-US" sz="1400" spc="-3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described.</a:t>
            </a:r>
          </a:p>
          <a:p>
            <a:pPr marL="1657350" marR="899160" lvl="3" indent="-285750">
              <a:lnSpc>
                <a:spcPct val="98000"/>
              </a:lnSpc>
              <a:spcBef>
                <a:spcPts val="5"/>
              </a:spcBef>
              <a:buSzPts val="1000"/>
              <a:buFont typeface="Times New Roman" panose="02020603050405020304" pitchFamily="18" charset="0"/>
              <a:buAutoNum type="arabicPeriod"/>
              <a:tabLst>
                <a:tab pos="1730375" algn="l"/>
              </a:tabLst>
            </a:pPr>
            <a:r>
              <a:rPr lang="en-US" sz="1400" spc="-5" dirty="0">
                <a:effectLst/>
                <a:latin typeface="Arial" panose="020B0604020202020204" pitchFamily="34" charset="0"/>
                <a:ea typeface="Times New Roman" panose="02020603050405020304" pitchFamily="18" charset="0"/>
                <a:cs typeface="Arial" panose="020B0604020202020204" pitchFamily="34" charset="0"/>
              </a:rPr>
              <a:t>Unbalanced Pricing: The Offerors' overall Price proposal will be evaluated for unbalanced</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pricing as defined in FAR 15.404-1(g).</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An offer may be rejected if the contracting officer</a:t>
            </a:r>
            <a:r>
              <a:rPr lang="en-US" sz="1400" spc="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determines that the lack of balance poses an unacceptable risk to the Government (see FAR</a:t>
            </a:r>
            <a:r>
              <a:rPr lang="en-US" sz="1400" spc="-235"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15.404-1(g)(l) through FAR</a:t>
            </a:r>
            <a:r>
              <a:rPr lang="en-US" sz="1400" spc="-30" dirty="0">
                <a:effectLst/>
                <a:latin typeface="Arial" panose="020B0604020202020204" pitchFamily="34" charset="0"/>
                <a:ea typeface="Times New Roman" panose="02020603050405020304" pitchFamily="18" charset="0"/>
                <a:cs typeface="Arial" panose="020B0604020202020204" pitchFamily="34" charset="0"/>
              </a:rPr>
              <a:t> </a:t>
            </a:r>
            <a:r>
              <a:rPr lang="en-US" sz="1400" spc="-5" dirty="0">
                <a:effectLst/>
                <a:latin typeface="Arial" panose="020B0604020202020204" pitchFamily="34" charset="0"/>
                <a:ea typeface="Times New Roman" panose="02020603050405020304" pitchFamily="18" charset="0"/>
                <a:cs typeface="Arial" panose="020B0604020202020204" pitchFamily="34" charset="0"/>
              </a:rPr>
              <a:t>15.404-1(g)(3)).</a:t>
            </a:r>
          </a:p>
        </p:txBody>
      </p:sp>
      <p:sp>
        <p:nvSpPr>
          <p:cNvPr id="9" name="TextBox 8">
            <a:extLst>
              <a:ext uri="{FF2B5EF4-FFF2-40B4-BE49-F238E27FC236}">
                <a16:creationId xmlns:a16="http://schemas.microsoft.com/office/drawing/2014/main" id="{C30E92EA-0C1B-4E0E-8853-0D6829E31F6D}"/>
              </a:ext>
            </a:extLst>
          </p:cNvPr>
          <p:cNvSpPr txBox="1"/>
          <p:nvPr/>
        </p:nvSpPr>
        <p:spPr>
          <a:xfrm>
            <a:off x="1184366" y="5526866"/>
            <a:ext cx="8386355" cy="1331134"/>
          </a:xfrm>
          <a:prstGeom prst="rect">
            <a:avLst/>
          </a:prstGeom>
          <a:noFill/>
        </p:spPr>
        <p:txBody>
          <a:bodyPr wrap="square">
            <a:spAutoFit/>
          </a:bodyPr>
          <a:lstStyle/>
          <a:p>
            <a:pPr marL="591185" marR="0">
              <a:lnSpc>
                <a:spcPts val="1075"/>
              </a:lnSpc>
              <a:spcBef>
                <a:spcPts val="0"/>
              </a:spcBef>
              <a:spcAft>
                <a:spcPts val="0"/>
              </a:spcAft>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591185" marR="0">
              <a:lnSpc>
                <a:spcPts val="1075"/>
              </a:lnSpc>
              <a:spcBef>
                <a:spcPts val="0"/>
              </a:spcBef>
              <a:spcAft>
                <a:spcPts val="0"/>
              </a:spcAft>
            </a:pPr>
            <a:r>
              <a:rPr lang="en-US" sz="1200" dirty="0">
                <a:solidFill>
                  <a:srgbClr val="92D050"/>
                </a:solidFill>
                <a:effectLst/>
                <a:latin typeface="Arial" panose="020B0604020202020204" pitchFamily="34" charset="0"/>
                <a:ea typeface="Times New Roman" panose="02020603050405020304" pitchFamily="18" charset="0"/>
                <a:cs typeface="Arial" panose="020B0604020202020204" pitchFamily="34" charset="0"/>
              </a:rPr>
              <a:t>Pricing Notes:</a:t>
            </a:r>
          </a:p>
          <a:p>
            <a:pPr marL="591185" marR="0">
              <a:lnSpc>
                <a:spcPts val="1075"/>
              </a:lnSpc>
              <a:spcBef>
                <a:spcPts val="600"/>
              </a:spcBef>
              <a:spcAft>
                <a:spcPts val="0"/>
              </a:spcAft>
            </a:pP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Offerors'</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Price</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proposal</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will</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be</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reviewed for errors. The</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Offeror</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may</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be</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given</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an</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opportunity</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to clarify</a:t>
            </a:r>
          </a:p>
          <a:p>
            <a:pPr marL="591820" marR="0">
              <a:spcBef>
                <a:spcPts val="0"/>
              </a:spcBef>
              <a:spcAft>
                <a:spcPts val="0"/>
              </a:spcAft>
            </a:pPr>
            <a:r>
              <a:rPr lang="en-US" sz="1200" dirty="0">
                <a:effectLst/>
                <a:latin typeface="Arial" panose="020B0604020202020204" pitchFamily="34" charset="0"/>
                <a:ea typeface="Times New Roman" panose="02020603050405020304" pitchFamily="18" charset="0"/>
                <a:cs typeface="Arial" panose="020B0604020202020204" pitchFamily="34" charset="0"/>
              </a:rPr>
              <a:t>certain</a:t>
            </a:r>
            <a:r>
              <a:rPr lang="en-US" sz="1200"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aspects</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 their</a:t>
            </a:r>
            <a:r>
              <a:rPr lang="en-US" sz="1200"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proposal</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at</a:t>
            </a:r>
            <a:r>
              <a:rPr lang="en-US" sz="1200"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sole</a:t>
            </a:r>
            <a:r>
              <a:rPr lang="en-US" sz="1200"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discretion</a:t>
            </a:r>
            <a:r>
              <a:rPr lang="en-US" sz="1200" spc="2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 the</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Contracting</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Officer.</a:t>
            </a:r>
          </a:p>
          <a:p>
            <a:pPr marL="592455" marR="750570" indent="635">
              <a:spcBef>
                <a:spcPts val="0"/>
              </a:spcBef>
              <a:spcAft>
                <a:spcPts val="0"/>
              </a:spcAft>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p>
            <a:pPr marL="592455" marR="750570" indent="635">
              <a:spcBef>
                <a:spcPts val="0"/>
              </a:spcBef>
              <a:spcAft>
                <a:spcPts val="0"/>
              </a:spcAft>
            </a:pPr>
            <a:r>
              <a:rPr lang="en-US" sz="1200" dirty="0">
                <a:effectLst/>
                <a:latin typeface="Arial" panose="020B0604020202020204" pitchFamily="34" charset="0"/>
                <a:ea typeface="Times New Roman" panose="02020603050405020304" pitchFamily="18" charset="0"/>
                <a:cs typeface="Arial" panose="020B0604020202020204" pitchFamily="34" charset="0"/>
              </a:rPr>
              <a:t>Total Evaluated Price:</a:t>
            </a:r>
            <a:r>
              <a:rPr lang="en-US" sz="1200" spc="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The Total Evaluated Price consists of summing the Offerors' proposed firm-fixed-price CLIN</a:t>
            </a:r>
            <a:r>
              <a:rPr lang="en-US" sz="1200" spc="-2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prices</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as</a:t>
            </a:r>
            <a:r>
              <a:rPr lang="en-US" sz="1200" spc="-1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indicated</a:t>
            </a:r>
            <a:r>
              <a:rPr lang="en-US" sz="1200" spc="-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in</a:t>
            </a:r>
            <a:r>
              <a:rPr lang="en-US" sz="1200" spc="-3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Exhibit</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A(l)</a:t>
            </a:r>
            <a:r>
              <a:rPr lang="en-US" sz="1200" spc="-6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a:t>
            </a:r>
            <a:r>
              <a:rPr lang="en-US" sz="1200" spc="-1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Bldg.</a:t>
            </a:r>
            <a:r>
              <a:rPr lang="en-US" sz="1200" spc="-4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14</a:t>
            </a:r>
            <a:r>
              <a:rPr lang="en-US" sz="1200" spc="-3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TO</a:t>
            </a:r>
            <a:r>
              <a:rPr lang="en-US" sz="1200" spc="-4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RFP</a:t>
            </a:r>
            <a:r>
              <a:rPr lang="en-US" sz="1200" spc="-25"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Pricing</a:t>
            </a:r>
            <a:r>
              <a:rPr lang="en-US" sz="1200" spc="-1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Sheet.</a:t>
            </a:r>
          </a:p>
        </p:txBody>
      </p:sp>
    </p:spTree>
    <p:extLst>
      <p:ext uri="{BB962C8B-B14F-4D97-AF65-F5344CB8AC3E}">
        <p14:creationId xmlns:p14="http://schemas.microsoft.com/office/powerpoint/2010/main" val="3690017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7125-F00F-477F-95EE-E4D35C7F355F}"/>
              </a:ext>
            </a:extLst>
          </p:cNvPr>
          <p:cNvSpPr>
            <a:spLocks noGrp="1"/>
          </p:cNvSpPr>
          <p:nvPr>
            <p:ph type="title"/>
          </p:nvPr>
        </p:nvSpPr>
        <p:spPr>
          <a:xfrm>
            <a:off x="381243" y="235131"/>
            <a:ext cx="8596668" cy="1075509"/>
          </a:xfrm>
        </p:spPr>
        <p:txBody>
          <a:bodyPr>
            <a:normAutofit/>
          </a:bodyPr>
          <a:lstStyle/>
          <a:p>
            <a:r>
              <a:rPr lang="en-US" sz="2000" dirty="0"/>
              <a:t>Additional Requirements to keep in Mind</a:t>
            </a:r>
          </a:p>
        </p:txBody>
      </p:sp>
      <p:sp>
        <p:nvSpPr>
          <p:cNvPr id="3" name="Content Placeholder 2">
            <a:extLst>
              <a:ext uri="{FF2B5EF4-FFF2-40B4-BE49-F238E27FC236}">
                <a16:creationId xmlns:a16="http://schemas.microsoft.com/office/drawing/2014/main" id="{B8154298-B2CA-4BE4-AE00-717344A0820B}"/>
              </a:ext>
            </a:extLst>
          </p:cNvPr>
          <p:cNvSpPr>
            <a:spLocks noGrp="1"/>
          </p:cNvSpPr>
          <p:nvPr>
            <p:ph idx="1"/>
          </p:nvPr>
        </p:nvSpPr>
        <p:spPr>
          <a:xfrm>
            <a:off x="494453" y="1063308"/>
            <a:ext cx="8596668" cy="3880773"/>
          </a:xfrm>
        </p:spPr>
        <p:txBody>
          <a:bodyPr/>
          <a:lstStyle/>
          <a:p>
            <a:r>
              <a:rPr lang="en-US" dirty="0"/>
              <a:t>Bond verifications to be eligible for award = $5M</a:t>
            </a:r>
          </a:p>
          <a:p>
            <a:r>
              <a:rPr lang="en-US" dirty="0"/>
              <a:t>Section K Reps and Certs are required</a:t>
            </a:r>
          </a:p>
          <a:p>
            <a:r>
              <a:rPr lang="en-US" dirty="0"/>
              <a:t>All Amendments must be acknowledged</a:t>
            </a:r>
          </a:p>
          <a:p>
            <a:r>
              <a:rPr lang="en-US" dirty="0"/>
              <a:t>Acknowledge acceptance of all Clauses and Conditions (RFP Section C-J)</a:t>
            </a:r>
          </a:p>
        </p:txBody>
      </p:sp>
      <p:sp>
        <p:nvSpPr>
          <p:cNvPr id="4" name="Footer Placeholder 3">
            <a:extLst>
              <a:ext uri="{FF2B5EF4-FFF2-40B4-BE49-F238E27FC236}">
                <a16:creationId xmlns:a16="http://schemas.microsoft.com/office/drawing/2014/main" id="{4EF2F62D-A99B-4E06-BD55-5F9B481D66A0}"/>
              </a:ext>
            </a:extLst>
          </p:cNvPr>
          <p:cNvSpPr>
            <a:spLocks noGrp="1"/>
          </p:cNvSpPr>
          <p:nvPr>
            <p:ph type="ftr" sz="quarter" idx="11"/>
          </p:nvPr>
        </p:nvSpPr>
        <p:spPr/>
        <p:txBody>
          <a:bodyPr/>
          <a:lstStyle/>
          <a:p>
            <a:r>
              <a:rPr lang="en-US"/>
              <a:t>Confidential and Proprietary</a:t>
            </a:r>
          </a:p>
        </p:txBody>
      </p:sp>
    </p:spTree>
    <p:extLst>
      <p:ext uri="{BB962C8B-B14F-4D97-AF65-F5344CB8AC3E}">
        <p14:creationId xmlns:p14="http://schemas.microsoft.com/office/powerpoint/2010/main" val="281953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FF372-9E91-431F-918E-BC44E87FC5D3}"/>
              </a:ext>
            </a:extLst>
          </p:cNvPr>
          <p:cNvSpPr>
            <a:spLocks noGrp="1"/>
          </p:cNvSpPr>
          <p:nvPr>
            <p:ph type="title"/>
          </p:nvPr>
        </p:nvSpPr>
        <p:spPr>
          <a:xfrm>
            <a:off x="1759236" y="3980237"/>
            <a:ext cx="8672295" cy="727748"/>
          </a:xfrm>
        </p:spPr>
        <p:txBody>
          <a:bodyPr vert="horz" lIns="228600" tIns="228600" rIns="228600" bIns="0" rtlCol="0" anchor="b">
            <a:normAutofit/>
          </a:bodyPr>
          <a:lstStyle/>
          <a:p>
            <a:pPr>
              <a:lnSpc>
                <a:spcPct val="80000"/>
              </a:lnSpc>
            </a:pPr>
            <a:r>
              <a:rPr lang="en-US" sz="3700"/>
              <a:t>Questions</a:t>
            </a:r>
          </a:p>
        </p:txBody>
      </p:sp>
      <p:sp>
        <p:nvSpPr>
          <p:cNvPr id="4" name="Footer Placeholder 3">
            <a:extLst>
              <a:ext uri="{FF2B5EF4-FFF2-40B4-BE49-F238E27FC236}">
                <a16:creationId xmlns:a16="http://schemas.microsoft.com/office/drawing/2014/main" id="{CB11844B-CFEA-4F02-9CF2-CBE68046597C}"/>
              </a:ext>
            </a:extLst>
          </p:cNvPr>
          <p:cNvSpPr>
            <a:spLocks noGrp="1"/>
          </p:cNvSpPr>
          <p:nvPr>
            <p:ph type="ftr" sz="quarter" idx="11"/>
          </p:nvPr>
        </p:nvSpPr>
        <p:spPr/>
        <p:txBody>
          <a:bodyPr vert="horz" lIns="91440" tIns="45720" rIns="91440" bIns="45720" rtlCol="0" anchor="ctr">
            <a:normAutofit/>
          </a:bodyPr>
          <a:lstStyle/>
          <a:p>
            <a:pPr algn="ctr">
              <a:spcAft>
                <a:spcPts val="600"/>
              </a:spcAft>
            </a:pPr>
            <a:r>
              <a:rPr lang="en-US"/>
              <a:t>Confidential and Proprietary</a:t>
            </a:r>
          </a:p>
        </p:txBody>
      </p:sp>
      <p:pic>
        <p:nvPicPr>
          <p:cNvPr id="8" name="Graphic 7" descr="Help">
            <a:extLst>
              <a:ext uri="{FF2B5EF4-FFF2-40B4-BE49-F238E27FC236}">
                <a16:creationId xmlns:a16="http://schemas.microsoft.com/office/drawing/2014/main" id="{5421D405-E025-4C8B-8785-79FC15D26C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43820" y="2722356"/>
            <a:ext cx="2302486" cy="2302486"/>
          </a:xfrm>
          <a:prstGeom prst="rect">
            <a:avLst/>
          </a:prstGeom>
          <a:ln w="12700">
            <a:noFill/>
          </a:ln>
        </p:spPr>
      </p:pic>
    </p:spTree>
    <p:extLst>
      <p:ext uri="{BB962C8B-B14F-4D97-AF65-F5344CB8AC3E}">
        <p14:creationId xmlns:p14="http://schemas.microsoft.com/office/powerpoint/2010/main" val="378947002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ast_x0020_Access_x0020_Date xmlns="f9e40967-673c-415a-a327-5335e5e938b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04409C1E81F4C4F8BF380F1464A06E7" ma:contentTypeVersion="12" ma:contentTypeDescription="Create a new document." ma:contentTypeScope="" ma:versionID="1b9563688a80088b37f5b7dbf9147358">
  <xsd:schema xmlns:xsd="http://www.w3.org/2001/XMLSchema" xmlns:xs="http://www.w3.org/2001/XMLSchema" xmlns:p="http://schemas.microsoft.com/office/2006/metadata/properties" xmlns:ns2="f9e40967-673c-415a-a327-5335e5e938ba" xmlns:ns3="bbfe7576-be5e-4f5c-be1f-8a366703f289" targetNamespace="http://schemas.microsoft.com/office/2006/metadata/properties" ma:root="true" ma:fieldsID="43b9b8802ef2eb7c44e8dfb252f81188" ns2:_="" ns3:_="">
    <xsd:import namespace="f9e40967-673c-415a-a327-5335e5e938ba"/>
    <xsd:import namespace="bbfe7576-be5e-4f5c-be1f-8a366703f28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3:SharedWithUsers" minOccurs="0"/>
                <xsd:element ref="ns3:SharedWithDetails" minOccurs="0"/>
                <xsd:element ref="ns2:MediaLengthInSeconds" minOccurs="0"/>
                <xsd:element ref="ns2:Last_x0020_Access_x0020_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e40967-673c-415a-a327-5335e5e938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ast_x0020_Access_x0020_Date" ma:index="19" nillable="true" ma:displayName="Last Access Date" ma:format="DateOnly" ma:internalName="Last_x0020_Access_x0020_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bfe7576-be5e-4f5c-be1f-8a366703f28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B1386D-B7DC-408D-AB96-F23DF013706D}">
  <ds:schemaRefs>
    <ds:schemaRef ds:uri="http://schemas.microsoft.com/office/2006/metadata/properties"/>
    <ds:schemaRef ds:uri="http://schemas.microsoft.com/office/infopath/2007/PartnerControls"/>
    <ds:schemaRef ds:uri="http://schemas.microsoft.com/sharepoint/v3"/>
    <ds:schemaRef ds:uri="f9e40967-673c-415a-a327-5335e5e938ba"/>
  </ds:schemaRefs>
</ds:datastoreItem>
</file>

<file path=customXml/itemProps2.xml><?xml version="1.0" encoding="utf-8"?>
<ds:datastoreItem xmlns:ds="http://schemas.openxmlformats.org/officeDocument/2006/customXml" ds:itemID="{A1CCB3DD-4E0A-40B6-96C8-5F3AF69AE5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e40967-673c-415a-a327-5335e5e938ba"/>
    <ds:schemaRef ds:uri="bbfe7576-be5e-4f5c-be1f-8a366703f2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BCB8C0F-261F-455A-B30F-0F2E0DDA74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273</TotalTime>
  <Words>4599</Words>
  <Application>Microsoft Office PowerPoint</Application>
  <PresentationFormat>Widescreen</PresentationFormat>
  <Paragraphs>514</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Arial Narrow</vt:lpstr>
      <vt:lpstr>Calibri</vt:lpstr>
      <vt:lpstr>Futura Std Book</vt:lpstr>
      <vt:lpstr>Times New Roman</vt:lpstr>
      <vt:lpstr>Trebuchet MS</vt:lpstr>
      <vt:lpstr>Wingdings</vt:lpstr>
      <vt:lpstr>Wingdings 3</vt:lpstr>
      <vt:lpstr>Facet</vt:lpstr>
      <vt:lpstr>DEPOT-WIDE MINOR CONSTRUCTION MULTIPLE AWARD INDEFINITE DELIVERY INDEFINITE QUANTITY (IDIQ) MULTIPLE AWARD TASK ORDER CONTRACT (MATOC) TOBYHANNA ARMY DEPOT W25G1V21R0014</vt:lpstr>
      <vt:lpstr>ACTIVATION AGENDA</vt:lpstr>
      <vt:lpstr>Opportunity Overview </vt:lpstr>
      <vt:lpstr>Solicitation Details</vt:lpstr>
      <vt:lpstr>PowerPoint Presentation</vt:lpstr>
      <vt:lpstr>PowerPoint Presentation</vt:lpstr>
      <vt:lpstr>PowerPoint Presentation</vt:lpstr>
      <vt:lpstr>Solicitation Milestone Dates</vt:lpstr>
      <vt:lpstr>Calendar View</vt:lpstr>
      <vt:lpstr>Requirements Directed Outline –  Volume I: Technical (Page Limit = 50 Total)</vt:lpstr>
      <vt:lpstr>Requirements Directed Outline –  Volume I: Technical</vt:lpstr>
      <vt:lpstr>Requirements Directed Outline – Vol. II: Past Performance (15 pages total)</vt:lpstr>
      <vt:lpstr>Requirements Directed Outline – Vol. II: Past Performance</vt:lpstr>
      <vt:lpstr>Requirements Directed Outline – Vol. II: Past Performance</vt:lpstr>
      <vt:lpstr>Requirements Directed Outline – Volume III: Price</vt:lpstr>
      <vt:lpstr>Requirements Directed Outline – Volume III: Price</vt:lpstr>
      <vt:lpstr>Basis of Award (Section M)</vt:lpstr>
      <vt:lpstr>Evaluation Criteria –Factor 1: Technical </vt:lpstr>
      <vt:lpstr>PowerPoint Presentation</vt:lpstr>
      <vt:lpstr>Evaluation Criteria – Factor 1: Technical</vt:lpstr>
      <vt:lpstr>Evaluation Criteria – Factor 1: Technical</vt:lpstr>
      <vt:lpstr>Evaluation Criteria – Factor 2: Past Performance (Section M)</vt:lpstr>
      <vt:lpstr>Evaluation Criteria – Factor 2: Past Performance (Section M)</vt:lpstr>
      <vt:lpstr>Evaluation Criteria – Factor 3: Price (Section M)</vt:lpstr>
      <vt:lpstr>Additional Requirements to keep in Mind</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Name Opportunity Name Date</dc:title>
  <dc:creator>Jeruther Expose</dc:creator>
  <cp:lastModifiedBy>Kathylynn Barranco</cp:lastModifiedBy>
  <cp:revision>5</cp:revision>
  <dcterms:created xsi:type="dcterms:W3CDTF">2019-12-11T19:52:53Z</dcterms:created>
  <dcterms:modified xsi:type="dcterms:W3CDTF">2021-07-01T19:21:50Z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0x010100C04409C1E81F4C4F8BF380F1464A06E7</vt:lpwstr>
  </property>
</Properties>
</file>