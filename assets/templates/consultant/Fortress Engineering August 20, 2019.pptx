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82" r:id="rId2"/>
    <p:sldId id="272" r:id="rId3"/>
    <p:sldId id="292" r:id="rId4"/>
    <p:sldId id="258" r:id="rId5"/>
    <p:sldId id="279" r:id="rId6"/>
    <p:sldId id="280" r:id="rId7"/>
    <p:sldId id="281" r:id="rId8"/>
    <p:sldId id="259" r:id="rId9"/>
    <p:sldId id="285" r:id="rId10"/>
    <p:sldId id="262" r:id="rId11"/>
    <p:sldId id="263" r:id="rId12"/>
    <p:sldId id="286" r:id="rId13"/>
    <p:sldId id="287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5013" autoAdjust="0"/>
  </p:normalViewPr>
  <p:slideViewPr>
    <p:cSldViewPr snapToGrid="0">
      <p:cViewPr>
        <p:scale>
          <a:sx n="106" d="100"/>
          <a:sy n="106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0FD18-E082-44EA-ADCF-4ABADBCA7FD5}" type="datetimeFigureOut">
              <a:rPr lang="en-US" smtClean="0"/>
              <a:t>8/21/2019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2464A-AEAD-42A9-85CB-D7423D70F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1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4E2-9F5E-429B-958A-93729DAA2124}" type="datetime1">
              <a:rPr lang="en-US" smtClean="0"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4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7964A-67C2-4DB3-A58A-A5C22E79FAB6}" type="datetime1">
              <a:rPr lang="en-US" smtClean="0"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9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F855932-1025-4E9F-80A0-77227C3A8574}" type="datetime1">
              <a:rPr lang="en-US" smtClean="0"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9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1A5F-9F7F-4E98-B577-CB03E4C5ED08}" type="datetime1">
              <a:rPr lang="en-US" smtClean="0"/>
              <a:t>8/21/2019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D312D-2F97-4338-AC8C-491BAAB9D34B}" type="datetime1">
              <a:rPr lang="en-US" smtClean="0"/>
              <a:t>8/21/2019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4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DFA3-6624-4246-BF2A-ED355591B9AE}" type="datetime1">
              <a:rPr lang="en-US" smtClean="0"/>
              <a:t>8/21/2019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3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EF20-7F1D-4F21-9A91-C79C323092CB}" type="datetime1">
              <a:rPr lang="en-US" smtClean="0"/>
              <a:t>8/21/2019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0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C9495-FCD3-467B-8166-9BBEF4361227}" type="datetime1">
              <a:rPr lang="en-US" smtClean="0"/>
              <a:t>8/21/2019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D33C2-E229-4A93-8986-6DAA823BE75C}" type="datetime1">
              <a:rPr lang="en-US" smtClean="0"/>
              <a:t>8/21/2019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6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DE6A-5E44-4CA2-B4FE-81EEF5C67B58}" type="datetime1">
              <a:rPr lang="en-US" smtClean="0"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6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8B357-B26E-4958-8B6E-C736FF236037}" type="datetime1">
              <a:rPr lang="en-US" smtClean="0"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2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CF5A3F3-F559-47B4-B804-99D04DD21E8D}" type="datetime1">
              <a:rPr lang="en-US" smtClean="0"/>
              <a:t>8/21/2019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92BE899-A732-4FB7-A230-3F66887D1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bo.gov/?s=opportunity&amp;mode=form&amp;id=befa1072969b2aa540936d95c95d1468&amp;tab=core&amp;_cview=1" TargetMode="External"/><Relationship Id="rId2" Type="http://schemas.openxmlformats.org/officeDocument/2006/relationships/hyperlink" Target="https://www.fbo.gov/?s=opportunity&amp;mode=form&amp;id=bf8502e8524cac1778fe9a2d366db8f0&amp;tab=core&amp;_cview=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F59FE3-24D6-4B0D-87D6-253A29EEA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Fortress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1EED516-9CFE-4DC5-A5D5-7B6048DC9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894" y="4750420"/>
            <a:ext cx="8522670" cy="1655762"/>
          </a:xfrm>
        </p:spPr>
        <p:txBody>
          <a:bodyPr/>
          <a:lstStyle/>
          <a:p>
            <a:r>
              <a:rPr lang="en-US" dirty="0"/>
              <a:t>Presenter	: Kriti Bhayani, CEO, Epic Soul LLC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A71D837-1BF0-4E6E-9CBD-BCA0E7D2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34" b="26482"/>
          <a:stretch/>
        </p:blipFill>
        <p:spPr bwMode="auto">
          <a:xfrm>
            <a:off x="376515" y="0"/>
            <a:ext cx="3792070" cy="1292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712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471633-1D12-4C93-A198-296EAF50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11" y="452718"/>
            <a:ext cx="10175973" cy="1400530"/>
          </a:xfrm>
        </p:spPr>
        <p:txBody>
          <a:bodyPr>
            <a:normAutofit/>
          </a:bodyPr>
          <a:lstStyle/>
          <a:p>
            <a:r>
              <a:rPr lang="en-US" sz="4000" u="sng" dirty="0"/>
              <a:t>Introduction: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47C9F6-302E-4607-A6C8-B9782364C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29" y="2052918"/>
            <a:ext cx="10175972" cy="419548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Hailing from a background of Oil &amp; Gas Engineering, the Epic Soul holds the experience required to contact. </a:t>
            </a:r>
          </a:p>
          <a:p>
            <a:r>
              <a:rPr lang="en-US" dirty="0"/>
              <a:t>We are connected to a government contracting team of experts with over 10 years’ experience and over a billion dollars in revenue that has offered to assist with getting the first contract.</a:t>
            </a:r>
          </a:p>
          <a:p>
            <a:pPr lvl="0"/>
            <a:r>
              <a:rPr lang="en-US" dirty="0"/>
              <a:t>Access to all military bases provides us an edge by giving us access to all contracting officers at the Department of Defense and VA.</a:t>
            </a:r>
          </a:p>
          <a:p>
            <a:pPr lvl="0"/>
            <a:r>
              <a:rPr lang="en-US" dirty="0"/>
              <a:t>We are in process of attaining membership of Women’s Business Enterprise Alliance(WBEA) which would give us opportunities to connect with the federal contracting officials and events.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84853B-66F8-45F6-B90E-4F657E00E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928313-D633-4F1C-B39A-1F57DB75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69480"/>
            <a:ext cx="10058400" cy="1609344"/>
          </a:xfrm>
        </p:spPr>
        <p:txBody>
          <a:bodyPr/>
          <a:lstStyle/>
          <a:p>
            <a:r>
              <a:rPr lang="en-US" dirty="0" smtClean="0"/>
              <a:t>Fortress engineering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71280738-A34E-416E-93E5-AAE13B165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860" y="1785232"/>
            <a:ext cx="5572999" cy="4548333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8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Disciplines</a:t>
            </a:r>
          </a:p>
          <a:p>
            <a:pPr fontAlgn="base"/>
            <a:endParaRPr lang="en-US" sz="3800" dirty="0" smtClean="0"/>
          </a:p>
          <a:p>
            <a:pPr fontAlgn="base"/>
            <a:r>
              <a:rPr lang="en-US" sz="3800" dirty="0" smtClean="0"/>
              <a:t>Process </a:t>
            </a:r>
            <a:r>
              <a:rPr lang="en-US" sz="3800" dirty="0"/>
              <a:t>Engineering</a:t>
            </a:r>
          </a:p>
          <a:p>
            <a:pPr fontAlgn="base"/>
            <a:r>
              <a:rPr lang="en-US" sz="3800" dirty="0"/>
              <a:t>Mechanical Engineering</a:t>
            </a:r>
          </a:p>
          <a:p>
            <a:pPr fontAlgn="base"/>
            <a:r>
              <a:rPr lang="en-US" sz="3800" dirty="0"/>
              <a:t>Project Management</a:t>
            </a:r>
          </a:p>
          <a:p>
            <a:pPr fontAlgn="base"/>
            <a:r>
              <a:rPr lang="en-US" sz="3800" dirty="0"/>
              <a:t>Civil and Structural Engineering</a:t>
            </a:r>
          </a:p>
          <a:p>
            <a:pPr fontAlgn="base"/>
            <a:r>
              <a:rPr lang="en-US" sz="3800" dirty="0"/>
              <a:t>Electrical Engineering</a:t>
            </a:r>
          </a:p>
          <a:p>
            <a:pPr fontAlgn="base"/>
            <a:r>
              <a:rPr lang="en-US" sz="3800" dirty="0"/>
              <a:t>Instrumentation</a:t>
            </a:r>
          </a:p>
          <a:p>
            <a:pPr fontAlgn="base"/>
            <a:r>
              <a:rPr lang="en-US" sz="3800" dirty="0"/>
              <a:t>Automation and Control Systems</a:t>
            </a:r>
          </a:p>
          <a:p>
            <a:pPr fontAlgn="base"/>
            <a:r>
              <a:rPr lang="en-US" sz="3800" dirty="0"/>
              <a:t>Functional Safety Management</a:t>
            </a:r>
          </a:p>
          <a:p>
            <a:pPr fontAlgn="base"/>
            <a:r>
              <a:rPr lang="en-US" sz="3800" dirty="0"/>
              <a:t>Procurement and Expediting</a:t>
            </a:r>
          </a:p>
          <a:p>
            <a:pPr fontAlgn="base"/>
            <a:r>
              <a:rPr lang="en-US" sz="3800" dirty="0"/>
              <a:t>Quality Control</a:t>
            </a:r>
          </a:p>
          <a:p>
            <a:pPr fontAlgn="base"/>
            <a:r>
              <a:rPr lang="en-US" sz="3800" dirty="0"/>
              <a:t>Regulatory and Environment Service</a:t>
            </a:r>
            <a:r>
              <a:rPr lang="en-US" sz="2900" dirty="0"/>
              <a:t>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A7A316-06DE-4647-944A-7C3BB80B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="" xmlns:a16="http://schemas.microsoft.com/office/drawing/2014/main" id="{71280738-A34E-416E-93E5-AAE13B16536B}"/>
              </a:ext>
            </a:extLst>
          </p:cNvPr>
          <p:cNvSpPr txBox="1">
            <a:spLocks/>
          </p:cNvSpPr>
          <p:nvPr/>
        </p:nvSpPr>
        <p:spPr>
          <a:xfrm>
            <a:off x="1222248" y="1653991"/>
            <a:ext cx="4806517" cy="434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Mission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dirty="0"/>
              <a:t>Our mission is to provide engineering solutions that fulfill our clients goals. Senior experience allows us to achieve quality while balancing cost and scheduling objectives.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397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5BE0-EA3E-4D75-9180-0E90804E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525471" cy="1400530"/>
          </a:xfrm>
        </p:spPr>
        <p:txBody>
          <a:bodyPr/>
          <a:lstStyle/>
          <a:p>
            <a:pPr algn="ctr"/>
            <a:r>
              <a:rPr lang="en-US" sz="3800" u="sng" dirty="0"/>
              <a:t>FORTRESS ENGINEERING’S Federal CONTRACTING Industries </a:t>
            </a:r>
            <a:endParaRPr lang="en-US" sz="3800" dirty="0"/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="" xmlns:a16="http://schemas.microsoft.com/office/drawing/2014/main" id="{465E3C14-BA37-45CA-A3AC-B3D72688A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353225"/>
              </p:ext>
            </p:extLst>
          </p:nvPr>
        </p:nvGraphicFramePr>
        <p:xfrm>
          <a:off x="1075268" y="1824318"/>
          <a:ext cx="10096314" cy="2693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7920">
                  <a:extLst>
                    <a:ext uri="{9D8B030D-6E8A-4147-A177-3AD203B41FA5}">
                      <a16:colId xmlns="" xmlns:a16="http://schemas.microsoft.com/office/drawing/2014/main" val="784671039"/>
                    </a:ext>
                  </a:extLst>
                </a:gridCol>
                <a:gridCol w="4488394">
                  <a:extLst>
                    <a:ext uri="{9D8B030D-6E8A-4147-A177-3AD203B41FA5}">
                      <a16:colId xmlns="" xmlns:a16="http://schemas.microsoft.com/office/drawing/2014/main" val="1540575985"/>
                    </a:ext>
                  </a:extLst>
                </a:gridCol>
              </a:tblGrid>
              <a:tr h="64549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Years average Federal  contract spending*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068861585"/>
                  </a:ext>
                </a:extLst>
              </a:tr>
              <a:tr h="61747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Oil &amp; Gas construction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      0.40 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199630564"/>
                  </a:ext>
                </a:extLst>
              </a:tr>
              <a:tr h="6542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Jet Fueling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      7.35 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188295777"/>
                  </a:ext>
                </a:extLst>
              </a:tr>
              <a:tr h="776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Engineering services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$    33.04 B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48562561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F81AC55-62B5-4D1B-95F3-6427AA2444DC}"/>
              </a:ext>
            </a:extLst>
          </p:cNvPr>
          <p:cNvSpPr txBox="1"/>
          <p:nvPr/>
        </p:nvSpPr>
        <p:spPr>
          <a:xfrm flipH="1">
            <a:off x="1858093" y="6094175"/>
            <a:ext cx="814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Information procured from www.usaspending.gov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D2A0B999-E2D4-4636-BEAA-AC84C417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8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C20EAA06-2B59-4D89-8BA2-0ADCECDEA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189148"/>
              </p:ext>
            </p:extLst>
          </p:nvPr>
        </p:nvGraphicFramePr>
        <p:xfrm>
          <a:off x="1075267" y="529129"/>
          <a:ext cx="9643888" cy="38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3888">
                  <a:extLst>
                    <a:ext uri="{9D8B030D-6E8A-4147-A177-3AD203B41FA5}">
                      <a16:colId xmlns="" xmlns:a16="http://schemas.microsoft.com/office/drawing/2014/main" val="784671039"/>
                    </a:ext>
                  </a:extLst>
                </a:gridCol>
              </a:tblGrid>
              <a:tr h="38453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Oil &amp; Gas construction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688615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B8C83B9-BD2E-4A60-818B-91E553D38087}"/>
              </a:ext>
            </a:extLst>
          </p:cNvPr>
          <p:cNvSpPr txBox="1"/>
          <p:nvPr/>
        </p:nvSpPr>
        <p:spPr>
          <a:xfrm>
            <a:off x="5060830" y="2730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2861400B-7419-4B23-AC88-227080955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21" y="881516"/>
            <a:ext cx="9652721" cy="540471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="" xmlns:a16="http://schemas.microsoft.com/office/drawing/2014/main" id="{E645961B-EDF8-415C-A0C6-145B1714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C74CD2E4-3715-4C2F-90B3-7FFD850713BB}"/>
              </a:ext>
            </a:extLst>
          </p:cNvPr>
          <p:cNvSpPr/>
          <p:nvPr/>
        </p:nvSpPr>
        <p:spPr>
          <a:xfrm>
            <a:off x="2066366" y="1013012"/>
            <a:ext cx="2070839" cy="237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Small Business Seta-sides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D1F17FC-D0EC-4781-BFDA-212D440FB8F4}"/>
              </a:ext>
            </a:extLst>
          </p:cNvPr>
          <p:cNvSpPr/>
          <p:nvPr/>
        </p:nvSpPr>
        <p:spPr>
          <a:xfrm>
            <a:off x="4271680" y="1048870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Open Competition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27DF434-1DF9-4362-BCFD-1854DC127142}"/>
              </a:ext>
            </a:extLst>
          </p:cNvPr>
          <p:cNvSpPr/>
          <p:nvPr/>
        </p:nvSpPr>
        <p:spPr>
          <a:xfrm>
            <a:off x="6414247" y="1064901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Small Business Awards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D10D6CC3-AF4F-4F27-BF1E-638DDC112A14}"/>
              </a:ext>
            </a:extLst>
          </p:cNvPr>
          <p:cNvSpPr/>
          <p:nvPr/>
        </p:nvSpPr>
        <p:spPr>
          <a:xfrm>
            <a:off x="8597163" y="1082834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Awards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2BBDBBC0-9368-4B2C-A3E7-2FB21F90A25D}"/>
              </a:ext>
            </a:extLst>
          </p:cNvPr>
          <p:cNvSpPr/>
          <p:nvPr/>
        </p:nvSpPr>
        <p:spPr>
          <a:xfrm>
            <a:off x="5567083" y="918513"/>
            <a:ext cx="1538309" cy="14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C20EAA06-2B59-4D89-8BA2-0ADCECDEA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929249"/>
              </p:ext>
            </p:extLst>
          </p:nvPr>
        </p:nvGraphicFramePr>
        <p:xfrm>
          <a:off x="1084103" y="529139"/>
          <a:ext cx="9652717" cy="38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717">
                  <a:extLst>
                    <a:ext uri="{9D8B030D-6E8A-4147-A177-3AD203B41FA5}">
                      <a16:colId xmlns="" xmlns:a16="http://schemas.microsoft.com/office/drawing/2014/main" val="784671039"/>
                    </a:ext>
                  </a:extLst>
                </a:gridCol>
              </a:tblGrid>
              <a:tr h="384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Jet Fueling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0688615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B8C83B9-BD2E-4A60-818B-91E553D38087}"/>
              </a:ext>
            </a:extLst>
          </p:cNvPr>
          <p:cNvSpPr txBox="1"/>
          <p:nvPr/>
        </p:nvSpPr>
        <p:spPr>
          <a:xfrm>
            <a:off x="5074276" y="27174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D74625E-F9DD-46DB-AFD9-F69051A2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00" y="918660"/>
            <a:ext cx="9652721" cy="53564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F9CDDA88-DCEF-48AA-82DA-8AC1AFA5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98C7D9F-0A68-4346-9CE3-650A14F8A8F0}"/>
              </a:ext>
            </a:extLst>
          </p:cNvPr>
          <p:cNvSpPr/>
          <p:nvPr/>
        </p:nvSpPr>
        <p:spPr>
          <a:xfrm>
            <a:off x="1730191" y="1015602"/>
            <a:ext cx="2200835" cy="254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Small Business Seta-sides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514B4BA-DD16-497D-BBA0-4D2D64C4A094}"/>
              </a:ext>
            </a:extLst>
          </p:cNvPr>
          <p:cNvSpPr/>
          <p:nvPr/>
        </p:nvSpPr>
        <p:spPr>
          <a:xfrm>
            <a:off x="4052046" y="1049059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Open Competition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09BD155-5AB8-406A-87E3-6EDD1FE2143B}"/>
              </a:ext>
            </a:extLst>
          </p:cNvPr>
          <p:cNvSpPr/>
          <p:nvPr/>
        </p:nvSpPr>
        <p:spPr>
          <a:xfrm>
            <a:off x="6427693" y="1051455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Small Business Awards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D050F99D-B63D-42FB-BF55-F41F1FE7A433}"/>
              </a:ext>
            </a:extLst>
          </p:cNvPr>
          <p:cNvSpPr/>
          <p:nvPr/>
        </p:nvSpPr>
        <p:spPr>
          <a:xfrm>
            <a:off x="8610609" y="1051460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Awards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1704F23-3A0A-498F-B33D-F5F32AB4881C}"/>
              </a:ext>
            </a:extLst>
          </p:cNvPr>
          <p:cNvSpPr/>
          <p:nvPr/>
        </p:nvSpPr>
        <p:spPr>
          <a:xfrm>
            <a:off x="5495365" y="954741"/>
            <a:ext cx="1358153" cy="138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7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C20EAA06-2B59-4D89-8BA2-0ADCECDEA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847863"/>
              </p:ext>
            </p:extLst>
          </p:nvPr>
        </p:nvGraphicFramePr>
        <p:xfrm>
          <a:off x="1084104" y="529139"/>
          <a:ext cx="9652718" cy="38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718">
                  <a:extLst>
                    <a:ext uri="{9D8B030D-6E8A-4147-A177-3AD203B41FA5}">
                      <a16:colId xmlns="" xmlns:a16="http://schemas.microsoft.com/office/drawing/2014/main" val="784671039"/>
                    </a:ext>
                  </a:extLst>
                </a:gridCol>
              </a:tblGrid>
              <a:tr h="384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Engineering services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0688615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B8C83B9-BD2E-4A60-818B-91E553D38087}"/>
              </a:ext>
            </a:extLst>
          </p:cNvPr>
          <p:cNvSpPr txBox="1"/>
          <p:nvPr/>
        </p:nvSpPr>
        <p:spPr>
          <a:xfrm>
            <a:off x="5074276" y="27174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D5616D8-054D-4337-85A2-9C88C1E37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02" y="918661"/>
            <a:ext cx="9652720" cy="524481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FD43D48A-130D-489F-A048-742199E5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7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5F290D-CABF-4BEC-BCA1-88A4A8A44E3C}"/>
              </a:ext>
            </a:extLst>
          </p:cNvPr>
          <p:cNvSpPr/>
          <p:nvPr/>
        </p:nvSpPr>
        <p:spPr>
          <a:xfrm>
            <a:off x="1730191" y="1015602"/>
            <a:ext cx="2200835" cy="254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Small Business Seta-sides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1CE33EC-26FE-41F3-AC9C-9EEA083A45CB}"/>
              </a:ext>
            </a:extLst>
          </p:cNvPr>
          <p:cNvSpPr/>
          <p:nvPr/>
        </p:nvSpPr>
        <p:spPr>
          <a:xfrm>
            <a:off x="4056529" y="1049059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Open Competition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B989CEA-BC4D-4650-BE5C-A22431F3F0FB}"/>
              </a:ext>
            </a:extLst>
          </p:cNvPr>
          <p:cNvSpPr/>
          <p:nvPr/>
        </p:nvSpPr>
        <p:spPr>
          <a:xfrm>
            <a:off x="6351494" y="1051455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Small Business Awards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7414648-D30F-4614-BB08-6ACD30D7AD29}"/>
              </a:ext>
            </a:extLst>
          </p:cNvPr>
          <p:cNvSpPr/>
          <p:nvPr/>
        </p:nvSpPr>
        <p:spPr>
          <a:xfrm>
            <a:off x="8610609" y="1051460"/>
            <a:ext cx="2008092" cy="201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Total Awards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583C252-60BD-4FEE-8A58-0962EA9C44B7}"/>
              </a:ext>
            </a:extLst>
          </p:cNvPr>
          <p:cNvSpPr/>
          <p:nvPr/>
        </p:nvSpPr>
        <p:spPr>
          <a:xfrm>
            <a:off x="5495365" y="954740"/>
            <a:ext cx="1358153" cy="1165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91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999B4D-96F4-4322-87CA-094F1C85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95" y="452718"/>
            <a:ext cx="10733377" cy="607456"/>
          </a:xfrm>
        </p:spPr>
        <p:txBody>
          <a:bodyPr>
            <a:normAutofit/>
          </a:bodyPr>
          <a:lstStyle/>
          <a:p>
            <a:pPr algn="ctr"/>
            <a:r>
              <a:rPr lang="en-US" sz="3600" u="sng" dirty="0"/>
              <a:t>Top 5 Small Business revenues by industry codes</a:t>
            </a:r>
            <a:endParaRPr lang="en-US" sz="4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15C4553B-6A55-4891-A616-5B24BCEE5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45913"/>
              </p:ext>
            </p:extLst>
          </p:nvPr>
        </p:nvGraphicFramePr>
        <p:xfrm>
          <a:off x="1450660" y="3007116"/>
          <a:ext cx="9314791" cy="1710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105">
                  <a:extLst>
                    <a:ext uri="{9D8B030D-6E8A-4147-A177-3AD203B41FA5}">
                      <a16:colId xmlns="" xmlns:a16="http://schemas.microsoft.com/office/drawing/2014/main" val="314382038"/>
                    </a:ext>
                  </a:extLst>
                </a:gridCol>
                <a:gridCol w="4363659">
                  <a:extLst>
                    <a:ext uri="{9D8B030D-6E8A-4147-A177-3AD203B41FA5}">
                      <a16:colId xmlns="" xmlns:a16="http://schemas.microsoft.com/office/drawing/2014/main" val="1928190165"/>
                    </a:ext>
                  </a:extLst>
                </a:gridCol>
                <a:gridCol w="4396027">
                  <a:extLst>
                    <a:ext uri="{9D8B030D-6E8A-4147-A177-3AD203B41FA5}">
                      <a16:colId xmlns="" xmlns:a16="http://schemas.microsoft.com/office/drawing/2014/main" val="821792101"/>
                    </a:ext>
                  </a:extLst>
                </a:gridCol>
              </a:tblGrid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Fueling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 Total 2016, 2017 &amp; 2018 Federal Contract Obligation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8873539"/>
                  </a:ext>
                </a:extLst>
              </a:tr>
              <a:tr h="2890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PETROMAX REFINING COMPANY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550.0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656378012"/>
                  </a:ext>
                </a:extLst>
              </a:tr>
              <a:tr h="2484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PETRO STAR INC.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368.9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028609658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 HAWAII REFINING,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348.3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52829874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 S OIL &amp; REFINING CO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277.2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115072704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LAZARUS ENERGY HOLDINGS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263.4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2420601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45D32FF6-8367-4547-AB85-01C9CA7D7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111227"/>
              </p:ext>
            </p:extLst>
          </p:nvPr>
        </p:nvGraphicFramePr>
        <p:xfrm>
          <a:off x="1438604" y="1167227"/>
          <a:ext cx="9314791" cy="1710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105">
                  <a:extLst>
                    <a:ext uri="{9D8B030D-6E8A-4147-A177-3AD203B41FA5}">
                      <a16:colId xmlns="" xmlns:a16="http://schemas.microsoft.com/office/drawing/2014/main" val="314382038"/>
                    </a:ext>
                  </a:extLst>
                </a:gridCol>
                <a:gridCol w="4380197">
                  <a:extLst>
                    <a:ext uri="{9D8B030D-6E8A-4147-A177-3AD203B41FA5}">
                      <a16:colId xmlns="" xmlns:a16="http://schemas.microsoft.com/office/drawing/2014/main" val="1928190165"/>
                    </a:ext>
                  </a:extLst>
                </a:gridCol>
                <a:gridCol w="4379489">
                  <a:extLst>
                    <a:ext uri="{9D8B030D-6E8A-4147-A177-3AD203B41FA5}">
                      <a16:colId xmlns="" xmlns:a16="http://schemas.microsoft.com/office/drawing/2014/main" val="821792101"/>
                    </a:ext>
                  </a:extLst>
                </a:gridCol>
              </a:tblGrid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Oil &amp; Gas Construction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 Total 2016, 2017 &amp; 2018 Federal Contract Obligation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8873539"/>
                  </a:ext>
                </a:extLst>
              </a:tr>
              <a:tr h="2890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STRUCTURAL ASSOCIATES, INC.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44.7 M 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656378012"/>
                  </a:ext>
                </a:extLst>
              </a:tr>
              <a:tr h="2484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DAWSON-POND JV,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43.9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028609658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RELIABLE CONTRACTING GROUP,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32.0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52829874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NOVA GROUP, INC.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27.3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115072704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NOMLAKI TECHNOLOGIES,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  22.6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24206011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705164ED-EC7E-4294-B1FA-88085C74F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01881"/>
              </p:ext>
            </p:extLst>
          </p:nvPr>
        </p:nvGraphicFramePr>
        <p:xfrm>
          <a:off x="1450658" y="4835544"/>
          <a:ext cx="9314791" cy="1710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105">
                  <a:extLst>
                    <a:ext uri="{9D8B030D-6E8A-4147-A177-3AD203B41FA5}">
                      <a16:colId xmlns="" xmlns:a16="http://schemas.microsoft.com/office/drawing/2014/main" val="314382038"/>
                    </a:ext>
                  </a:extLst>
                </a:gridCol>
                <a:gridCol w="4363661">
                  <a:extLst>
                    <a:ext uri="{9D8B030D-6E8A-4147-A177-3AD203B41FA5}">
                      <a16:colId xmlns="" xmlns:a16="http://schemas.microsoft.com/office/drawing/2014/main" val="1928190165"/>
                    </a:ext>
                  </a:extLst>
                </a:gridCol>
                <a:gridCol w="4396025">
                  <a:extLst>
                    <a:ext uri="{9D8B030D-6E8A-4147-A177-3AD203B41FA5}">
                      <a16:colId xmlns="" xmlns:a16="http://schemas.microsoft.com/office/drawing/2014/main" val="821792101"/>
                    </a:ext>
                  </a:extLst>
                </a:gridCol>
              </a:tblGrid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No.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Engineering Services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</a:rPr>
                        <a:t> Total 2016, 2017 &amp; 2018 Federal Contract Obligation</a:t>
                      </a:r>
                    </a:p>
                  </a:txBody>
                  <a:tcPr marL="3175" marR="3175" marT="3175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8873539"/>
                  </a:ext>
                </a:extLst>
              </a:tr>
              <a:tr h="2890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ADAMS COMMUNICATION &amp; ENGINEERING TECHNOLOGY, INC.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508.6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656378012"/>
                  </a:ext>
                </a:extLst>
              </a:tr>
              <a:tr h="2484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QUANTITECH INC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414.5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028609658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BRAVURA INFORMATION TECHNOLOGY SYSTEMS INC.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357.1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52829874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MIRACLE SYSTEMS LLC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273.8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115072704"/>
                  </a:ext>
                </a:extLst>
              </a:tr>
              <a:tr h="293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CREDENCE MANAGEMENT SOLUTIONS LIMITED LIABILITY COMPANY</a:t>
                      </a:r>
                    </a:p>
                  </a:txBody>
                  <a:tcPr marL="3175" marR="3175" marT="31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       212.8 M</a:t>
                      </a:r>
                    </a:p>
                  </a:txBody>
                  <a:tcPr marL="3175" marR="3175" marT="3175" marB="0" anchor="ctr"/>
                </a:tc>
                <a:extLst>
                  <a:ext uri="{0D108BD9-81ED-4DB2-BD59-A6C34878D82A}">
                    <a16:rowId xmlns="" xmlns:a16="http://schemas.microsoft.com/office/drawing/2014/main" val="2242060113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292C82BD-1A61-46E0-B55B-81AB712C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7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928313-D633-4F1C-B39A-1F57DB75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 soul proposals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71280738-A34E-416E-93E5-AAE13B16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Consulting</a:t>
            </a:r>
          </a:p>
          <a:p>
            <a:r>
              <a:rPr lang="en-US" sz="2800" dirty="0"/>
              <a:t>Joint Venture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A7A316-06DE-4647-944A-7C3BB80B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24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1B994E-E18C-4D6D-BB25-9B36A71FF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41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Road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4537738-FA62-4434-AE0A-24FF3D163D96}"/>
              </a:ext>
            </a:extLst>
          </p:cNvPr>
          <p:cNvSpPr txBox="1"/>
          <p:nvPr/>
        </p:nvSpPr>
        <p:spPr>
          <a:xfrm>
            <a:off x="5150225" y="862156"/>
            <a:ext cx="18288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Q&amp;A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894CB53-51F0-47AF-8963-2B554BDB1A51}"/>
              </a:ext>
            </a:extLst>
          </p:cNvPr>
          <p:cNvSpPr txBox="1"/>
          <p:nvPr/>
        </p:nvSpPr>
        <p:spPr>
          <a:xfrm>
            <a:off x="2864226" y="1593471"/>
            <a:ext cx="640528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Fortress Engineering &amp; Epic Soul decide to go in business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9BBDD30-9861-414C-BE03-BFAE13BDE283}"/>
              </a:ext>
            </a:extLst>
          </p:cNvPr>
          <p:cNvSpPr txBox="1"/>
          <p:nvPr/>
        </p:nvSpPr>
        <p:spPr>
          <a:xfrm>
            <a:off x="4271687" y="2360729"/>
            <a:ext cx="360380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 – Consultant Agreement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D0402AA-67C9-4251-BF70-6619F0A1AA2E}"/>
              </a:ext>
            </a:extLst>
          </p:cNvPr>
          <p:cNvSpPr txBox="1"/>
          <p:nvPr/>
        </p:nvSpPr>
        <p:spPr>
          <a:xfrm>
            <a:off x="8426823" y="2369694"/>
            <a:ext cx="242943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 Questionnaire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A56BBD3-A225-43BF-9592-B6080C71BF17}"/>
              </a:ext>
            </a:extLst>
          </p:cNvPr>
          <p:cNvSpPr txBox="1"/>
          <p:nvPr/>
        </p:nvSpPr>
        <p:spPr>
          <a:xfrm>
            <a:off x="295250" y="3143727"/>
            <a:ext cx="244170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3DBD0AB-9F0C-4EE5-9597-B3C1033A26E9}"/>
              </a:ext>
            </a:extLst>
          </p:cNvPr>
          <p:cNvSpPr txBox="1"/>
          <p:nvPr/>
        </p:nvSpPr>
        <p:spPr>
          <a:xfrm>
            <a:off x="295250" y="3748490"/>
            <a:ext cx="244170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Capability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33FC200-2808-49F6-A3D3-42B8D046D8AA}"/>
              </a:ext>
            </a:extLst>
          </p:cNvPr>
          <p:cNvSpPr txBox="1"/>
          <p:nvPr/>
        </p:nvSpPr>
        <p:spPr>
          <a:xfrm>
            <a:off x="8426823" y="3150688"/>
            <a:ext cx="242943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JV - Epic Soul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DA008BE-D91E-4B97-8548-291D8754D6E4}"/>
              </a:ext>
            </a:extLst>
          </p:cNvPr>
          <p:cNvSpPr txBox="1"/>
          <p:nvPr/>
        </p:nvSpPr>
        <p:spPr>
          <a:xfrm>
            <a:off x="295250" y="4353253"/>
            <a:ext cx="244170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Company Branding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5811936-C6D3-425B-94AD-61574EBE18C9}"/>
              </a:ext>
            </a:extLst>
          </p:cNvPr>
          <p:cNvSpPr txBox="1"/>
          <p:nvPr/>
        </p:nvSpPr>
        <p:spPr>
          <a:xfrm>
            <a:off x="5121088" y="6118408"/>
            <a:ext cx="2003612" cy="64633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Bidding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8FB30C98-3E13-4F84-AE76-38CA7A0BD01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736958" y="3328393"/>
            <a:ext cx="5689865" cy="6961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253DC72D-8D09-4C33-8800-4F2AEF15B10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73592" y="2730061"/>
            <a:ext cx="22407" cy="6117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206258BB-0AA2-426E-9ACE-85C5FE8B16E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875496" y="2545395"/>
            <a:ext cx="519953" cy="89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E1A45CFF-B70D-4400-8867-6E05913AF7B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66867" y="1962803"/>
            <a:ext cx="6725" cy="39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7399A6E2-038E-4EDC-8816-1E9F8DCC0E0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64625" y="1231488"/>
            <a:ext cx="2242" cy="3619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="" xmlns:a16="http://schemas.microsoft.com/office/drawing/2014/main" id="{E9DDCFBC-FC3A-4E79-9CA0-54D1DCF08FD3}"/>
              </a:ext>
            </a:extLst>
          </p:cNvPr>
          <p:cNvCxnSpPr>
            <a:cxnSpLocks/>
            <a:stCxn id="54" idx="2"/>
            <a:endCxn id="12" idx="0"/>
          </p:cNvCxnSpPr>
          <p:nvPr/>
        </p:nvCxnSpPr>
        <p:spPr>
          <a:xfrm>
            <a:off x="6109448" y="5376086"/>
            <a:ext cx="13446" cy="7423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EBB59ECD-F3B3-4216-9CA8-30044ACD26D7}"/>
              </a:ext>
            </a:extLst>
          </p:cNvPr>
          <p:cNvSpPr txBox="1"/>
          <p:nvPr/>
        </p:nvSpPr>
        <p:spPr>
          <a:xfrm>
            <a:off x="8426822" y="3693888"/>
            <a:ext cx="242943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Set asides:</a:t>
            </a:r>
          </a:p>
          <a:p>
            <a:r>
              <a:rPr lang="en-US" dirty="0"/>
              <a:t>Total Small Business</a:t>
            </a:r>
          </a:p>
          <a:p>
            <a:r>
              <a:rPr lang="en-US" dirty="0"/>
              <a:t>HUBZone</a:t>
            </a:r>
          </a:p>
          <a:p>
            <a:r>
              <a:rPr lang="en-US" dirty="0"/>
              <a:t>Minority</a:t>
            </a:r>
          </a:p>
          <a:p>
            <a:r>
              <a:rPr lang="en-US" dirty="0"/>
              <a:t>Woman Owned SB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FB7D0183-844F-418A-BB5A-BF38555B88B1}"/>
              </a:ext>
            </a:extLst>
          </p:cNvPr>
          <p:cNvSpPr txBox="1"/>
          <p:nvPr/>
        </p:nvSpPr>
        <p:spPr>
          <a:xfrm>
            <a:off x="3931024" y="5006754"/>
            <a:ext cx="435684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Federal Biding Account Registration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A49F0C6A-1768-4B60-BA86-ECEEE74B6DB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2736959" y="3926195"/>
            <a:ext cx="558416" cy="69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="" xmlns:a16="http://schemas.microsoft.com/office/drawing/2014/main" id="{75D90668-EE60-49EE-BA6F-1675B8C24D3B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2736959" y="4537919"/>
            <a:ext cx="558416" cy="26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="" xmlns:a16="http://schemas.microsoft.com/office/drawing/2014/main" id="{A24A1641-2426-4065-9253-3F370D5F0434}"/>
              </a:ext>
            </a:extLst>
          </p:cNvPr>
          <p:cNvCxnSpPr/>
          <p:nvPr/>
        </p:nvCxnSpPr>
        <p:spPr>
          <a:xfrm>
            <a:off x="3295375" y="3341789"/>
            <a:ext cx="0" cy="12095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1346F60F-B07E-4BA9-B5D9-E586367BD2E1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6087037" y="3328393"/>
            <a:ext cx="22411" cy="16783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 Number Placeholder 59">
            <a:extLst>
              <a:ext uri="{FF2B5EF4-FFF2-40B4-BE49-F238E27FC236}">
                <a16:creationId xmlns="" xmlns:a16="http://schemas.microsoft.com/office/drawing/2014/main" id="{E06DD8D0-3CE4-4F89-8C3C-A66626E8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7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6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FBB417-D9C2-48E6-AE74-ADBC6B15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E72728E-C634-420E-95E9-CA279F9B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FBB417-D9C2-48E6-AE74-ADBC6B15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4111BBF-F7DF-4659-9D00-A4454498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2C5F47-67DB-4B48-B250-B11BD673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88797"/>
            <a:ext cx="10058400" cy="1609344"/>
          </a:xfrm>
        </p:spPr>
        <p:txBody>
          <a:bodyPr/>
          <a:lstStyle/>
          <a:p>
            <a:r>
              <a:rPr lang="en-US" dirty="0"/>
              <a:t>Current Opportunities: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30226A-6848-4464-953D-D99E1849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54" y="1556631"/>
            <a:ext cx="10058400" cy="5301369"/>
          </a:xfrm>
        </p:spPr>
        <p:txBody>
          <a:bodyPr>
            <a:normAutofit/>
          </a:bodyPr>
          <a:lstStyle/>
          <a:p>
            <a:r>
              <a:rPr lang="en-US" sz="1600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100% Small Business set-aside: </a:t>
            </a:r>
            <a:r>
              <a:rPr lang="en-US" sz="1600" dirty="0"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Jet fueling</a:t>
            </a:r>
            <a:r>
              <a:rPr lang="en-US" sz="1600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dirty="0"/>
              <a:t>Simplified Acquisition Procedures (SAP</a:t>
            </a:r>
            <a:r>
              <a:rPr lang="en-US" sz="1400" dirty="0" smtClean="0"/>
              <a:t>). </a:t>
            </a:r>
            <a:r>
              <a:rPr lang="en-US" sz="1400" dirty="0"/>
              <a:t>he contractor shall </a:t>
            </a:r>
            <a:r>
              <a:rPr lang="en-US" sz="1400" dirty="0" smtClean="0"/>
              <a:t>provide: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	40,000 USG of JET A1 NEAT </a:t>
            </a:r>
          </a:p>
          <a:p>
            <a:r>
              <a:rPr lang="en-US" sz="1600" dirty="0"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Open competition: Jet fueling </a:t>
            </a:r>
            <a:r>
              <a:rPr lang="en-US" sz="1400" dirty="0"/>
              <a:t>Delivery of Into-Plane Aviation Fuels for various overseas locations under the purchase program 1.2 AFRICOM.  The purchase period of performance is 01 October 2019 through 30 September 2023.</a:t>
            </a:r>
          </a:p>
          <a:p>
            <a:pPr marL="0" indent="0">
              <a:buNone/>
            </a:pPr>
            <a:r>
              <a:rPr lang="en-US" sz="1400" dirty="0"/>
              <a:t>	Jet A-1 w/o FSII: 25,945,739 USG</a:t>
            </a:r>
            <a:br>
              <a:rPr lang="en-US" sz="1400" dirty="0"/>
            </a:br>
            <a:r>
              <a:rPr lang="en-US" sz="1400" dirty="0"/>
              <a:t>	Jet A-1 w/FSII: 26,323 USG</a:t>
            </a:r>
            <a:br>
              <a:rPr lang="en-US" sz="1400" dirty="0"/>
            </a:br>
            <a:r>
              <a:rPr lang="en-US" sz="1400" dirty="0"/>
              <a:t>	Turbine Fuel Aviation (TS1): 1,140 USG</a:t>
            </a:r>
            <a:br>
              <a:rPr lang="en-US" sz="1400" dirty="0"/>
            </a:br>
            <a:r>
              <a:rPr lang="en-US" sz="1400" dirty="0"/>
              <a:t>	Jet A-1 w/o FSII &amp; w/FSII Into-Truck: 2,597,206 </a:t>
            </a:r>
            <a:r>
              <a:rPr lang="en-US" sz="1400" dirty="0" smtClean="0"/>
              <a:t>USG</a:t>
            </a:r>
          </a:p>
          <a:p>
            <a:r>
              <a:rPr lang="en-US" sz="1600" dirty="0">
                <a:hlinkClick r:id="rId3"/>
              </a:rPr>
              <a:t>Open competition: Jet fueling </a:t>
            </a:r>
            <a:r>
              <a:rPr lang="en-US" sz="1400" dirty="0" smtClean="0"/>
              <a:t>DELIVERY </a:t>
            </a:r>
            <a:r>
              <a:rPr lang="en-US" sz="1400" dirty="0"/>
              <a:t>OF INTO-PLANE AVIATION FUELS FOR VARIOUS DOMESTIC LOCATIONS UNDER PURCHASE PROGRAM 2.3 EAST.  THE PURCHASE PERIOD IS FROM 5 JULY 2019- 4 JULY 2024.  THE FOLLOWING QUANTITIES ARE ESTIMATED: </a:t>
            </a:r>
          </a:p>
          <a:p>
            <a:pPr marL="274320" lvl="1" indent="0">
              <a:buNone/>
            </a:pPr>
            <a:r>
              <a:rPr lang="en-US" sz="1400" dirty="0"/>
              <a:t>	JET A/O FSII 60,253,582 USG; </a:t>
            </a:r>
          </a:p>
          <a:p>
            <a:pPr marL="274320" lvl="1" indent="0">
              <a:buNone/>
            </a:pPr>
            <a:r>
              <a:rPr lang="en-US" sz="1400" dirty="0"/>
              <a:t>	JET A W/FSII 102,365,464 USG; </a:t>
            </a:r>
          </a:p>
          <a:p>
            <a:pPr marL="274320" lvl="1" indent="0">
              <a:buNone/>
            </a:pPr>
            <a:r>
              <a:rPr lang="en-US" sz="1400" dirty="0"/>
              <a:t>	JET A W/FSII (INTO-TRUCK) 1,120,744 USG.</a:t>
            </a:r>
            <a:br>
              <a:rPr lang="en-US" sz="1400" dirty="0"/>
            </a:br>
            <a:endParaRPr lang="en-US" sz="1400" b="1" dirty="0" smtClean="0"/>
          </a:p>
          <a:p>
            <a:r>
              <a:rPr lang="en-US" sz="1600" dirty="0" smtClean="0">
                <a:hlinkClick r:id="rId3"/>
              </a:rPr>
              <a:t>Open competition: Engineering Services </a:t>
            </a:r>
            <a:r>
              <a:rPr lang="en-US" sz="1400" dirty="0"/>
              <a:t>IDIQ for structural projects primarily under the cognizance of Naval Facilities Engineering Command, </a:t>
            </a:r>
            <a:r>
              <a:rPr lang="en-US" sz="1400" dirty="0" smtClean="0"/>
              <a:t>Hawaii. </a:t>
            </a:r>
            <a:r>
              <a:rPr lang="en-US" sz="1400" b="1" dirty="0"/>
              <a:t>Contract Award Dollar Amount</a:t>
            </a:r>
            <a:r>
              <a:rPr lang="en-US" sz="1400" b="1" dirty="0" smtClean="0"/>
              <a:t>: </a:t>
            </a:r>
            <a:r>
              <a:rPr lang="en-US" sz="1400" dirty="0" smtClean="0"/>
              <a:t>$</a:t>
            </a:r>
            <a:r>
              <a:rPr lang="en-US" sz="1400" dirty="0"/>
              <a:t>100,000,000 </a:t>
            </a:r>
            <a:r>
              <a:rPr lang="en-US" sz="1400" dirty="0" smtClean="0"/>
              <a:t>maximum</a:t>
            </a:r>
            <a:r>
              <a:rPr lang="en-US" sz="1400" dirty="0"/>
              <a:t/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B8CD951-FDB7-49F4-93BA-5B500004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12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2BE626-CCF0-4A70-8400-5F42FBD4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3" y="452718"/>
            <a:ext cx="9743157" cy="1400530"/>
          </a:xfrm>
        </p:spPr>
        <p:txBody>
          <a:bodyPr/>
          <a:lstStyle/>
          <a:p>
            <a:r>
              <a:rPr lang="en-US" sz="3600" u="sng" dirty="0"/>
              <a:t>What is required from Fortress Engineering?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DB94B2-9946-4BFF-9183-E699239B8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‘Support from leadership to do what is necessary to deliver to the government.</a:t>
            </a:r>
          </a:p>
          <a:p>
            <a:pPr lvl="0"/>
            <a:r>
              <a:rPr lang="en-US" sz="2400" dirty="0"/>
              <a:t>Commitment from the company/operations that it will perform when a contract is received.</a:t>
            </a:r>
          </a:p>
          <a:p>
            <a:pPr lvl="0"/>
            <a:r>
              <a:rPr lang="en-US" sz="2400" dirty="0"/>
              <a:t>A current staff member with bandwidth that will assist me with the documentation.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BCCA34F-F816-4743-85F9-4B2A6F36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BE899-A732-4FB7-A230-3F66887D12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03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18847</TotalTime>
  <Words>584</Words>
  <Application>Microsoft Office PowerPoint</Application>
  <PresentationFormat>Custom</PresentationFormat>
  <Paragraphs>152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Wood Type</vt:lpstr>
      <vt:lpstr>Fortress engineering</vt:lpstr>
      <vt:lpstr>Introduction:</vt:lpstr>
      <vt:lpstr>Fortress engineering</vt:lpstr>
      <vt:lpstr>FORTRESS ENGINEERING’S Federal CONTRACTING Industries </vt:lpstr>
      <vt:lpstr>PowerPoint Presentation</vt:lpstr>
      <vt:lpstr>PowerPoint Presentation</vt:lpstr>
      <vt:lpstr>PowerPoint Presentation</vt:lpstr>
      <vt:lpstr>Top 5 Small Business revenues by industry codes</vt:lpstr>
      <vt:lpstr>Epic soul proposals</vt:lpstr>
      <vt:lpstr>Road Map</vt:lpstr>
      <vt:lpstr>Thank you</vt:lpstr>
      <vt:lpstr>APPENDIX</vt:lpstr>
      <vt:lpstr>Current Opportunities:</vt:lpstr>
      <vt:lpstr>What is required from Fortress Engineering?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Kriti Bhayani</dc:creator>
  <cp:lastModifiedBy>Bhayani, Kriti</cp:lastModifiedBy>
  <cp:revision>91</cp:revision>
  <dcterms:created xsi:type="dcterms:W3CDTF">2019-06-26T03:05:30Z</dcterms:created>
  <dcterms:modified xsi:type="dcterms:W3CDTF">2019-08-22T00:02:05Z</dcterms:modified>
</cp:coreProperties>
</file>